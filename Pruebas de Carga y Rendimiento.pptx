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2"/>
          <c:y val="0.04"/>
          <c:w val="0.84"/>
          <c:h val="0.8"/>
        </c:manualLayout>
      </c:layout>
      <c:scatterChart>
        <c:scatterStyle val="lineMarker"/>
        <c:varyColors val="0"/>
        <c:ser>
          <c:idx val="0"/>
          <c:order val="0"/>
          <c:tx>
            <c:strRef>
              <c:f>Sheet1!$B$1</c:f>
              <c:strCache>
                <c:ptCount val="1"/>
                <c:pt idx="0">
                  <c:v>p95</c:v>
                </c:pt>
              </c:strCache>
            </c:strRef>
          </c:tx>
          <c:spPr>
            <a:ln w="38100">
              <a:solidFill>
                <a:srgbClr val="2A78D6"/>
              </a:solidFill>
            </a:ln>
          </c:spPr>
          <c:marker>
            <c:symbol val="none"/>
          </c:marker>
          <c:xVal>
            <c:numRef>
              <c:f>Sheet1!$A$2:$A$9</c:f>
              <c:numCache>
                <c:formatCode>General</c:formatCode>
                <c:ptCount val="8"/>
                <c:pt idx="0">
                  <c:v>1</c:v>
                </c:pt>
                <c:pt idx="1">
                  <c:v>10</c:v>
                </c:pt>
                <c:pt idx="2">
                  <c:v>25</c:v>
                </c:pt>
                <c:pt idx="3">
                  <c:v>50</c:v>
                </c:pt>
                <c:pt idx="4">
                  <c:v>100</c:v>
                </c:pt>
                <c:pt idx="5">
                  <c:v>200</c:v>
                </c:pt>
                <c:pt idx="6">
                  <c:v>400</c:v>
                </c:pt>
                <c:pt idx="7">
                  <c:v>800</c:v>
                </c:pt>
              </c:numCache>
            </c:numRef>
          </c:xVal>
          <c:yVal>
            <c:numRef>
              <c:f>Sheet1!$B$2:$B$9</c:f>
              <c:numCache>
                <c:formatCode>General</c:formatCode>
                <c:ptCount val="8"/>
                <c:pt idx="0">
                  <c:v>0.9735724999999988</c:v>
                </c:pt>
                <c:pt idx="1">
                  <c:v>1.6019999999999999</c:v>
                </c:pt>
                <c:pt idx="2">
                  <c:v>11.739339999999997</c:v>
                </c:pt>
                <c:pt idx="3">
                  <c:v>21.223974999999996</c:v>
                </c:pt>
                <c:pt idx="4">
                  <c:v>24.941099999999906</c:v>
                </c:pt>
                <c:pt idx="5">
                  <c:v>49.57525</c:v>
                </c:pt>
                <c:pt idx="6">
                  <c:v>143.13757499999986</c:v>
                </c:pt>
                <c:pt idx="7">
                  <c:v>202.1865</c:v>
                </c:pt>
              </c:numCache>
            </c:numRef>
          </c:yVal>
          <c:smooth val="0"/>
        </c:ser>
        <c:axId val="-2128940872"/>
        <c:axId val="-2129643912"/>
      </c:scatterChart>
      <c:valAx>
        <c:axId val="-2128940872"/>
        <c:scaling>
          <c:logBase val="10"/>
          <c:orientation val="minMax"/>
          <c:max val="800.0"/>
          <c:min val="1.0"/>
        </c:scaling>
        <c:delete val="0"/>
        <c:axPos val="b"/>
        <c:title>
          <c:tx>
            <c:rich>
              <a:bodyPr/>
              <a:lstStyle/>
              <a:p>
                <a:r>
                  <a:rPr sz="1000" b="0">
                    <a:solidFill>
                      <a:srgbClr val="52514E"/>
                    </a:solidFill>
                    <a:latin typeface="Segoe UI"/>
                  </a:rPr>
                  <a:t>usuarios virtuales (escala log)</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valAx>
      <c:valAx>
        <c:axId val="-2129643912"/>
        <c:scaling>
          <c:orientation val="minMax"/>
          <c:max val="218.36142"/>
          <c:min val="0.0"/>
        </c:scaling>
        <c:delete val="0"/>
        <c:axPos val="l"/>
        <c:majorGridlines>
          <c:spPr>
            <a:ln w="9525">
              <a:solidFill>
                <a:srgbClr val="E1E0D9"/>
              </a:solidFill>
            </a:ln>
          </c:spPr>
        </c:majorGridlines>
        <c:title>
          <c:tx>
            <c:rich>
              <a:bodyPr/>
              <a:lstStyle/>
              <a:p>
                <a:r>
                  <a:rPr sz="1000" b="0">
                    <a:solidFill>
                      <a:srgbClr val="52514E"/>
                    </a:solidFill>
                    <a:latin typeface="Segoe UI"/>
                  </a:rPr>
                  <a:t>p95 (ms)</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min"/>
        <c:crossBetween val="midCat"/>
      </c:valAx>
    </c:plotArea>
    <c:plotVisOnly val="1"/>
    <c:dispBlanksAs val="gap"/>
    <c:showDLblsOverMax val="0"/>
  </c:chart>
  <c:txPr>
    <a:bodyPr/>
    <a:lstStyle/>
    <a:p>
      <a:pPr>
        <a:defRPr sz="1000">
          <a:solidFill>
            <a:srgbClr val="52514E"/>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2"/>
          <c:y val="0.06"/>
          <c:w val="0.74"/>
          <c:h val="0.72"/>
        </c:manualLayout>
      </c:layout>
      <c:scatterChart>
        <c:scatterStyle val="lineMarker"/>
        <c:varyColors val="0"/>
        <c:ser>
          <c:idx val="0"/>
          <c:order val="0"/>
          <c:tx>
            <c:strRef>
              <c:f>Sheet1!$B$1</c:f>
              <c:strCache>
                <c:ptCount val="1"/>
                <c:pt idx="0">
                  <c:v>baseline</c:v>
                </c:pt>
              </c:strCache>
            </c:strRef>
          </c:tx>
          <c:spPr>
            <a:ln w="31750">
              <a:solidFill>
                <a:srgbClr val="2A78D6"/>
              </a:solidFill>
            </a:ln>
          </c:spPr>
          <c:marker>
            <c:symbol val="none"/>
          </c:marker>
          <c:xVal>
            <c:numRef>
              <c:f>Sheet1!$A$2:$A$3</c:f>
              <c:numCache>
                <c:formatCode>General</c:formatCode>
                <c:ptCount val="2"/>
                <c:pt idx="0">
                  <c:v>0</c:v>
                </c:pt>
                <c:pt idx="1">
                  <c:v>5</c:v>
                </c:pt>
              </c:numCache>
            </c:numRef>
          </c:xVal>
          <c:yVal>
            <c:numRef>
              <c:f>Sheet1!$B$2:$B$3</c:f>
              <c:numCache>
                <c:formatCode>General</c:formatCode>
                <c:ptCount val="2"/>
                <c:pt idx="0">
                  <c:v>20</c:v>
                </c:pt>
                <c:pt idx="1">
                  <c:v>20</c:v>
                </c:pt>
              </c:numCache>
            </c:numRef>
          </c:yVal>
          <c:smooth val="0"/>
        </c:ser>
        <c:axId val="-2128940872"/>
        <c:axId val="-2129643912"/>
      </c:scatterChart>
      <c:valAx>
        <c:axId val="-2128940872"/>
        <c:scaling>
          <c:orientation val="minMax"/>
          <c:max val="5.0"/>
          <c:min val="0.0"/>
        </c:scaling>
        <c:delete val="0"/>
        <c:axPos val="b"/>
        <c:title>
          <c:tx>
            <c:rich>
              <a:bodyPr/>
              <a:lstStyle/>
              <a:p>
                <a:r>
                  <a:rPr sz="900" b="0">
                    <a:solidFill>
                      <a:srgbClr val="52514E"/>
                    </a:solidFill>
                    <a:latin typeface="Segoe UI"/>
                  </a:rPr>
                  <a:t>min</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majorUnit val="1.0"/>
      </c:valAx>
      <c:valAx>
        <c:axId val="-2129643912"/>
        <c:scaling>
          <c:orientation val="minMax"/>
          <c:max val="700.0"/>
          <c:min val="0.0"/>
        </c:scaling>
        <c:delete val="0"/>
        <c:axPos val="l"/>
        <c:majorGridlines>
          <c:spPr>
            <a:ln w="9525">
              <a:solidFill>
                <a:srgbClr val="E1E0D9"/>
              </a:solidFill>
            </a:ln>
          </c:spPr>
        </c:majorGridlines>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autoZero"/>
        <c:crossBetween val="midCat"/>
        <c:majorUnit val="200.0"/>
      </c:valAx>
    </c:plotArea>
    <c:plotVisOnly val="1"/>
    <c:dispBlanksAs val="gap"/>
    <c:showDLblsOverMax val="0"/>
  </c:chart>
  <c:txPr>
    <a:bodyPr/>
    <a:lstStyle/>
    <a:p>
      <a:pPr>
        <a:defRPr sz="900">
          <a:solidFill>
            <a:srgbClr val="52514E"/>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2"/>
          <c:y val="0.06"/>
          <c:w val="0.74"/>
          <c:h val="0.72"/>
        </c:manualLayout>
      </c:layout>
      <c:scatterChart>
        <c:scatterStyle val="lineMarker"/>
        <c:varyColors val="0"/>
        <c:ser>
          <c:idx val="0"/>
          <c:order val="0"/>
          <c:tx>
            <c:strRef>
              <c:f>Sheet1!$B$1</c:f>
              <c:strCache>
                <c:ptCount val="1"/>
                <c:pt idx="0">
                  <c:v>load</c:v>
                </c:pt>
              </c:strCache>
            </c:strRef>
          </c:tx>
          <c:spPr>
            <a:ln w="31750">
              <a:solidFill>
                <a:srgbClr val="2A78D6"/>
              </a:solidFill>
            </a:ln>
          </c:spPr>
          <c:marker>
            <c:symbol val="none"/>
          </c:marker>
          <c:xVal>
            <c:numRef>
              <c:f>Sheet1!$A$2:$A$5</c:f>
              <c:numCache>
                <c:formatCode>General</c:formatCode>
                <c:ptCount val="4"/>
                <c:pt idx="0">
                  <c:v>0</c:v>
                </c:pt>
                <c:pt idx="1">
                  <c:v>2</c:v>
                </c:pt>
                <c:pt idx="2">
                  <c:v>12</c:v>
                </c:pt>
                <c:pt idx="3">
                  <c:v>14</c:v>
                </c:pt>
              </c:numCache>
            </c:numRef>
          </c:xVal>
          <c:yVal>
            <c:numRef>
              <c:f>Sheet1!$B$2:$B$5</c:f>
              <c:numCache>
                <c:formatCode>General</c:formatCode>
                <c:ptCount val="4"/>
                <c:pt idx="0">
                  <c:v>0</c:v>
                </c:pt>
                <c:pt idx="1">
                  <c:v>200</c:v>
                </c:pt>
                <c:pt idx="2">
                  <c:v>200</c:v>
                </c:pt>
                <c:pt idx="3">
                  <c:v>0</c:v>
                </c:pt>
              </c:numCache>
            </c:numRef>
          </c:yVal>
          <c:smooth val="0"/>
        </c:ser>
        <c:axId val="-2128940872"/>
        <c:axId val="-2129643912"/>
      </c:scatterChart>
      <c:valAx>
        <c:axId val="-2128940872"/>
        <c:scaling>
          <c:orientation val="minMax"/>
          <c:max val="14.0"/>
          <c:min val="0.0"/>
        </c:scaling>
        <c:delete val="0"/>
        <c:axPos val="b"/>
        <c:title>
          <c:tx>
            <c:rich>
              <a:bodyPr/>
              <a:lstStyle/>
              <a:p>
                <a:r>
                  <a:rPr sz="900" b="0">
                    <a:solidFill>
                      <a:srgbClr val="52514E"/>
                    </a:solidFill>
                    <a:latin typeface="Segoe UI"/>
                  </a:rPr>
                  <a:t>min</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majorUnit val="3.0"/>
      </c:valAx>
      <c:valAx>
        <c:axId val="-2129643912"/>
        <c:scaling>
          <c:orientation val="minMax"/>
          <c:max val="700.0"/>
          <c:min val="0.0"/>
        </c:scaling>
        <c:delete val="0"/>
        <c:axPos val="l"/>
        <c:majorGridlines>
          <c:spPr>
            <a:ln w="9525">
              <a:solidFill>
                <a:srgbClr val="E1E0D9"/>
              </a:solidFill>
            </a:ln>
          </c:spPr>
        </c:majorGridlines>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autoZero"/>
        <c:crossBetween val="midCat"/>
        <c:majorUnit val="200.0"/>
      </c:valAx>
    </c:plotArea>
    <c:plotVisOnly val="1"/>
    <c:dispBlanksAs val="gap"/>
    <c:showDLblsOverMax val="0"/>
  </c:chart>
  <c:txPr>
    <a:bodyPr/>
    <a:lstStyle/>
    <a:p>
      <a:pPr>
        <a:defRPr sz="900">
          <a:solidFill>
            <a:srgbClr val="52514E"/>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2"/>
          <c:y val="0.06"/>
          <c:w val="0.74"/>
          <c:h val="0.72"/>
        </c:manualLayout>
      </c:layout>
      <c:scatterChart>
        <c:scatterStyle val="lineMarker"/>
        <c:varyColors val="0"/>
        <c:ser>
          <c:idx val="0"/>
          <c:order val="0"/>
          <c:tx>
            <c:strRef>
              <c:f>Sheet1!$B$1</c:f>
              <c:strCache>
                <c:ptCount val="1"/>
                <c:pt idx="0">
                  <c:v>stress</c:v>
                </c:pt>
              </c:strCache>
            </c:strRef>
          </c:tx>
          <c:spPr>
            <a:ln w="31750">
              <a:solidFill>
                <a:srgbClr val="2A78D6"/>
              </a:solidFill>
            </a:ln>
          </c:spPr>
          <c:marker>
            <c:symbol val="none"/>
          </c:marker>
          <c:xVal>
            <c:numRef>
              <c:f>Sheet1!$A$2:$A$5</c:f>
              <c:numCache>
                <c:formatCode>General</c:formatCode>
                <c:ptCount val="4"/>
                <c:pt idx="0">
                  <c:v>0</c:v>
                </c:pt>
                <c:pt idx="1">
                  <c:v>5</c:v>
                </c:pt>
                <c:pt idx="2">
                  <c:v>8</c:v>
                </c:pt>
                <c:pt idx="3">
                  <c:v>10</c:v>
                </c:pt>
              </c:numCache>
            </c:numRef>
          </c:xVal>
          <c:yVal>
            <c:numRef>
              <c:f>Sheet1!$B$2:$B$5</c:f>
              <c:numCache>
                <c:formatCode>General</c:formatCode>
                <c:ptCount val="4"/>
                <c:pt idx="0">
                  <c:v>200</c:v>
                </c:pt>
                <c:pt idx="1">
                  <c:v>600</c:v>
                </c:pt>
                <c:pt idx="2">
                  <c:v>600</c:v>
                </c:pt>
                <c:pt idx="3">
                  <c:v>0</c:v>
                </c:pt>
              </c:numCache>
            </c:numRef>
          </c:yVal>
          <c:smooth val="0"/>
        </c:ser>
        <c:axId val="-2128940872"/>
        <c:axId val="-2129643912"/>
      </c:scatterChart>
      <c:valAx>
        <c:axId val="-2128940872"/>
        <c:scaling>
          <c:orientation val="minMax"/>
          <c:max val="10.0"/>
          <c:min val="0.0"/>
        </c:scaling>
        <c:delete val="0"/>
        <c:axPos val="b"/>
        <c:title>
          <c:tx>
            <c:rich>
              <a:bodyPr/>
              <a:lstStyle/>
              <a:p>
                <a:r>
                  <a:rPr sz="900" b="0">
                    <a:solidFill>
                      <a:srgbClr val="52514E"/>
                    </a:solidFill>
                    <a:latin typeface="Segoe UI"/>
                  </a:rPr>
                  <a:t>min</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majorUnit val="2.0"/>
      </c:valAx>
      <c:valAx>
        <c:axId val="-2129643912"/>
        <c:scaling>
          <c:orientation val="minMax"/>
          <c:max val="700.0"/>
          <c:min val="0.0"/>
        </c:scaling>
        <c:delete val="0"/>
        <c:axPos val="l"/>
        <c:majorGridlines>
          <c:spPr>
            <a:ln w="9525">
              <a:solidFill>
                <a:srgbClr val="E1E0D9"/>
              </a:solidFill>
            </a:ln>
          </c:spPr>
        </c:majorGridlines>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autoZero"/>
        <c:crossBetween val="midCat"/>
        <c:majorUnit val="200.0"/>
      </c:valAx>
    </c:plotArea>
    <c:plotVisOnly val="1"/>
    <c:dispBlanksAs val="gap"/>
    <c:showDLblsOverMax val="0"/>
  </c:chart>
  <c:txPr>
    <a:bodyPr/>
    <a:lstStyle/>
    <a:p>
      <a:pPr>
        <a:defRPr sz="900">
          <a:solidFill>
            <a:srgbClr val="52514E"/>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2"/>
          <c:y val="0.06"/>
          <c:w val="0.74"/>
          <c:h val="0.72"/>
        </c:manualLayout>
      </c:layout>
      <c:scatterChart>
        <c:scatterStyle val="lineMarker"/>
        <c:varyColors val="0"/>
        <c:ser>
          <c:idx val="0"/>
          <c:order val="0"/>
          <c:tx>
            <c:strRef>
              <c:f>Sheet1!$B$1</c:f>
              <c:strCache>
                <c:ptCount val="1"/>
                <c:pt idx="0">
                  <c:v>spike</c:v>
                </c:pt>
              </c:strCache>
            </c:strRef>
          </c:tx>
          <c:spPr>
            <a:ln w="31750">
              <a:solidFill>
                <a:srgbClr val="2A78D6"/>
              </a:solidFill>
            </a:ln>
          </c:spPr>
          <c:marker>
            <c:symbol val="none"/>
          </c:marker>
          <c:xVal>
            <c:numRef>
              <c:f>Sheet1!$A$2:$A$5</c:f>
              <c:numCache>
                <c:formatCode>General</c:formatCode>
                <c:ptCount val="4"/>
                <c:pt idx="0">
                  <c:v>0</c:v>
                </c:pt>
                <c:pt idx="1">
                  <c:v>1</c:v>
                </c:pt>
                <c:pt idx="2">
                  <c:v>3</c:v>
                </c:pt>
                <c:pt idx="3">
                  <c:v>4</c:v>
                </c:pt>
              </c:numCache>
            </c:numRef>
          </c:xVal>
          <c:yVal>
            <c:numRef>
              <c:f>Sheet1!$B$2:$B$5</c:f>
              <c:numCache>
                <c:formatCode>General</c:formatCode>
                <c:ptCount val="4"/>
                <c:pt idx="0">
                  <c:v>50</c:v>
                </c:pt>
                <c:pt idx="1">
                  <c:v>300</c:v>
                </c:pt>
                <c:pt idx="2">
                  <c:v>50</c:v>
                </c:pt>
                <c:pt idx="3">
                  <c:v>0</c:v>
                </c:pt>
              </c:numCache>
            </c:numRef>
          </c:yVal>
          <c:smooth val="0"/>
        </c:ser>
        <c:axId val="-2128940872"/>
        <c:axId val="-2129643912"/>
      </c:scatterChart>
      <c:valAx>
        <c:axId val="-2128940872"/>
        <c:scaling>
          <c:orientation val="minMax"/>
          <c:max val="4.0"/>
          <c:min val="0.0"/>
        </c:scaling>
        <c:delete val="0"/>
        <c:axPos val="b"/>
        <c:title>
          <c:tx>
            <c:rich>
              <a:bodyPr/>
              <a:lstStyle/>
              <a:p>
                <a:r>
                  <a:rPr sz="900" b="0">
                    <a:solidFill>
                      <a:srgbClr val="52514E"/>
                    </a:solidFill>
                    <a:latin typeface="Segoe UI"/>
                  </a:rPr>
                  <a:t>min</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majorUnit val="1.0"/>
      </c:valAx>
      <c:valAx>
        <c:axId val="-2129643912"/>
        <c:scaling>
          <c:orientation val="minMax"/>
          <c:max val="700.0"/>
          <c:min val="0.0"/>
        </c:scaling>
        <c:delete val="0"/>
        <c:axPos val="l"/>
        <c:majorGridlines>
          <c:spPr>
            <a:ln w="9525">
              <a:solidFill>
                <a:srgbClr val="E1E0D9"/>
              </a:solidFill>
            </a:ln>
          </c:spPr>
        </c:majorGridlines>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autoZero"/>
        <c:crossBetween val="midCat"/>
        <c:majorUnit val="200.0"/>
      </c:valAx>
    </c:plotArea>
    <c:plotVisOnly val="1"/>
    <c:dispBlanksAs val="gap"/>
    <c:showDLblsOverMax val="0"/>
  </c:chart>
  <c:txPr>
    <a:bodyPr/>
    <a:lstStyle/>
    <a:p>
      <a:pPr>
        <a:defRPr sz="900">
          <a:solidFill>
            <a:srgbClr val="52514E"/>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2"/>
          <c:y val="0.06"/>
          <c:w val="0.74"/>
          <c:h val="0.72"/>
        </c:manualLayout>
      </c:layout>
      <c:scatterChart>
        <c:scatterStyle val="lineMarker"/>
        <c:varyColors val="0"/>
        <c:ser>
          <c:idx val="0"/>
          <c:order val="0"/>
          <c:tx>
            <c:strRef>
              <c:f>Sheet1!$B$1</c:f>
              <c:strCache>
                <c:ptCount val="1"/>
                <c:pt idx="0">
                  <c:v>soak</c:v>
                </c:pt>
              </c:strCache>
            </c:strRef>
          </c:tx>
          <c:spPr>
            <a:ln w="31750">
              <a:solidFill>
                <a:srgbClr val="2A78D6"/>
              </a:solidFill>
            </a:ln>
          </c:spPr>
          <c:marker>
            <c:symbol val="none"/>
          </c:marker>
          <c:xVal>
            <c:numRef>
              <c:f>Sheet1!$A$2:$A$3</c:f>
              <c:numCache>
                <c:formatCode>General</c:formatCode>
                <c:ptCount val="2"/>
                <c:pt idx="0">
                  <c:v>0</c:v>
                </c:pt>
                <c:pt idx="1">
                  <c:v>120</c:v>
                </c:pt>
              </c:numCache>
            </c:numRef>
          </c:xVal>
          <c:yVal>
            <c:numRef>
              <c:f>Sheet1!$B$2:$B$3</c:f>
              <c:numCache>
                <c:formatCode>General</c:formatCode>
                <c:ptCount val="2"/>
                <c:pt idx="0">
                  <c:v>100</c:v>
                </c:pt>
                <c:pt idx="1">
                  <c:v>100</c:v>
                </c:pt>
              </c:numCache>
            </c:numRef>
          </c:yVal>
          <c:smooth val="0"/>
        </c:ser>
        <c:axId val="-2128940872"/>
        <c:axId val="-2129643912"/>
      </c:scatterChart>
      <c:valAx>
        <c:axId val="-2128940872"/>
        <c:scaling>
          <c:orientation val="minMax"/>
          <c:max val="120.0"/>
          <c:min val="0.0"/>
        </c:scaling>
        <c:delete val="0"/>
        <c:axPos val="b"/>
        <c:title>
          <c:tx>
            <c:rich>
              <a:bodyPr/>
              <a:lstStyle/>
              <a:p>
                <a:r>
                  <a:rPr sz="900" b="0">
                    <a:solidFill>
                      <a:srgbClr val="52514E"/>
                    </a:solidFill>
                    <a:latin typeface="Segoe UI"/>
                  </a:rPr>
                  <a:t>min</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majorUnit val="30.0"/>
      </c:valAx>
      <c:valAx>
        <c:axId val="-2129643912"/>
        <c:scaling>
          <c:orientation val="minMax"/>
          <c:max val="700.0"/>
          <c:min val="0.0"/>
        </c:scaling>
        <c:delete val="0"/>
        <c:axPos val="l"/>
        <c:majorGridlines>
          <c:spPr>
            <a:ln w="9525">
              <a:solidFill>
                <a:srgbClr val="E1E0D9"/>
              </a:solidFill>
            </a:ln>
          </c:spPr>
        </c:majorGridlines>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autoZero"/>
        <c:crossBetween val="midCat"/>
        <c:majorUnit val="200.0"/>
      </c:valAx>
    </c:plotArea>
    <c:plotVisOnly val="1"/>
    <c:dispBlanksAs val="gap"/>
    <c:showDLblsOverMax val="0"/>
  </c:chart>
  <c:txPr>
    <a:bodyPr/>
    <a:lstStyle/>
    <a:p>
      <a:pPr>
        <a:defRPr sz="900">
          <a:solidFill>
            <a:srgbClr val="52514E"/>
          </a:solidFill>
          <a:latin typeface="Segoe U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8"/>
          <c:y val="0.05"/>
          <c:w val="0.9"/>
          <c:h val="0.8"/>
        </c:manualLayout>
      </c:layout>
      <c:barChart>
        <c:barDir val="col"/>
        <c:grouping val="clustered"/>
        <c:ser>
          <c:idx val="0"/>
          <c:order val="0"/>
          <c:tx>
            <c:strRef>
              <c:f>Sheet1!$B$1</c:f>
              <c:strCache>
                <c:ptCount val="1"/>
                <c:pt idx="0">
                  <c:v>% de peticiones</c:v>
                </c:pt>
              </c:strCache>
            </c:strRef>
          </c:tx>
          <c:spPr>
            <a:solidFill>
              <a:srgbClr val="86B6EF"/>
            </a:solidFill>
            <a:ln w="19050">
              <a:solidFill>
                <a:srgbClr val="FCFCFB"/>
              </a:solidFill>
            </a:ln>
          </c:spPr>
          <c:cat>
            <c:strRef>
              <c:f>Sheet1!$A$2:$A$11</c:f>
              <c:strCache>
                <c:ptCount val="10"/>
                <c:pt idx="0">
                  <c:v>0–5</c:v>
                </c:pt>
                <c:pt idx="1">
                  <c:v>5–10</c:v>
                </c:pt>
                <c:pt idx="2">
                  <c:v>10–20</c:v>
                </c:pt>
                <c:pt idx="3">
                  <c:v>20–40</c:v>
                </c:pt>
                <c:pt idx="4">
                  <c:v>40–80</c:v>
                </c:pt>
                <c:pt idx="5">
                  <c:v>80–160</c:v>
                </c:pt>
                <c:pt idx="6">
                  <c:v>160–320</c:v>
                </c:pt>
                <c:pt idx="7">
                  <c:v>320–640</c:v>
                </c:pt>
                <c:pt idx="8">
                  <c:v>640–1280</c:v>
                </c:pt>
                <c:pt idx="9">
                  <c:v>&gt;1280</c:v>
                </c:pt>
              </c:strCache>
            </c:strRef>
          </c:cat>
          <c:val>
            <c:numRef>
              <c:f>Sheet1!$B$2:$B$11</c:f>
              <c:numCache>
                <c:formatCode>General</c:formatCode>
                <c:ptCount val="10"/>
                <c:pt idx="0">
                  <c:v>6.133540372670807</c:v>
                </c:pt>
                <c:pt idx="1">
                  <c:v>7.916379112031286</c:v>
                </c:pt>
                <c:pt idx="2">
                  <c:v>22.863469059121233</c:v>
                </c:pt>
                <c:pt idx="3">
                  <c:v>33.73878536922015</c:v>
                </c:pt>
                <c:pt idx="4">
                  <c:v>15.260524499654935</c:v>
                </c:pt>
                <c:pt idx="5">
                  <c:v>5.751092707614447</c:v>
                </c:pt>
                <c:pt idx="6">
                  <c:v>2.5851161720726936</c:v>
                </c:pt>
                <c:pt idx="7">
                  <c:v>2.9934437543133194</c:v>
                </c:pt>
                <c:pt idx="8">
                  <c:v>2.033011272141707</c:v>
                </c:pt>
                <c:pt idx="9">
                  <c:v>0.7246376811594203</c:v>
                </c:pt>
              </c:numCache>
            </c:numRef>
          </c:val>
        </c:ser>
        <c:gapWidth val="12"/>
        <c:overlap val="-10"/>
        <c:axId val="-2068027336"/>
        <c:axId val="-2113994440"/>
      </c:barChart>
      <c:catAx>
        <c:axId val="-2068027336"/>
        <c:scaling>
          <c:orientation val="minMax"/>
        </c:scaling>
        <c:delete val="0"/>
        <c:axPos val="b"/>
        <c:title>
          <c:tx>
            <c:rich>
              <a:bodyPr/>
              <a:lstStyle/>
              <a:p>
                <a:r>
                  <a:rPr sz="1000" b="0">
                    <a:solidFill>
                      <a:srgbClr val="52514E"/>
                    </a:solidFill>
                    <a:latin typeface="Segoe UI"/>
                  </a:rPr>
                  <a:t>tiempo de respuesta (ms); cada intervalo duplica al anterior</a:t>
                </a:r>
              </a:p>
            </c:rich>
          </c:tx>
          <c:layout/>
          <c:overlay val="0"/>
        </c:title>
        <c:majorTickMark val="none"/>
        <c:minorTickMark val="none"/>
        <c:tickLblPos val="nextTo"/>
        <c:spPr>
          <a:ln>
            <a:solidFill>
              <a:srgbClr val="C3C2B7"/>
            </a:solidFill>
          </a:ln>
        </c:spPr>
        <c:txPr>
          <a:bodyPr/>
          <a:lstStyle/>
          <a:p>
            <a:pPr>
              <a:defRPr sz="1000">
                <a:solidFill>
                  <a:srgbClr val="52514E"/>
                </a:solidFill>
              </a:defRPr>
            </a:pPr>
          </a:p>
        </c:txPr>
        <c:crossAx val="-2113994440"/>
        <c:crosses val="autoZero"/>
        <c:auto val="1"/>
        <c:lblAlgn val="ctr"/>
        <c:lblOffset val="100"/>
        <c:noMultiLvlLbl val="0"/>
      </c:catAx>
      <c:valAx>
        <c:axId val="-2113994440"/>
        <c:scaling>
          <c:max val="50.0"/>
          <c:min val="0.0"/>
        </c:scaling>
        <c:delete val="0"/>
        <c:axPos val="l"/>
        <c:majorGridlines>
          <c:spPr>
            <a:ln w="9525">
              <a:solidFill>
                <a:srgbClr val="E1E0D9"/>
              </a:solidFill>
            </a:ln>
          </c:spPr>
        </c:majorGridlines>
        <c:title>
          <c:tx>
            <c:rich>
              <a:bodyPr/>
              <a:lstStyle/>
              <a:p>
                <a:r>
                  <a:rPr sz="1000" b="0">
                    <a:solidFill>
                      <a:srgbClr val="52514E"/>
                    </a:solidFill>
                    <a:latin typeface="Segoe UI"/>
                  </a:rPr>
                  <a:t>% de peticiones</a:t>
                </a:r>
              </a:p>
            </c:rich>
          </c:tx>
          <c:layout/>
          <c:overlay val="0"/>
        </c:title>
        <c:numFmt formatCode="0&quot;%&quot;" sourceLinked="0"/>
        <c:majorTickMark val="none"/>
        <c:minorTickMark val="none"/>
        <c:tickLblPos val="nextTo"/>
        <c:spPr>
          <a:ln>
            <a:solidFill>
              <a:srgbClr val="C3C2B7"/>
            </a:solidFill>
          </a:ln>
        </c:spPr>
        <c:txPr>
          <a:bodyPr/>
          <a:lstStyle/>
          <a:p>
            <a:pPr>
              <a:defRPr>
                <a:solidFill>
                  <a:srgbClr val="52514E"/>
                </a:solidFill>
              </a:defRPr>
            </a:pPr>
          </a:p>
        </c:txPr>
        <c:crossAx val="-2068027336"/>
        <c:crosses val="autoZero"/>
      </c:valAx>
    </c:plotArea>
    <c:dispBlanksAs val="gap"/>
  </c:chart>
  <c:txPr>
    <a:bodyPr/>
    <a:lstStyle/>
    <a:p>
      <a:pPr>
        <a:defRPr sz="1000">
          <a:solidFill>
            <a:srgbClr val="52514E"/>
          </a:solidFill>
          <a:latin typeface="Segoe U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5"/>
          <c:y val="0.14"/>
          <c:w val="0.8"/>
          <c:h val="0.7"/>
        </c:manualLayout>
      </c:layout>
      <c:scatterChart>
        <c:scatterStyle val="lineMarker"/>
        <c:varyColors val="0"/>
        <c:ser>
          <c:idx val="0"/>
          <c:order val="0"/>
          <c:tx>
            <c:strRef>
              <c:f>Sheet1!$B$1</c:f>
              <c:strCache>
                <c:ptCount val="1"/>
                <c:pt idx="0">
                  <c:v>mediana</c:v>
                </c:pt>
              </c:strCache>
            </c:strRef>
          </c:tx>
          <c:spPr>
            <a:ln w="25400">
              <a:solidFill>
                <a:srgbClr val="2A78D6"/>
              </a:solidFill>
            </a:ln>
          </c:spPr>
          <c:marker>
            <c:symbol val="none"/>
          </c:marker>
          <c:xVal>
            <c:numRef>
              <c:f>Sheet1!$A$2:$A$3</c:f>
              <c:numCache>
                <c:formatCode>General</c:formatCode>
                <c:ptCount val="2"/>
                <c:pt idx="0">
                  <c:v>10</c:v>
                </c:pt>
                <c:pt idx="1">
                  <c:v>1000</c:v>
                </c:pt>
              </c:numCache>
            </c:numRef>
          </c:xVal>
          <c:yVal>
            <c:numRef>
              <c:f>Sheet1!$B$2:$B$3</c:f>
              <c:numCache>
                <c:formatCode>General</c:formatCode>
                <c:ptCount val="2"/>
                <c:pt idx="0">
                  <c:v>7041.627420674502</c:v>
                </c:pt>
                <c:pt idx="1">
                  <c:v>7041.627420674502</c:v>
                </c:pt>
              </c:numCache>
            </c:numRef>
          </c:yVal>
          <c:smooth val="0"/>
        </c:ser>
        <c:ser>
          <c:idx val="1"/>
          <c:order val="1"/>
          <c:tx>
            <c:strRef>
              <c:f>Sheet1!$B$5</c:f>
              <c:strCache>
                <c:ptCount val="1"/>
                <c:pt idx="0">
                  <c:v>cada corrida</c:v>
                </c:pt>
              </c:strCache>
            </c:strRef>
          </c:tx>
          <c:spPr>
            <a:ln>
              <a:noFill/>
            </a:ln>
          </c:spPr>
          <c:marker>
            <c:symbol val="circle"/>
            <c:size val="7"/>
            <c:spPr>
              <a:solidFill>
                <a:srgbClr val="2A78D6"/>
              </a:solidFill>
              <a:ln w="19050">
                <a:solidFill>
                  <a:srgbClr val="FCFCFB"/>
                </a:solidFill>
              </a:ln>
            </c:spPr>
          </c:marker>
          <c:xVal>
            <c:numRef>
              <c:f>Sheet1!$A$6:$A$21</c:f>
              <c:numCache>
                <c:formatCode>General</c:formatCode>
                <c:ptCount val="16"/>
                <c:pt idx="0">
                  <c:v>1</c:v>
                </c:pt>
                <c:pt idx="1">
                  <c:v>1</c:v>
                </c:pt>
                <c:pt idx="2">
                  <c:v>10</c:v>
                </c:pt>
                <c:pt idx="3">
                  <c:v>10</c:v>
                </c:pt>
                <c:pt idx="4">
                  <c:v>25</c:v>
                </c:pt>
                <c:pt idx="5">
                  <c:v>25</c:v>
                </c:pt>
                <c:pt idx="6">
                  <c:v>50</c:v>
                </c:pt>
                <c:pt idx="7">
                  <c:v>50</c:v>
                </c:pt>
                <c:pt idx="8">
                  <c:v>100</c:v>
                </c:pt>
                <c:pt idx="9">
                  <c:v>100</c:v>
                </c:pt>
                <c:pt idx="10">
                  <c:v>200</c:v>
                </c:pt>
                <c:pt idx="11">
                  <c:v>200</c:v>
                </c:pt>
                <c:pt idx="12">
                  <c:v>400</c:v>
                </c:pt>
                <c:pt idx="13">
                  <c:v>400</c:v>
                </c:pt>
                <c:pt idx="14">
                  <c:v>800</c:v>
                </c:pt>
                <c:pt idx="15">
                  <c:v>800</c:v>
                </c:pt>
              </c:numCache>
            </c:numRef>
          </c:xVal>
          <c:yVal>
            <c:numRef>
              <c:f>Sheet1!$B$6:$B$21</c:f>
              <c:numCache>
                <c:formatCode>General</c:formatCode>
                <c:ptCount val="16"/>
                <c:pt idx="0">
                  <c:v>1992.31783681241</c:v>
                </c:pt>
                <c:pt idx="1">
                  <c:v>2055.378157182842</c:v>
                </c:pt>
                <c:pt idx="2">
                  <c:v>10799.89563080696</c:v>
                </c:pt>
                <c:pt idx="3">
                  <c:v>8084.924448364577</c:v>
                </c:pt>
                <c:pt idx="4">
                  <c:v>6332.033512446802</c:v>
                </c:pt>
                <c:pt idx="5">
                  <c:v>3916.241304823708</c:v>
                </c:pt>
                <c:pt idx="6">
                  <c:v>6308.604746300687</c:v>
                </c:pt>
                <c:pt idx="7">
                  <c:v>4575.552957209397</c:v>
                </c:pt>
                <c:pt idx="8">
                  <c:v>7844.828173032027</c:v>
                </c:pt>
                <c:pt idx="9">
                  <c:v>9025.959772252892</c:v>
                </c:pt>
                <c:pt idx="10">
                  <c:v>7863.176731565414</c:v>
                </c:pt>
                <c:pt idx="11">
                  <c:v>8171.251687013161</c:v>
                </c:pt>
                <c:pt idx="12">
                  <c:v>6179.2529732846515</c:v>
                </c:pt>
                <c:pt idx="13">
                  <c:v>5513.55663907097</c:v>
                </c:pt>
                <c:pt idx="14">
                  <c:v>5926.177842929272</c:v>
                </c:pt>
                <c:pt idx="15">
                  <c:v>8157.076998419733</c:v>
                </c:pt>
              </c:numCache>
            </c:numRef>
          </c:yVal>
          <c:smooth val="0"/>
        </c:ser>
        <c:axId val="-2128940872"/>
        <c:axId val="-2129643912"/>
      </c:scatterChart>
      <c:valAx>
        <c:axId val="-2128940872"/>
        <c:scaling>
          <c:logBase val="10"/>
          <c:orientation val="minMax"/>
          <c:max val="1000.0"/>
          <c:min val="1.0"/>
        </c:scaling>
        <c:delete val="0"/>
        <c:axPos val="b"/>
        <c:title>
          <c:tx>
            <c:rich>
              <a:bodyPr/>
              <a:lstStyle/>
              <a:p>
                <a:r>
                  <a:rPr sz="1000" b="0">
                    <a:solidFill>
                      <a:srgbClr val="52514E"/>
                    </a:solidFill>
                    <a:latin typeface="Segoe UI"/>
                  </a:rPr>
                  <a:t>usuarios virtuales (escala log)</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valAx>
      <c:valAx>
        <c:axId val="-2129643912"/>
        <c:scaling>
          <c:orientation val="minMax"/>
          <c:max val="15000.0"/>
          <c:min val="0.0"/>
        </c:scaling>
        <c:delete val="0"/>
        <c:axPos val="l"/>
        <c:majorGridlines>
          <c:spPr>
            <a:ln w="9525">
              <a:solidFill>
                <a:srgbClr val="E1E0D9"/>
              </a:solidFill>
            </a:ln>
          </c:spPr>
        </c:majorGridlines>
        <c:title>
          <c:tx>
            <c:rich>
              <a:bodyPr/>
              <a:lstStyle/>
              <a:p>
                <a:r>
                  <a:rPr sz="1000" b="0">
                    <a:solidFill>
                      <a:srgbClr val="52514E"/>
                    </a:solidFill>
                    <a:latin typeface="Segoe UI"/>
                  </a:rPr>
                  <a:t>peticiones por segundo</a:t>
                </a:r>
              </a:p>
            </c:rich>
          </c:tx>
          <c:layout/>
          <c:overlay val="0"/>
        </c:title>
        <c:numFmt formatCode="#,##0"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min"/>
        <c:crossBetween val="midCat"/>
      </c:valAx>
    </c:plotArea>
    <c:plotVisOnly val="1"/>
    <c:dispBlanksAs val="gap"/>
    <c:showDLblsOverMax val="0"/>
  </c:chart>
  <c:txPr>
    <a:bodyPr/>
    <a:lstStyle/>
    <a:p>
      <a:pPr>
        <a:defRPr sz="1000">
          <a:solidFill>
            <a:srgbClr val="52514E"/>
          </a:solidFill>
          <a:latin typeface="Segoe U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3"/>
          <c:y val="0.14"/>
          <c:w val="0.8"/>
          <c:h val="0.7"/>
        </c:manualLayout>
      </c:layout>
      <c:scatterChart>
        <c:scatterStyle val="lineMarker"/>
        <c:varyColors val="0"/>
        <c:ser>
          <c:idx val="0"/>
          <c:order val="0"/>
          <c:tx>
            <c:strRef>
              <c:f>Sheet1!$B$1</c:f>
              <c:strCache>
                <c:ptCount val="1"/>
                <c:pt idx="0">
                  <c:v>p95</c:v>
                </c:pt>
              </c:strCache>
            </c:strRef>
          </c:tx>
          <c:spPr>
            <a:ln w="28575">
              <a:solidFill>
                <a:srgbClr val="EB6834"/>
              </a:solidFill>
            </a:ln>
          </c:spPr>
          <c:marker>
            <c:symbol val="circle"/>
            <c:size val="7"/>
            <c:spPr>
              <a:solidFill>
                <a:srgbClr val="EB6834"/>
              </a:solidFill>
              <a:ln w="19050">
                <a:solidFill>
                  <a:srgbClr val="FCFCFB"/>
                </a:solidFill>
              </a:ln>
            </c:spPr>
          </c:marker>
          <c:xVal>
            <c:numRef>
              <c:f>Sheet1!$A$2:$A$9</c:f>
              <c:numCache>
                <c:formatCode>General</c:formatCode>
                <c:ptCount val="8"/>
                <c:pt idx="0">
                  <c:v>1</c:v>
                </c:pt>
                <c:pt idx="1">
                  <c:v>10</c:v>
                </c:pt>
                <c:pt idx="2">
                  <c:v>25</c:v>
                </c:pt>
                <c:pt idx="3">
                  <c:v>50</c:v>
                </c:pt>
                <c:pt idx="4">
                  <c:v>100</c:v>
                </c:pt>
                <c:pt idx="5">
                  <c:v>200</c:v>
                </c:pt>
                <c:pt idx="6">
                  <c:v>400</c:v>
                </c:pt>
                <c:pt idx="7">
                  <c:v>800</c:v>
                </c:pt>
              </c:numCache>
            </c:numRef>
          </c:xVal>
          <c:yVal>
            <c:numRef>
              <c:f>Sheet1!$B$2:$B$9</c:f>
              <c:numCache>
                <c:formatCode>General</c:formatCode>
                <c:ptCount val="8"/>
                <c:pt idx="0">
                  <c:v>0.9735724999999988</c:v>
                </c:pt>
                <c:pt idx="1">
                  <c:v>1.6019999999999999</c:v>
                </c:pt>
                <c:pt idx="2">
                  <c:v>11.739339999999997</c:v>
                </c:pt>
                <c:pt idx="3">
                  <c:v>21.223974999999996</c:v>
                </c:pt>
                <c:pt idx="4">
                  <c:v>24.941099999999906</c:v>
                </c:pt>
                <c:pt idx="5">
                  <c:v>49.57525</c:v>
                </c:pt>
                <c:pt idx="6">
                  <c:v>143.13757499999986</c:v>
                </c:pt>
                <c:pt idx="7">
                  <c:v>202.1865</c:v>
                </c:pt>
              </c:numCache>
            </c:numRef>
          </c:yVal>
          <c:smooth val="0"/>
        </c:ser>
        <c:ser>
          <c:idx val="1"/>
          <c:order val="1"/>
          <c:tx>
            <c:strRef>
              <c:f>Sheet1!$B$11</c:f>
              <c:strCache>
                <c:ptCount val="1"/>
                <c:pt idx="0">
                  <c:v>cada corrida</c:v>
                </c:pt>
              </c:strCache>
            </c:strRef>
          </c:tx>
          <c:spPr>
            <a:ln>
              <a:noFill/>
            </a:ln>
          </c:spPr>
          <c:marker>
            <c:symbol val="circle"/>
            <c:size val="6"/>
            <c:spPr>
              <a:solidFill>
                <a:srgbClr val="F3B497"/>
              </a:solidFill>
              <a:ln w="19050">
                <a:solidFill>
                  <a:srgbClr val="FCFCFB"/>
                </a:solidFill>
              </a:ln>
            </c:spPr>
          </c:marker>
          <c:xVal>
            <c:numRef>
              <c:f>Sheet1!$A$12:$A$27</c:f>
              <c:numCache>
                <c:formatCode>General</c:formatCode>
                <c:ptCount val="16"/>
                <c:pt idx="0">
                  <c:v>1</c:v>
                </c:pt>
                <c:pt idx="1">
                  <c:v>1</c:v>
                </c:pt>
                <c:pt idx="2">
                  <c:v>10</c:v>
                </c:pt>
                <c:pt idx="3">
                  <c:v>10</c:v>
                </c:pt>
                <c:pt idx="4">
                  <c:v>25</c:v>
                </c:pt>
                <c:pt idx="5">
                  <c:v>25</c:v>
                </c:pt>
                <c:pt idx="6">
                  <c:v>50</c:v>
                </c:pt>
                <c:pt idx="7">
                  <c:v>50</c:v>
                </c:pt>
                <c:pt idx="8">
                  <c:v>100</c:v>
                </c:pt>
                <c:pt idx="9">
                  <c:v>100</c:v>
                </c:pt>
                <c:pt idx="10">
                  <c:v>200</c:v>
                </c:pt>
                <c:pt idx="11">
                  <c:v>200</c:v>
                </c:pt>
                <c:pt idx="12">
                  <c:v>400</c:v>
                </c:pt>
                <c:pt idx="13">
                  <c:v>400</c:v>
                </c:pt>
                <c:pt idx="14">
                  <c:v>800</c:v>
                </c:pt>
                <c:pt idx="15">
                  <c:v>800</c:v>
                </c:pt>
              </c:numCache>
            </c:numRef>
          </c:xVal>
          <c:yVal>
            <c:numRef>
              <c:f>Sheet1!$B$12:$B$27</c:f>
              <c:numCache>
                <c:formatCode>General</c:formatCode>
                <c:ptCount val="16"/>
                <c:pt idx="0">
                  <c:v>0.9736600000000006</c:v>
                </c:pt>
                <c:pt idx="1">
                  <c:v>0.9734849999999969</c:v>
                </c:pt>
                <c:pt idx="2">
                  <c:v>1.5086</c:v>
                </c:pt>
                <c:pt idx="3">
                  <c:v>1.6954</c:v>
                </c:pt>
                <c:pt idx="4">
                  <c:v>7.635899999999994</c:v>
                </c:pt>
                <c:pt idx="5">
                  <c:v>15.84278</c:v>
                </c:pt>
                <c:pt idx="6">
                  <c:v>16.6596</c:v>
                </c:pt>
                <c:pt idx="7">
                  <c:v>25.788349999999994</c:v>
                </c:pt>
                <c:pt idx="8">
                  <c:v>27.081199999999818</c:v>
                </c:pt>
                <c:pt idx="9">
                  <c:v>22.801</c:v>
                </c:pt>
                <c:pt idx="10">
                  <c:v>51.1769</c:v>
                </c:pt>
                <c:pt idx="11">
                  <c:v>47.9736</c:v>
                </c:pt>
                <c:pt idx="12">
                  <c:v>134.51080000000002</c:v>
                </c:pt>
                <c:pt idx="13">
                  <c:v>151.7643499999997</c:v>
                </c:pt>
                <c:pt idx="14">
                  <c:v>288.6373</c:v>
                </c:pt>
                <c:pt idx="15">
                  <c:v>115.7357</c:v>
                </c:pt>
              </c:numCache>
            </c:numRef>
          </c:yVal>
          <c:smooth val="0"/>
        </c:ser>
        <c:axId val="-2128940872"/>
        <c:axId val="-2129643912"/>
      </c:scatterChart>
      <c:valAx>
        <c:axId val="-2128940872"/>
        <c:scaling>
          <c:logBase val="10"/>
          <c:orientation val="minMax"/>
          <c:max val="1000.0"/>
          <c:min val="1.0"/>
        </c:scaling>
        <c:delete val="0"/>
        <c:axPos val="b"/>
        <c:title>
          <c:tx>
            <c:rich>
              <a:bodyPr/>
              <a:lstStyle/>
              <a:p>
                <a:r>
                  <a:rPr sz="1000" b="0">
                    <a:solidFill>
                      <a:srgbClr val="52514E"/>
                    </a:solidFill>
                    <a:latin typeface="Segoe UI"/>
                  </a:rPr>
                  <a:t>usuarios virtuales (escala log)</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valAx>
      <c:valAx>
        <c:axId val="-2129643912"/>
        <c:scaling>
          <c:orientation val="minMax"/>
          <c:max val="400.0"/>
          <c:min val="0.0"/>
        </c:scaling>
        <c:delete val="0"/>
        <c:axPos val="l"/>
        <c:majorGridlines>
          <c:spPr>
            <a:ln w="9525">
              <a:solidFill>
                <a:srgbClr val="E1E0D9"/>
              </a:solidFill>
            </a:ln>
          </c:spPr>
        </c:majorGridlines>
        <c:title>
          <c:tx>
            <c:rich>
              <a:bodyPr/>
              <a:lstStyle/>
              <a:p>
                <a:r>
                  <a:rPr sz="1000" b="0">
                    <a:solidFill>
                      <a:srgbClr val="52514E"/>
                    </a:solidFill>
                    <a:latin typeface="Segoe UI"/>
                  </a:rPr>
                  <a:t>p95 (ms)</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min"/>
        <c:crossBetween val="midCat"/>
      </c:valAx>
    </c:plotArea>
    <c:plotVisOnly val="1"/>
    <c:dispBlanksAs val="gap"/>
    <c:showDLblsOverMax val="0"/>
  </c:chart>
  <c:txPr>
    <a:bodyPr/>
    <a:lstStyle/>
    <a:p>
      <a:pPr>
        <a:defRPr sz="1000">
          <a:solidFill>
            <a:srgbClr val="52514E"/>
          </a:solidFill>
          <a:latin typeface="Segoe U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
          <c:y val="0.05"/>
          <c:w val="0.84"/>
          <c:h val="0.8"/>
        </c:manualLayout>
      </c:layout>
      <c:scatterChart>
        <c:scatterStyle val="lineMarker"/>
        <c:varyColors val="0"/>
        <c:ser>
          <c:idx val="0"/>
          <c:order val="0"/>
          <c:tx>
            <c:strRef>
              <c:f>Sheet1!$B$1</c:f>
              <c:strCache>
                <c:ptCount val="1"/>
                <c:pt idx="0">
                  <c:v>p95 medido por k6 (cliente)</c:v>
                </c:pt>
              </c:strCache>
            </c:strRef>
          </c:tx>
          <c:spPr>
            <a:ln w="28575">
              <a:solidFill>
                <a:srgbClr val="EB6834"/>
              </a:solidFill>
            </a:ln>
          </c:spPr>
          <c:marker>
            <c:symbol val="circle"/>
            <c:size val="7"/>
            <c:spPr>
              <a:solidFill>
                <a:srgbClr val="EB6834"/>
              </a:solidFill>
              <a:ln w="19050">
                <a:solidFill>
                  <a:srgbClr val="FCFCFB"/>
                </a:solidFill>
              </a:ln>
            </c:spPr>
          </c:marker>
          <c:xVal>
            <c:numRef>
              <c:f>Sheet1!$A$2:$A$9</c:f>
              <c:numCache>
                <c:formatCode>General</c:formatCode>
                <c:ptCount val="8"/>
                <c:pt idx="0">
                  <c:v>1</c:v>
                </c:pt>
                <c:pt idx="1">
                  <c:v>10</c:v>
                </c:pt>
                <c:pt idx="2">
                  <c:v>25</c:v>
                </c:pt>
                <c:pt idx="3">
                  <c:v>50</c:v>
                </c:pt>
                <c:pt idx="4">
                  <c:v>100</c:v>
                </c:pt>
                <c:pt idx="5">
                  <c:v>200</c:v>
                </c:pt>
                <c:pt idx="6">
                  <c:v>400</c:v>
                </c:pt>
                <c:pt idx="7">
                  <c:v>800</c:v>
                </c:pt>
              </c:numCache>
            </c:numRef>
          </c:xVal>
          <c:yVal>
            <c:numRef>
              <c:f>Sheet1!$B$2:$B$9</c:f>
              <c:numCache>
                <c:formatCode>General</c:formatCode>
                <c:ptCount val="8"/>
                <c:pt idx="0">
                  <c:v>0.9735724999999988</c:v>
                </c:pt>
                <c:pt idx="1">
                  <c:v>1.6019999999999999</c:v>
                </c:pt>
                <c:pt idx="2">
                  <c:v>11.739339999999997</c:v>
                </c:pt>
                <c:pt idx="3">
                  <c:v>21.223974999999996</c:v>
                </c:pt>
                <c:pt idx="4">
                  <c:v>24.941099999999906</c:v>
                </c:pt>
                <c:pt idx="5">
                  <c:v>49.57525</c:v>
                </c:pt>
                <c:pt idx="6">
                  <c:v>143.13757499999986</c:v>
                </c:pt>
                <c:pt idx="7">
                  <c:v>202.1865</c:v>
                </c:pt>
              </c:numCache>
            </c:numRef>
          </c:yVal>
          <c:smooth val="0"/>
        </c:ser>
        <c:ser>
          <c:idx val="1"/>
          <c:order val="1"/>
          <c:tx>
            <c:strRef>
              <c:f>Sheet1!$B$11</c:f>
              <c:strCache>
                <c:ptCount val="1"/>
                <c:pt idx="0">
                  <c:v>p95 medido por Actuator (servidor)</c:v>
                </c:pt>
              </c:strCache>
            </c:strRef>
          </c:tx>
          <c:spPr>
            <a:ln w="28575">
              <a:solidFill>
                <a:srgbClr val="2A78D6"/>
              </a:solidFill>
            </a:ln>
          </c:spPr>
          <c:marker>
            <c:symbol val="circle"/>
            <c:size val="7"/>
            <c:spPr>
              <a:solidFill>
                <a:srgbClr val="2A78D6"/>
              </a:solidFill>
              <a:ln w="19050">
                <a:solidFill>
                  <a:srgbClr val="FCFCFB"/>
                </a:solidFill>
              </a:ln>
            </c:spPr>
          </c:marker>
          <c:xVal>
            <c:numRef>
              <c:f>Sheet1!$A$12:$A$19</c:f>
              <c:numCache>
                <c:formatCode>General</c:formatCode>
                <c:ptCount val="8"/>
                <c:pt idx="0">
                  <c:v>1</c:v>
                </c:pt>
                <c:pt idx="1">
                  <c:v>10</c:v>
                </c:pt>
                <c:pt idx="2">
                  <c:v>25</c:v>
                </c:pt>
                <c:pt idx="3">
                  <c:v>50</c:v>
                </c:pt>
                <c:pt idx="4">
                  <c:v>100</c:v>
                </c:pt>
                <c:pt idx="5">
                  <c:v>200</c:v>
                </c:pt>
                <c:pt idx="6">
                  <c:v>400</c:v>
                </c:pt>
                <c:pt idx="7">
                  <c:v>800</c:v>
                </c:pt>
              </c:numCache>
            </c:numRef>
          </c:xVal>
          <c:yVal>
            <c:numRef>
              <c:f>Sheet1!$B$12:$B$19</c:f>
              <c:numCache>
                <c:formatCode>General</c:formatCode>
                <c:ptCount val="8"/>
                <c:pt idx="0">
                  <c:v>0.22547155248303402</c:v>
                </c:pt>
                <c:pt idx="1">
                  <c:v>0.11004937603355491</c:v>
                </c:pt>
                <c:pt idx="2">
                  <c:v>0.17310540834643978</c:v>
                </c:pt>
                <c:pt idx="3">
                  <c:v>0.14501228310027808</c:v>
                </c:pt>
                <c:pt idx="4">
                  <c:v>0.10460024046713892</c:v>
                </c:pt>
                <c:pt idx="5">
                  <c:v>0.10931535352339805</c:v>
                </c:pt>
                <c:pt idx="6">
                  <c:v>0.17741354732916664</c:v>
                </c:pt>
                <c:pt idx="7">
                  <c:v>0.11676899227635903</c:v>
                </c:pt>
              </c:numCache>
            </c:numRef>
          </c:yVal>
          <c:smooth val="0"/>
        </c:ser>
        <c:axId val="-2128940872"/>
        <c:axId val="-2129643912"/>
      </c:scatterChart>
      <c:valAx>
        <c:axId val="-2128940872"/>
        <c:scaling>
          <c:logBase val="10"/>
          <c:orientation val="minMax"/>
          <c:max val="1000.0"/>
          <c:min val="1.0"/>
        </c:scaling>
        <c:delete val="0"/>
        <c:axPos val="b"/>
        <c:title>
          <c:tx>
            <c:rich>
              <a:bodyPr/>
              <a:lstStyle/>
              <a:p>
                <a:r>
                  <a:rPr sz="1000" b="0">
                    <a:solidFill>
                      <a:srgbClr val="52514E"/>
                    </a:solidFill>
                    <a:latin typeface="Segoe UI"/>
                  </a:rPr>
                  <a:t>usuarios virtuales (escala log)</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min"/>
        <c:crossBetween val="midCat"/>
      </c:valAx>
      <c:valAx>
        <c:axId val="-2129643912"/>
        <c:scaling>
          <c:logBase val="10"/>
          <c:orientation val="minMax"/>
          <c:max val="1000.0"/>
          <c:min val="0.1"/>
        </c:scaling>
        <c:delete val="0"/>
        <c:axPos val="l"/>
        <c:majorGridlines>
          <c:spPr>
            <a:ln w="9525">
              <a:solidFill>
                <a:srgbClr val="E1E0D9"/>
              </a:solidFill>
            </a:ln>
          </c:spPr>
        </c:majorGridlines>
        <c:title>
          <c:tx>
            <c:rich>
              <a:bodyPr/>
              <a:lstStyle/>
              <a:p>
                <a:r>
                  <a:rPr sz="1000" b="0">
                    <a:solidFill>
                      <a:srgbClr val="52514E"/>
                    </a:solidFill>
                    <a:latin typeface="Segoe UI"/>
                  </a:rPr>
                  <a:t>p95 (ms, escala log)</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min"/>
        <c:crossBetween val="midCat"/>
      </c:valAx>
    </c:plotArea>
    <c:plotVisOnly val="1"/>
    <c:dispBlanksAs val="gap"/>
    <c:showDLblsOverMax val="0"/>
  </c:chart>
  <c:txPr>
    <a:bodyPr/>
    <a:lstStyle/>
    <a:p>
      <a:pPr>
        <a:defRPr sz="1000">
          <a:solidFill>
            <a:srgbClr val="52514E"/>
          </a:solidFill>
          <a:latin typeface="Segoe U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5"/>
          <c:y val="0.1"/>
          <c:w val="0.8"/>
          <c:h val="0.72"/>
        </c:manualLayout>
      </c:layout>
      <c:scatterChart>
        <c:scatterStyle val="lineMarker"/>
        <c:varyColors val="0"/>
        <c:ser>
          <c:idx val="0"/>
          <c:order val="0"/>
          <c:tx>
            <c:strRef>
              <c:f>Sheet1!$B$1</c:f>
              <c:strCache>
                <c:ptCount val="1"/>
                <c:pt idx="0">
                  <c:v>atendidas</c:v>
                </c:pt>
              </c:strCache>
            </c:strRef>
          </c:tx>
          <c:spPr>
            <a:ln w="28575">
              <a:solidFill>
                <a:srgbClr val="2A78D6"/>
              </a:solidFill>
            </a:ln>
          </c:spPr>
          <c:marker>
            <c:symbol val="circle"/>
            <c:size val="7"/>
            <c:spPr>
              <a:solidFill>
                <a:srgbClr val="2A78D6"/>
              </a:solidFill>
              <a:ln w="19050">
                <a:solidFill>
                  <a:srgbClr val="FCFCFB"/>
                </a:solidFill>
              </a:ln>
            </c:spPr>
          </c:marker>
          <c:xVal>
            <c:numRef>
              <c:f>Sheet1!$A$2:$A$7</c:f>
              <c:numCache>
                <c:formatCode>General</c:formatCode>
                <c:ptCount val="6"/>
                <c:pt idx="0">
                  <c:v>2000</c:v>
                </c:pt>
                <c:pt idx="1">
                  <c:v>4000</c:v>
                </c:pt>
                <c:pt idx="2">
                  <c:v>6000</c:v>
                </c:pt>
                <c:pt idx="3">
                  <c:v>8000</c:v>
                </c:pt>
                <c:pt idx="4">
                  <c:v>10000</c:v>
                </c:pt>
                <c:pt idx="5">
                  <c:v>12000</c:v>
                </c:pt>
              </c:numCache>
            </c:numRef>
          </c:xVal>
          <c:yVal>
            <c:numRef>
              <c:f>Sheet1!$B$2:$B$7</c:f>
              <c:numCache>
                <c:formatCode>General</c:formatCode>
                <c:ptCount val="6"/>
                <c:pt idx="0">
                  <c:v>1996.2868822841829</c:v>
                </c:pt>
                <c:pt idx="1">
                  <c:v>3971.7972575370904</c:v>
                </c:pt>
                <c:pt idx="2">
                  <c:v>5917.668697231405</c:v>
                </c:pt>
                <c:pt idx="3">
                  <c:v>7688.602360097845</c:v>
                </c:pt>
                <c:pt idx="4">
                  <c:v>9733.268794613396</c:v>
                </c:pt>
                <c:pt idx="5">
                  <c:v>8712.305207053512</c:v>
                </c:pt>
              </c:numCache>
            </c:numRef>
          </c:yVal>
          <c:smooth val="0"/>
        </c:ser>
        <c:ser>
          <c:idx val="1"/>
          <c:order val="1"/>
          <c:tx>
            <c:strRef>
              <c:f>Sheet1!$B$9</c:f>
              <c:strCache>
                <c:ptCount val="1"/>
                <c:pt idx="0">
                  <c:v>ideal</c:v>
                </c:pt>
              </c:strCache>
            </c:strRef>
          </c:tx>
          <c:spPr>
            <a:ln w="15875">
              <a:solidFill>
                <a:srgbClr val="C3C2B7"/>
              </a:solidFill>
            </a:ln>
          </c:spPr>
          <c:marker>
            <c:symbol val="none"/>
          </c:marker>
          <c:xVal>
            <c:numRef>
              <c:f>Sheet1!$A$10:$A$11</c:f>
              <c:numCache>
                <c:formatCode>General</c:formatCode>
                <c:ptCount val="2"/>
                <c:pt idx="0">
                  <c:v>0</c:v>
                </c:pt>
                <c:pt idx="1">
                  <c:v>15000.0</c:v>
                </c:pt>
              </c:numCache>
            </c:numRef>
          </c:xVal>
          <c:yVal>
            <c:numRef>
              <c:f>Sheet1!$B$10:$B$11</c:f>
              <c:numCache>
                <c:formatCode>General</c:formatCode>
                <c:ptCount val="2"/>
                <c:pt idx="0">
                  <c:v>0</c:v>
                </c:pt>
                <c:pt idx="1">
                  <c:v>15000.0</c:v>
                </c:pt>
              </c:numCache>
            </c:numRef>
          </c:yVal>
          <c:smooth val="0"/>
        </c:ser>
        <c:axId val="-2128940872"/>
        <c:axId val="-2129643912"/>
      </c:scatterChart>
      <c:valAx>
        <c:axId val="-2128940872"/>
        <c:scaling>
          <c:orientation val="minMax"/>
          <c:max val="15000.0"/>
          <c:min val="0.0"/>
        </c:scaling>
        <c:delete val="0"/>
        <c:axPos val="b"/>
        <c:title>
          <c:tx>
            <c:rich>
              <a:bodyPr/>
              <a:lstStyle/>
              <a:p>
                <a:r>
                  <a:rPr sz="1000" b="0">
                    <a:solidFill>
                      <a:srgbClr val="52514E"/>
                    </a:solidFill>
                    <a:latin typeface="Segoe UI"/>
                  </a:rPr>
                  <a:t>peticiones que llegan por segundo</a:t>
                </a:r>
              </a:p>
            </c:rich>
          </c:tx>
          <c:layout/>
          <c:overlay val="0"/>
        </c:title>
        <c:numFmt formatCode="#,##0"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valAx>
      <c:valAx>
        <c:axId val="-2129643912"/>
        <c:scaling>
          <c:orientation val="minMax"/>
          <c:max val="15000.0"/>
          <c:min val="0.0"/>
        </c:scaling>
        <c:delete val="0"/>
        <c:axPos val="l"/>
        <c:majorGridlines>
          <c:spPr>
            <a:ln w="9525">
              <a:solidFill>
                <a:srgbClr val="E1E0D9"/>
              </a:solidFill>
            </a:ln>
          </c:spPr>
        </c:majorGridlines>
        <c:title>
          <c:tx>
            <c:rich>
              <a:bodyPr/>
              <a:lstStyle/>
              <a:p>
                <a:r>
                  <a:rPr sz="1000" b="0">
                    <a:solidFill>
                      <a:srgbClr val="52514E"/>
                    </a:solidFill>
                    <a:latin typeface="Segoe UI"/>
                  </a:rPr>
                  <a:t>peticiones atendidas por segundo</a:t>
                </a:r>
              </a:p>
            </c:rich>
          </c:tx>
          <c:layout/>
          <c:overlay val="0"/>
        </c:title>
        <c:numFmt formatCode="#,##0"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autoZero"/>
        <c:crossBetween val="midCat"/>
      </c:valAx>
    </c:plotArea>
    <c:plotVisOnly val="1"/>
    <c:dispBlanksAs val="gap"/>
    <c:showDLblsOverMax val="0"/>
  </c:chart>
  <c:txPr>
    <a:bodyPr/>
    <a:lstStyle/>
    <a:p>
      <a:pPr>
        <a:defRPr sz="1000">
          <a:solidFill>
            <a:srgbClr val="52514E"/>
          </a:solidFill>
          <a:latin typeface="Segoe U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3"/>
          <c:y val="0.1"/>
          <c:w val="0.8"/>
          <c:h val="0.72"/>
        </c:manualLayout>
      </c:layout>
      <c:scatterChart>
        <c:scatterStyle val="lineMarker"/>
        <c:varyColors val="0"/>
        <c:ser>
          <c:idx val="0"/>
          <c:order val="0"/>
          <c:tx>
            <c:strRef>
              <c:f>Sheet1!$B$1</c:f>
              <c:strCache>
                <c:ptCount val="1"/>
                <c:pt idx="0">
                  <c:v>p95</c:v>
                </c:pt>
              </c:strCache>
            </c:strRef>
          </c:tx>
          <c:spPr>
            <a:ln w="28575">
              <a:solidFill>
                <a:srgbClr val="EB6834"/>
              </a:solidFill>
            </a:ln>
          </c:spPr>
          <c:marker>
            <c:symbol val="circle"/>
            <c:size val="7"/>
            <c:spPr>
              <a:solidFill>
                <a:srgbClr val="EB6834"/>
              </a:solidFill>
              <a:ln w="19050">
                <a:solidFill>
                  <a:srgbClr val="FCFCFB"/>
                </a:solidFill>
              </a:ln>
            </c:spPr>
          </c:marker>
          <c:xVal>
            <c:numRef>
              <c:f>Sheet1!$A$2:$A$7</c:f>
              <c:numCache>
                <c:formatCode>General</c:formatCode>
                <c:ptCount val="6"/>
                <c:pt idx="0">
                  <c:v>2000</c:v>
                </c:pt>
                <c:pt idx="1">
                  <c:v>4000</c:v>
                </c:pt>
                <c:pt idx="2">
                  <c:v>6000</c:v>
                </c:pt>
                <c:pt idx="3">
                  <c:v>8000</c:v>
                </c:pt>
                <c:pt idx="4">
                  <c:v>10000</c:v>
                </c:pt>
                <c:pt idx="5">
                  <c:v>12000</c:v>
                </c:pt>
              </c:numCache>
            </c:numRef>
          </c:xVal>
          <c:yVal>
            <c:numRef>
              <c:f>Sheet1!$B$2:$B$7</c:f>
              <c:numCache>
                <c:formatCode>General</c:formatCode>
                <c:ptCount val="6"/>
                <c:pt idx="0">
                  <c:v>30.26610749999998</c:v>
                </c:pt>
                <c:pt idx="1">
                  <c:v>29.50935</c:v>
                </c:pt>
                <c:pt idx="2">
                  <c:v>40.41757999999998</c:v>
                </c:pt>
                <c:pt idx="3">
                  <c:v>109.857</c:v>
                </c:pt>
                <c:pt idx="4">
                  <c:v>65.88925</c:v>
                </c:pt>
                <c:pt idx="5">
                  <c:v>428.01797999999985</c:v>
                </c:pt>
              </c:numCache>
            </c:numRef>
          </c:yVal>
          <c:smooth val="0"/>
        </c:ser>
        <c:axId val="-2128940872"/>
        <c:axId val="-2129643912"/>
      </c:scatterChart>
      <c:valAx>
        <c:axId val="-2128940872"/>
        <c:scaling>
          <c:orientation val="minMax"/>
          <c:max val="15000.0"/>
          <c:min val="0.0"/>
        </c:scaling>
        <c:delete val="0"/>
        <c:axPos val="b"/>
        <c:title>
          <c:tx>
            <c:rich>
              <a:bodyPr/>
              <a:lstStyle/>
              <a:p>
                <a:r>
                  <a:rPr sz="1000" b="0">
                    <a:solidFill>
                      <a:srgbClr val="52514E"/>
                    </a:solidFill>
                    <a:latin typeface="Segoe UI"/>
                  </a:rPr>
                  <a:t>peticiones que llegan por segundo</a:t>
                </a:r>
              </a:p>
            </c:rich>
          </c:tx>
          <c:layout/>
          <c:overlay val="0"/>
        </c:title>
        <c:numFmt formatCode="#,##0"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min"/>
        <c:crossBetween val="midCat"/>
      </c:valAx>
      <c:valAx>
        <c:axId val="-2129643912"/>
        <c:scaling>
          <c:logBase val="10"/>
          <c:orientation val="minMax"/>
          <c:max val="1000.0"/>
          <c:min val="10.0"/>
        </c:scaling>
        <c:delete val="0"/>
        <c:axPos val="l"/>
        <c:majorGridlines>
          <c:spPr>
            <a:ln w="9525">
              <a:solidFill>
                <a:srgbClr val="E1E0D9"/>
              </a:solidFill>
            </a:ln>
          </c:spPr>
        </c:majorGridlines>
        <c:title>
          <c:tx>
            <c:rich>
              <a:bodyPr/>
              <a:lstStyle/>
              <a:p>
                <a:r>
                  <a:rPr sz="1000" b="0">
                    <a:solidFill>
                      <a:srgbClr val="52514E"/>
                    </a:solidFill>
                    <a:latin typeface="Segoe UI"/>
                  </a:rPr>
                  <a:t>p95 (ms, escala log)</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autoZero"/>
        <c:crossBetween val="midCat"/>
      </c:valAx>
    </c:plotArea>
    <c:plotVisOnly val="1"/>
    <c:dispBlanksAs val="gap"/>
    <c:showDLblsOverMax val="0"/>
  </c:chart>
  <c:txPr>
    <a:bodyPr/>
    <a:lstStyle/>
    <a:p>
      <a:pPr>
        <a:defRPr sz="1000">
          <a:solidFill>
            <a:srgbClr val="52514E"/>
          </a:solidFill>
          <a:latin typeface="Segoe U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27"/>
          <c:y val="0.08"/>
          <c:w val="0.7"/>
          <c:h val="0.7"/>
        </c:manualLayout>
      </c:layout>
      <c:scatterChart>
        <c:scatterStyle val="lineMarker"/>
        <c:varyColors val="0"/>
        <c:ser>
          <c:idx val="0"/>
          <c:order val="0"/>
          <c:tx>
            <c:strRef>
              <c:f>Sheet1!$B$1</c:f>
              <c:strCache>
                <c:ptCount val="1"/>
                <c:pt idx="0">
                  <c:v>Usuarios virtuales</c:v>
                </c:pt>
              </c:strCache>
            </c:strRef>
          </c:tx>
          <c:spPr>
            <a:ln w="25400">
              <a:solidFill>
                <a:srgbClr val="52514E"/>
              </a:solidFill>
            </a:ln>
          </c:spPr>
          <c:marker>
            <c:symbol val="none"/>
          </c:marker>
          <c:xVal>
            <c:numRef>
              <c:f>Sheet1!$A$2:$A$111</c:f>
              <c:numCache>
                <c:formatCode>General</c:formatCode>
                <c:ptCount val="110"/>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pt idx="14">
                  <c:v>24</c:v>
                </c:pt>
                <c:pt idx="15">
                  <c:v>25</c:v>
                </c:pt>
                <c:pt idx="16">
                  <c:v>26</c:v>
                </c:pt>
                <c:pt idx="17">
                  <c:v>27</c:v>
                </c:pt>
                <c:pt idx="18">
                  <c:v>28</c:v>
                </c:pt>
                <c:pt idx="19">
                  <c:v>29</c:v>
                </c:pt>
                <c:pt idx="20">
                  <c:v>30</c:v>
                </c:pt>
                <c:pt idx="21">
                  <c:v>31</c:v>
                </c:pt>
                <c:pt idx="22">
                  <c:v>32</c:v>
                </c:pt>
                <c:pt idx="23">
                  <c:v>33</c:v>
                </c:pt>
                <c:pt idx="24">
                  <c:v>34</c:v>
                </c:pt>
                <c:pt idx="25">
                  <c:v>35</c:v>
                </c:pt>
                <c:pt idx="26">
                  <c:v>36</c:v>
                </c:pt>
                <c:pt idx="27">
                  <c:v>37</c:v>
                </c:pt>
                <c:pt idx="28">
                  <c:v>38</c:v>
                </c:pt>
                <c:pt idx="29">
                  <c:v>39</c:v>
                </c:pt>
                <c:pt idx="30">
                  <c:v>40</c:v>
                </c:pt>
                <c:pt idx="31">
                  <c:v>41</c:v>
                </c:pt>
                <c:pt idx="32">
                  <c:v>42</c:v>
                </c:pt>
                <c:pt idx="33">
                  <c:v>43</c:v>
                </c:pt>
                <c:pt idx="34">
                  <c:v>44</c:v>
                </c:pt>
                <c:pt idx="35">
                  <c:v>45</c:v>
                </c:pt>
                <c:pt idx="36">
                  <c:v>46</c:v>
                </c:pt>
                <c:pt idx="37">
                  <c:v>47</c:v>
                </c:pt>
                <c:pt idx="38">
                  <c:v>48</c:v>
                </c:pt>
                <c:pt idx="39">
                  <c:v>49</c:v>
                </c:pt>
                <c:pt idx="40">
                  <c:v>50</c:v>
                </c:pt>
                <c:pt idx="41">
                  <c:v>51</c:v>
                </c:pt>
                <c:pt idx="42">
                  <c:v>52</c:v>
                </c:pt>
                <c:pt idx="43">
                  <c:v>53</c:v>
                </c:pt>
                <c:pt idx="44">
                  <c:v>54</c:v>
                </c:pt>
                <c:pt idx="45">
                  <c:v>55</c:v>
                </c:pt>
                <c:pt idx="46">
                  <c:v>56</c:v>
                </c:pt>
                <c:pt idx="47">
                  <c:v>57</c:v>
                </c:pt>
                <c:pt idx="48">
                  <c:v>58</c:v>
                </c:pt>
                <c:pt idx="49">
                  <c:v>59</c:v>
                </c:pt>
                <c:pt idx="50">
                  <c:v>60</c:v>
                </c:pt>
                <c:pt idx="51">
                  <c:v>61</c:v>
                </c:pt>
                <c:pt idx="52">
                  <c:v>62</c:v>
                </c:pt>
                <c:pt idx="53">
                  <c:v>63</c:v>
                </c:pt>
                <c:pt idx="54">
                  <c:v>64</c:v>
                </c:pt>
                <c:pt idx="55">
                  <c:v>65</c:v>
                </c:pt>
                <c:pt idx="56">
                  <c:v>66</c:v>
                </c:pt>
                <c:pt idx="57">
                  <c:v>67</c:v>
                </c:pt>
                <c:pt idx="58">
                  <c:v>68</c:v>
                </c:pt>
                <c:pt idx="59">
                  <c:v>69</c:v>
                </c:pt>
                <c:pt idx="60">
                  <c:v>70</c:v>
                </c:pt>
                <c:pt idx="61">
                  <c:v>71</c:v>
                </c:pt>
                <c:pt idx="62">
                  <c:v>72</c:v>
                </c:pt>
                <c:pt idx="63">
                  <c:v>73</c:v>
                </c:pt>
                <c:pt idx="64">
                  <c:v>74</c:v>
                </c:pt>
                <c:pt idx="65">
                  <c:v>75</c:v>
                </c:pt>
                <c:pt idx="66">
                  <c:v>76</c:v>
                </c:pt>
                <c:pt idx="67">
                  <c:v>77</c:v>
                </c:pt>
                <c:pt idx="68">
                  <c:v>78</c:v>
                </c:pt>
                <c:pt idx="69">
                  <c:v>79</c:v>
                </c:pt>
                <c:pt idx="70">
                  <c:v>80</c:v>
                </c:pt>
                <c:pt idx="71">
                  <c:v>81</c:v>
                </c:pt>
                <c:pt idx="72">
                  <c:v>82</c:v>
                </c:pt>
                <c:pt idx="73">
                  <c:v>83</c:v>
                </c:pt>
                <c:pt idx="74">
                  <c:v>84</c:v>
                </c:pt>
                <c:pt idx="75">
                  <c:v>85</c:v>
                </c:pt>
                <c:pt idx="76">
                  <c:v>86</c:v>
                </c:pt>
                <c:pt idx="77">
                  <c:v>87</c:v>
                </c:pt>
                <c:pt idx="78">
                  <c:v>88</c:v>
                </c:pt>
                <c:pt idx="79">
                  <c:v>89</c:v>
                </c:pt>
                <c:pt idx="80">
                  <c:v>90</c:v>
                </c:pt>
                <c:pt idx="81">
                  <c:v>91</c:v>
                </c:pt>
                <c:pt idx="82">
                  <c:v>92</c:v>
                </c:pt>
                <c:pt idx="83">
                  <c:v>93</c:v>
                </c:pt>
                <c:pt idx="84">
                  <c:v>94</c:v>
                </c:pt>
                <c:pt idx="85">
                  <c:v>95</c:v>
                </c:pt>
                <c:pt idx="86">
                  <c:v>96</c:v>
                </c:pt>
                <c:pt idx="87">
                  <c:v>97</c:v>
                </c:pt>
                <c:pt idx="88">
                  <c:v>98</c:v>
                </c:pt>
                <c:pt idx="89">
                  <c:v>99</c:v>
                </c:pt>
                <c:pt idx="90">
                  <c:v>100</c:v>
                </c:pt>
                <c:pt idx="91">
                  <c:v>101</c:v>
                </c:pt>
                <c:pt idx="92">
                  <c:v>102</c:v>
                </c:pt>
                <c:pt idx="93">
                  <c:v>103</c:v>
                </c:pt>
                <c:pt idx="94">
                  <c:v>104</c:v>
                </c:pt>
                <c:pt idx="95">
                  <c:v>105</c:v>
                </c:pt>
                <c:pt idx="96">
                  <c:v>106</c:v>
                </c:pt>
                <c:pt idx="97">
                  <c:v>107</c:v>
                </c:pt>
                <c:pt idx="98">
                  <c:v>108</c:v>
                </c:pt>
                <c:pt idx="99">
                  <c:v>109</c:v>
                </c:pt>
                <c:pt idx="100">
                  <c:v>110</c:v>
                </c:pt>
                <c:pt idx="101">
                  <c:v>111</c:v>
                </c:pt>
                <c:pt idx="102">
                  <c:v>112</c:v>
                </c:pt>
                <c:pt idx="103">
                  <c:v>113</c:v>
                </c:pt>
                <c:pt idx="104">
                  <c:v>114</c:v>
                </c:pt>
                <c:pt idx="105">
                  <c:v>115</c:v>
                </c:pt>
                <c:pt idx="106">
                  <c:v>116</c:v>
                </c:pt>
                <c:pt idx="107">
                  <c:v>117</c:v>
                </c:pt>
                <c:pt idx="108">
                  <c:v>118</c:v>
                </c:pt>
                <c:pt idx="109">
                  <c:v>119</c:v>
                </c:pt>
              </c:numCache>
            </c:numRef>
          </c:xVal>
          <c:yVal>
            <c:numRef>
              <c:f>Sheet1!$B$2:$B$111</c:f>
              <c:numCache>
                <c:formatCode>General</c:formatCode>
                <c:ptCount val="110"/>
                <c:pt idx="0">
                  <c:v>20.0</c:v>
                </c:pt>
                <c:pt idx="1">
                  <c:v>20.0</c:v>
                </c:pt>
                <c:pt idx="2">
                  <c:v>20.0</c:v>
                </c:pt>
                <c:pt idx="3">
                  <c:v>20.0</c:v>
                </c:pt>
                <c:pt idx="4">
                  <c:v>20.0</c:v>
                </c:pt>
                <c:pt idx="5">
                  <c:v>20.0</c:v>
                </c:pt>
                <c:pt idx="6">
                  <c:v>20.0</c:v>
                </c:pt>
                <c:pt idx="7">
                  <c:v>20.0</c:v>
                </c:pt>
                <c:pt idx="8">
                  <c:v>20.0</c:v>
                </c:pt>
                <c:pt idx="9">
                  <c:v>20.0</c:v>
                </c:pt>
                <c:pt idx="10">
                  <c:v>20.0</c:v>
                </c:pt>
                <c:pt idx="11">
                  <c:v>20.0</c:v>
                </c:pt>
                <c:pt idx="12">
                  <c:v>20.0</c:v>
                </c:pt>
                <c:pt idx="13">
                  <c:v>20.0</c:v>
                </c:pt>
                <c:pt idx="14">
                  <c:v>20.0</c:v>
                </c:pt>
                <c:pt idx="15">
                  <c:v>20.0</c:v>
                </c:pt>
                <c:pt idx="16">
                  <c:v>20.0</c:v>
                </c:pt>
                <c:pt idx="17">
                  <c:v>20.0</c:v>
                </c:pt>
                <c:pt idx="18">
                  <c:v>20.0</c:v>
                </c:pt>
                <c:pt idx="19">
                  <c:v>20.0</c:v>
                </c:pt>
                <c:pt idx="20">
                  <c:v>20.0</c:v>
                </c:pt>
                <c:pt idx="21">
                  <c:v>90.0</c:v>
                </c:pt>
                <c:pt idx="22">
                  <c:v>166.0</c:v>
                </c:pt>
                <c:pt idx="23">
                  <c:v>242.0</c:v>
                </c:pt>
                <c:pt idx="24">
                  <c:v>318.0</c:v>
                </c:pt>
                <c:pt idx="25">
                  <c:v>394.0</c:v>
                </c:pt>
                <c:pt idx="26">
                  <c:v>400.0</c:v>
                </c:pt>
                <c:pt idx="27">
                  <c:v>400.0</c:v>
                </c:pt>
                <c:pt idx="28">
                  <c:v>400.0</c:v>
                </c:pt>
                <c:pt idx="29">
                  <c:v>400.0</c:v>
                </c:pt>
                <c:pt idx="30">
                  <c:v>400.0</c:v>
                </c:pt>
                <c:pt idx="31">
                  <c:v>400.0</c:v>
                </c:pt>
                <c:pt idx="32">
                  <c:v>400.0</c:v>
                </c:pt>
                <c:pt idx="33">
                  <c:v>400.0</c:v>
                </c:pt>
                <c:pt idx="34">
                  <c:v>400.0</c:v>
                </c:pt>
                <c:pt idx="35">
                  <c:v>400.0</c:v>
                </c:pt>
                <c:pt idx="36">
                  <c:v>400.0</c:v>
                </c:pt>
                <c:pt idx="37">
                  <c:v>400.0</c:v>
                </c:pt>
                <c:pt idx="38">
                  <c:v>400.0</c:v>
                </c:pt>
                <c:pt idx="39">
                  <c:v>400.0</c:v>
                </c:pt>
                <c:pt idx="40">
                  <c:v>400.0</c:v>
                </c:pt>
                <c:pt idx="41">
                  <c:v>400.0</c:v>
                </c:pt>
                <c:pt idx="42">
                  <c:v>400.0</c:v>
                </c:pt>
                <c:pt idx="43">
                  <c:v>400.0</c:v>
                </c:pt>
                <c:pt idx="44">
                  <c:v>400.0</c:v>
                </c:pt>
                <c:pt idx="45">
                  <c:v>400.0</c:v>
                </c:pt>
                <c:pt idx="46">
                  <c:v>400.0</c:v>
                </c:pt>
                <c:pt idx="47">
                  <c:v>400.0</c:v>
                </c:pt>
                <c:pt idx="48">
                  <c:v>400.0</c:v>
                </c:pt>
                <c:pt idx="49">
                  <c:v>400.0</c:v>
                </c:pt>
                <c:pt idx="50">
                  <c:v>400.0</c:v>
                </c:pt>
                <c:pt idx="51">
                  <c:v>400.0</c:v>
                </c:pt>
                <c:pt idx="52">
                  <c:v>400.0</c:v>
                </c:pt>
                <c:pt idx="53">
                  <c:v>400.0</c:v>
                </c:pt>
                <c:pt idx="54">
                  <c:v>400.0</c:v>
                </c:pt>
                <c:pt idx="55">
                  <c:v>400.0</c:v>
                </c:pt>
                <c:pt idx="56">
                  <c:v>400.0</c:v>
                </c:pt>
                <c:pt idx="57">
                  <c:v>400.0</c:v>
                </c:pt>
                <c:pt idx="58">
                  <c:v>400.0</c:v>
                </c:pt>
                <c:pt idx="59">
                  <c:v>400.0</c:v>
                </c:pt>
                <c:pt idx="60">
                  <c:v>400.0</c:v>
                </c:pt>
                <c:pt idx="61">
                  <c:v>400.0</c:v>
                </c:pt>
                <c:pt idx="62">
                  <c:v>400.0</c:v>
                </c:pt>
                <c:pt idx="63">
                  <c:v>400.0</c:v>
                </c:pt>
                <c:pt idx="64">
                  <c:v>400.0</c:v>
                </c:pt>
                <c:pt idx="65">
                  <c:v>400.0</c:v>
                </c:pt>
                <c:pt idx="66">
                  <c:v>334.0</c:v>
                </c:pt>
                <c:pt idx="67">
                  <c:v>256.0</c:v>
                </c:pt>
                <c:pt idx="68">
                  <c:v>179.0</c:v>
                </c:pt>
                <c:pt idx="69">
                  <c:v>103.0</c:v>
                </c:pt>
                <c:pt idx="70">
                  <c:v>26.0</c:v>
                </c:pt>
                <c:pt idx="71">
                  <c:v>20.0</c:v>
                </c:pt>
                <c:pt idx="72">
                  <c:v>20.0</c:v>
                </c:pt>
                <c:pt idx="73">
                  <c:v>20.0</c:v>
                </c:pt>
                <c:pt idx="74">
                  <c:v>20.0</c:v>
                </c:pt>
                <c:pt idx="75">
                  <c:v>20.0</c:v>
                </c:pt>
                <c:pt idx="76">
                  <c:v>20.0</c:v>
                </c:pt>
                <c:pt idx="77">
                  <c:v>20.0</c:v>
                </c:pt>
                <c:pt idx="78">
                  <c:v>20.0</c:v>
                </c:pt>
                <c:pt idx="79">
                  <c:v>20.0</c:v>
                </c:pt>
                <c:pt idx="80">
                  <c:v>20.0</c:v>
                </c:pt>
                <c:pt idx="81">
                  <c:v>20.0</c:v>
                </c:pt>
                <c:pt idx="82">
                  <c:v>20.0</c:v>
                </c:pt>
                <c:pt idx="83">
                  <c:v>20.0</c:v>
                </c:pt>
                <c:pt idx="84">
                  <c:v>20.0</c:v>
                </c:pt>
                <c:pt idx="85">
                  <c:v>20.0</c:v>
                </c:pt>
                <c:pt idx="86">
                  <c:v>20.0</c:v>
                </c:pt>
                <c:pt idx="87">
                  <c:v>20.0</c:v>
                </c:pt>
                <c:pt idx="88">
                  <c:v>20.0</c:v>
                </c:pt>
                <c:pt idx="89">
                  <c:v>20.0</c:v>
                </c:pt>
                <c:pt idx="90">
                  <c:v>20.0</c:v>
                </c:pt>
                <c:pt idx="91">
                  <c:v>20.0</c:v>
                </c:pt>
                <c:pt idx="92">
                  <c:v>20.0</c:v>
                </c:pt>
                <c:pt idx="93">
                  <c:v>20.0</c:v>
                </c:pt>
                <c:pt idx="94">
                  <c:v>20.0</c:v>
                </c:pt>
                <c:pt idx="95">
                  <c:v>20.0</c:v>
                </c:pt>
                <c:pt idx="96">
                  <c:v>20.0</c:v>
                </c:pt>
                <c:pt idx="97">
                  <c:v>20.0</c:v>
                </c:pt>
                <c:pt idx="98">
                  <c:v>20.0</c:v>
                </c:pt>
                <c:pt idx="99">
                  <c:v>20.0</c:v>
                </c:pt>
                <c:pt idx="100">
                  <c:v>20.0</c:v>
                </c:pt>
                <c:pt idx="101">
                  <c:v>20.0</c:v>
                </c:pt>
                <c:pt idx="102">
                  <c:v>20.0</c:v>
                </c:pt>
                <c:pt idx="103">
                  <c:v>20.0</c:v>
                </c:pt>
                <c:pt idx="104">
                  <c:v>20.0</c:v>
                </c:pt>
                <c:pt idx="105">
                  <c:v>20.0</c:v>
                </c:pt>
                <c:pt idx="106">
                  <c:v>20.0</c:v>
                </c:pt>
                <c:pt idx="107">
                  <c:v>20.0</c:v>
                </c:pt>
                <c:pt idx="108">
                  <c:v>20.0</c:v>
                </c:pt>
                <c:pt idx="109">
                  <c:v>20.0</c:v>
                </c:pt>
              </c:numCache>
            </c:numRef>
          </c:yVal>
          <c:smooth val="0"/>
        </c:ser>
        <c:axId val="-2128940872"/>
        <c:axId val="-2129643912"/>
      </c:scatterChart>
      <c:valAx>
        <c:axId val="-2128940872"/>
        <c:scaling>
          <c:orientation val="minMax"/>
          <c:max val="120.0"/>
          <c:min val="10.0"/>
        </c:scaling>
        <c:delete val="0"/>
        <c:axPos val="b"/>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majorUnit val="10.0"/>
      </c:valAx>
      <c:valAx>
        <c:axId val="-2129643912"/>
        <c:scaling>
          <c:orientation val="minMax"/>
          <c:max val="500.0"/>
          <c:min val="0.0"/>
        </c:scaling>
        <c:delete val="0"/>
        <c:axPos val="l"/>
        <c:majorGridlines>
          <c:spPr>
            <a:ln w="9525">
              <a:solidFill>
                <a:srgbClr val="E1E0D9"/>
              </a:solidFill>
            </a:ln>
          </c:spPr>
        </c:majorGridlines>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autoZero"/>
        <c:crossBetween val="midCat"/>
        <c:majorUnit val="250.0"/>
      </c:valAx>
    </c:plotArea>
    <c:plotVisOnly val="1"/>
    <c:dispBlanksAs val="gap"/>
    <c:showDLblsOverMax val="0"/>
  </c:chart>
  <c:txPr>
    <a:bodyPr/>
    <a:lstStyle/>
    <a:p>
      <a:pPr>
        <a:defRPr sz="900">
          <a:solidFill>
            <a:srgbClr val="52514E"/>
          </a:solidFill>
          <a:latin typeface="Segoe U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27"/>
          <c:y val="0.08"/>
          <c:w val="0.7"/>
          <c:h val="0.7"/>
        </c:manualLayout>
      </c:layout>
      <c:scatterChart>
        <c:scatterStyle val="lineMarker"/>
        <c:varyColors val="0"/>
        <c:ser>
          <c:idx val="0"/>
          <c:order val="0"/>
          <c:tx>
            <c:strRef>
              <c:f>Sheet1!$B$1</c:f>
              <c:strCache>
                <c:ptCount val="1"/>
                <c:pt idx="0">
                  <c:v>Peticiones por segundo</c:v>
                </c:pt>
              </c:strCache>
            </c:strRef>
          </c:tx>
          <c:spPr>
            <a:ln w="25400">
              <a:solidFill>
                <a:srgbClr val="2A78D6"/>
              </a:solidFill>
            </a:ln>
          </c:spPr>
          <c:marker>
            <c:symbol val="none"/>
          </c:marker>
          <c:xVal>
            <c:numRef>
              <c:f>Sheet1!$A$2:$A$111</c:f>
              <c:numCache>
                <c:formatCode>General</c:formatCode>
                <c:ptCount val="110"/>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pt idx="14">
                  <c:v>24</c:v>
                </c:pt>
                <c:pt idx="15">
                  <c:v>25</c:v>
                </c:pt>
                <c:pt idx="16">
                  <c:v>26</c:v>
                </c:pt>
                <c:pt idx="17">
                  <c:v>27</c:v>
                </c:pt>
                <c:pt idx="18">
                  <c:v>28</c:v>
                </c:pt>
                <c:pt idx="19">
                  <c:v>29</c:v>
                </c:pt>
                <c:pt idx="20">
                  <c:v>30</c:v>
                </c:pt>
                <c:pt idx="21">
                  <c:v>31</c:v>
                </c:pt>
                <c:pt idx="22">
                  <c:v>32</c:v>
                </c:pt>
                <c:pt idx="23">
                  <c:v>33</c:v>
                </c:pt>
                <c:pt idx="24">
                  <c:v>34</c:v>
                </c:pt>
                <c:pt idx="25">
                  <c:v>35</c:v>
                </c:pt>
                <c:pt idx="26">
                  <c:v>36</c:v>
                </c:pt>
                <c:pt idx="27">
                  <c:v>37</c:v>
                </c:pt>
                <c:pt idx="28">
                  <c:v>38</c:v>
                </c:pt>
                <c:pt idx="29">
                  <c:v>39</c:v>
                </c:pt>
                <c:pt idx="30">
                  <c:v>40</c:v>
                </c:pt>
                <c:pt idx="31">
                  <c:v>41</c:v>
                </c:pt>
                <c:pt idx="32">
                  <c:v>42</c:v>
                </c:pt>
                <c:pt idx="33">
                  <c:v>43</c:v>
                </c:pt>
                <c:pt idx="34">
                  <c:v>44</c:v>
                </c:pt>
                <c:pt idx="35">
                  <c:v>45</c:v>
                </c:pt>
                <c:pt idx="36">
                  <c:v>46</c:v>
                </c:pt>
                <c:pt idx="37">
                  <c:v>47</c:v>
                </c:pt>
                <c:pt idx="38">
                  <c:v>48</c:v>
                </c:pt>
                <c:pt idx="39">
                  <c:v>49</c:v>
                </c:pt>
                <c:pt idx="40">
                  <c:v>50</c:v>
                </c:pt>
                <c:pt idx="41">
                  <c:v>51</c:v>
                </c:pt>
                <c:pt idx="42">
                  <c:v>52</c:v>
                </c:pt>
                <c:pt idx="43">
                  <c:v>53</c:v>
                </c:pt>
                <c:pt idx="44">
                  <c:v>54</c:v>
                </c:pt>
                <c:pt idx="45">
                  <c:v>55</c:v>
                </c:pt>
                <c:pt idx="46">
                  <c:v>56</c:v>
                </c:pt>
                <c:pt idx="47">
                  <c:v>57</c:v>
                </c:pt>
                <c:pt idx="48">
                  <c:v>58</c:v>
                </c:pt>
                <c:pt idx="49">
                  <c:v>59</c:v>
                </c:pt>
                <c:pt idx="50">
                  <c:v>60</c:v>
                </c:pt>
                <c:pt idx="51">
                  <c:v>61</c:v>
                </c:pt>
                <c:pt idx="52">
                  <c:v>62</c:v>
                </c:pt>
                <c:pt idx="53">
                  <c:v>63</c:v>
                </c:pt>
                <c:pt idx="54">
                  <c:v>64</c:v>
                </c:pt>
                <c:pt idx="55">
                  <c:v>65</c:v>
                </c:pt>
                <c:pt idx="56">
                  <c:v>66</c:v>
                </c:pt>
                <c:pt idx="57">
                  <c:v>67</c:v>
                </c:pt>
                <c:pt idx="58">
                  <c:v>68</c:v>
                </c:pt>
                <c:pt idx="59">
                  <c:v>69</c:v>
                </c:pt>
                <c:pt idx="60">
                  <c:v>70</c:v>
                </c:pt>
                <c:pt idx="61">
                  <c:v>71</c:v>
                </c:pt>
                <c:pt idx="62">
                  <c:v>72</c:v>
                </c:pt>
                <c:pt idx="63">
                  <c:v>73</c:v>
                </c:pt>
                <c:pt idx="64">
                  <c:v>74</c:v>
                </c:pt>
                <c:pt idx="65">
                  <c:v>75</c:v>
                </c:pt>
                <c:pt idx="66">
                  <c:v>76</c:v>
                </c:pt>
                <c:pt idx="67">
                  <c:v>77</c:v>
                </c:pt>
                <c:pt idx="68">
                  <c:v>78</c:v>
                </c:pt>
                <c:pt idx="69">
                  <c:v>79</c:v>
                </c:pt>
                <c:pt idx="70">
                  <c:v>80</c:v>
                </c:pt>
                <c:pt idx="71">
                  <c:v>81</c:v>
                </c:pt>
                <c:pt idx="72">
                  <c:v>82</c:v>
                </c:pt>
                <c:pt idx="73">
                  <c:v>83</c:v>
                </c:pt>
                <c:pt idx="74">
                  <c:v>84</c:v>
                </c:pt>
                <c:pt idx="75">
                  <c:v>85</c:v>
                </c:pt>
                <c:pt idx="76">
                  <c:v>86</c:v>
                </c:pt>
                <c:pt idx="77">
                  <c:v>87</c:v>
                </c:pt>
                <c:pt idx="78">
                  <c:v>88</c:v>
                </c:pt>
                <c:pt idx="79">
                  <c:v>89</c:v>
                </c:pt>
                <c:pt idx="80">
                  <c:v>90</c:v>
                </c:pt>
                <c:pt idx="81">
                  <c:v>91</c:v>
                </c:pt>
                <c:pt idx="82">
                  <c:v>92</c:v>
                </c:pt>
                <c:pt idx="83">
                  <c:v>93</c:v>
                </c:pt>
                <c:pt idx="84">
                  <c:v>94</c:v>
                </c:pt>
                <c:pt idx="85">
                  <c:v>95</c:v>
                </c:pt>
                <c:pt idx="86">
                  <c:v>96</c:v>
                </c:pt>
                <c:pt idx="87">
                  <c:v>97</c:v>
                </c:pt>
                <c:pt idx="88">
                  <c:v>98</c:v>
                </c:pt>
                <c:pt idx="89">
                  <c:v>99</c:v>
                </c:pt>
                <c:pt idx="90">
                  <c:v>100</c:v>
                </c:pt>
                <c:pt idx="91">
                  <c:v>101</c:v>
                </c:pt>
                <c:pt idx="92">
                  <c:v>102</c:v>
                </c:pt>
                <c:pt idx="93">
                  <c:v>103</c:v>
                </c:pt>
                <c:pt idx="94">
                  <c:v>104</c:v>
                </c:pt>
                <c:pt idx="95">
                  <c:v>105</c:v>
                </c:pt>
                <c:pt idx="96">
                  <c:v>106</c:v>
                </c:pt>
                <c:pt idx="97">
                  <c:v>107</c:v>
                </c:pt>
                <c:pt idx="98">
                  <c:v>108</c:v>
                </c:pt>
                <c:pt idx="99">
                  <c:v>109</c:v>
                </c:pt>
                <c:pt idx="100">
                  <c:v>110</c:v>
                </c:pt>
                <c:pt idx="101">
                  <c:v>111</c:v>
                </c:pt>
                <c:pt idx="102">
                  <c:v>112</c:v>
                </c:pt>
                <c:pt idx="103">
                  <c:v>113</c:v>
                </c:pt>
                <c:pt idx="104">
                  <c:v>114</c:v>
                </c:pt>
                <c:pt idx="105">
                  <c:v>115</c:v>
                </c:pt>
                <c:pt idx="106">
                  <c:v>116</c:v>
                </c:pt>
                <c:pt idx="107">
                  <c:v>117</c:v>
                </c:pt>
                <c:pt idx="108">
                  <c:v>118</c:v>
                </c:pt>
                <c:pt idx="109">
                  <c:v>119</c:v>
                </c:pt>
              </c:numCache>
            </c:numRef>
          </c:xVal>
          <c:yVal>
            <c:numRef>
              <c:f>Sheet1!$B$2:$B$111</c:f>
              <c:numCache>
                <c:formatCode>General</c:formatCode>
                <c:ptCount val="110"/>
                <c:pt idx="0">
                  <c:v>3096</c:v>
                </c:pt>
                <c:pt idx="1">
                  <c:v>3555</c:v>
                </c:pt>
                <c:pt idx="2">
                  <c:v>3380</c:v>
                </c:pt>
                <c:pt idx="3">
                  <c:v>4267</c:v>
                </c:pt>
                <c:pt idx="4">
                  <c:v>4355</c:v>
                </c:pt>
                <c:pt idx="5">
                  <c:v>6610</c:v>
                </c:pt>
                <c:pt idx="6">
                  <c:v>5045</c:v>
                </c:pt>
                <c:pt idx="7">
                  <c:v>5178</c:v>
                </c:pt>
                <c:pt idx="8">
                  <c:v>5703</c:v>
                </c:pt>
                <c:pt idx="9">
                  <c:v>5859</c:v>
                </c:pt>
                <c:pt idx="10">
                  <c:v>5449</c:v>
                </c:pt>
                <c:pt idx="11">
                  <c:v>6050</c:v>
                </c:pt>
                <c:pt idx="12">
                  <c:v>5670</c:v>
                </c:pt>
                <c:pt idx="13">
                  <c:v>5932</c:v>
                </c:pt>
                <c:pt idx="14">
                  <c:v>6406</c:v>
                </c:pt>
                <c:pt idx="15">
                  <c:v>6529</c:v>
                </c:pt>
                <c:pt idx="16">
                  <c:v>4772</c:v>
                </c:pt>
                <c:pt idx="17">
                  <c:v>5406</c:v>
                </c:pt>
                <c:pt idx="18">
                  <c:v>6464</c:v>
                </c:pt>
                <c:pt idx="19">
                  <c:v>5627</c:v>
                </c:pt>
                <c:pt idx="20">
                  <c:v>5127</c:v>
                </c:pt>
                <c:pt idx="21">
                  <c:v>5761</c:v>
                </c:pt>
                <c:pt idx="22">
                  <c:v>3910</c:v>
                </c:pt>
                <c:pt idx="23">
                  <c:v>6408</c:v>
                </c:pt>
                <c:pt idx="24">
                  <c:v>5438</c:v>
                </c:pt>
                <c:pt idx="25">
                  <c:v>6003</c:v>
                </c:pt>
                <c:pt idx="26">
                  <c:v>5485</c:v>
                </c:pt>
                <c:pt idx="27">
                  <c:v>5401</c:v>
                </c:pt>
                <c:pt idx="28">
                  <c:v>4734</c:v>
                </c:pt>
                <c:pt idx="29">
                  <c:v>6077</c:v>
                </c:pt>
                <c:pt idx="30">
                  <c:v>6749</c:v>
                </c:pt>
                <c:pt idx="31">
                  <c:v>4195</c:v>
                </c:pt>
                <c:pt idx="32">
                  <c:v>6618</c:v>
                </c:pt>
                <c:pt idx="33">
                  <c:v>6522</c:v>
                </c:pt>
                <c:pt idx="34">
                  <c:v>5674</c:v>
                </c:pt>
                <c:pt idx="35">
                  <c:v>5982</c:v>
                </c:pt>
                <c:pt idx="36">
                  <c:v>4182</c:v>
                </c:pt>
                <c:pt idx="37">
                  <c:v>4385</c:v>
                </c:pt>
                <c:pt idx="38">
                  <c:v>5652</c:v>
                </c:pt>
                <c:pt idx="39">
                  <c:v>7091</c:v>
                </c:pt>
                <c:pt idx="40">
                  <c:v>5473</c:v>
                </c:pt>
                <c:pt idx="41">
                  <c:v>5892</c:v>
                </c:pt>
                <c:pt idx="42">
                  <c:v>5672</c:v>
                </c:pt>
                <c:pt idx="43">
                  <c:v>4328</c:v>
                </c:pt>
                <c:pt idx="44">
                  <c:v>6035</c:v>
                </c:pt>
                <c:pt idx="45">
                  <c:v>6639</c:v>
                </c:pt>
                <c:pt idx="46">
                  <c:v>7011</c:v>
                </c:pt>
                <c:pt idx="47">
                  <c:v>7283</c:v>
                </c:pt>
                <c:pt idx="48">
                  <c:v>6567</c:v>
                </c:pt>
                <c:pt idx="49">
                  <c:v>6675</c:v>
                </c:pt>
                <c:pt idx="50">
                  <c:v>7282</c:v>
                </c:pt>
                <c:pt idx="51">
                  <c:v>6403</c:v>
                </c:pt>
                <c:pt idx="52">
                  <c:v>7412</c:v>
                </c:pt>
                <c:pt idx="53">
                  <c:v>7136</c:v>
                </c:pt>
                <c:pt idx="54">
                  <c:v>7450</c:v>
                </c:pt>
                <c:pt idx="55">
                  <c:v>7459</c:v>
                </c:pt>
                <c:pt idx="56">
                  <c:v>7670</c:v>
                </c:pt>
                <c:pt idx="57">
                  <c:v>6705</c:v>
                </c:pt>
                <c:pt idx="58">
                  <c:v>7357</c:v>
                </c:pt>
                <c:pt idx="59">
                  <c:v>7492</c:v>
                </c:pt>
                <c:pt idx="60">
                  <c:v>6827</c:v>
                </c:pt>
                <c:pt idx="61">
                  <c:v>8183</c:v>
                </c:pt>
                <c:pt idx="62">
                  <c:v>6683</c:v>
                </c:pt>
                <c:pt idx="63">
                  <c:v>7969</c:v>
                </c:pt>
                <c:pt idx="64">
                  <c:v>7891</c:v>
                </c:pt>
                <c:pt idx="65">
                  <c:v>7003</c:v>
                </c:pt>
                <c:pt idx="66">
                  <c:v>7384</c:v>
                </c:pt>
                <c:pt idx="67">
                  <c:v>6898</c:v>
                </c:pt>
                <c:pt idx="68">
                  <c:v>6550</c:v>
                </c:pt>
                <c:pt idx="69">
                  <c:v>6691</c:v>
                </c:pt>
                <c:pt idx="70">
                  <c:v>6472</c:v>
                </c:pt>
                <c:pt idx="71">
                  <c:v>6832</c:v>
                </c:pt>
                <c:pt idx="72">
                  <c:v>6853</c:v>
                </c:pt>
                <c:pt idx="73">
                  <c:v>6289</c:v>
                </c:pt>
                <c:pt idx="74">
                  <c:v>7250</c:v>
                </c:pt>
                <c:pt idx="75">
                  <c:v>6153</c:v>
                </c:pt>
                <c:pt idx="76">
                  <c:v>6999</c:v>
                </c:pt>
                <c:pt idx="77">
                  <c:v>6870</c:v>
                </c:pt>
                <c:pt idx="78">
                  <c:v>6495</c:v>
                </c:pt>
                <c:pt idx="79">
                  <c:v>5913</c:v>
                </c:pt>
                <c:pt idx="80">
                  <c:v>6072</c:v>
                </c:pt>
                <c:pt idx="81">
                  <c:v>6931</c:v>
                </c:pt>
                <c:pt idx="82">
                  <c:v>6390</c:v>
                </c:pt>
                <c:pt idx="83">
                  <c:v>6137</c:v>
                </c:pt>
                <c:pt idx="84">
                  <c:v>5764</c:v>
                </c:pt>
                <c:pt idx="85">
                  <c:v>6075</c:v>
                </c:pt>
                <c:pt idx="86">
                  <c:v>5936</c:v>
                </c:pt>
                <c:pt idx="87">
                  <c:v>6130</c:v>
                </c:pt>
                <c:pt idx="88">
                  <c:v>6363</c:v>
                </c:pt>
                <c:pt idx="89">
                  <c:v>6637</c:v>
                </c:pt>
                <c:pt idx="90">
                  <c:v>6666</c:v>
                </c:pt>
                <c:pt idx="91">
                  <c:v>6067</c:v>
                </c:pt>
                <c:pt idx="92">
                  <c:v>6789</c:v>
                </c:pt>
                <c:pt idx="93">
                  <c:v>5971</c:v>
                </c:pt>
                <c:pt idx="94">
                  <c:v>6590</c:v>
                </c:pt>
                <c:pt idx="95">
                  <c:v>6151</c:v>
                </c:pt>
                <c:pt idx="96">
                  <c:v>6551</c:v>
                </c:pt>
                <c:pt idx="97">
                  <c:v>6816</c:v>
                </c:pt>
                <c:pt idx="98">
                  <c:v>6255</c:v>
                </c:pt>
                <c:pt idx="99">
                  <c:v>7066</c:v>
                </c:pt>
                <c:pt idx="100">
                  <c:v>5969</c:v>
                </c:pt>
                <c:pt idx="101">
                  <c:v>7158</c:v>
                </c:pt>
                <c:pt idx="102">
                  <c:v>7468</c:v>
                </c:pt>
                <c:pt idx="103">
                  <c:v>8073</c:v>
                </c:pt>
                <c:pt idx="104">
                  <c:v>8079</c:v>
                </c:pt>
                <c:pt idx="105">
                  <c:v>7896</c:v>
                </c:pt>
                <c:pt idx="106">
                  <c:v>7835</c:v>
                </c:pt>
                <c:pt idx="107">
                  <c:v>7359</c:v>
                </c:pt>
                <c:pt idx="108">
                  <c:v>5485</c:v>
                </c:pt>
                <c:pt idx="109">
                  <c:v>7850</c:v>
                </c:pt>
              </c:numCache>
            </c:numRef>
          </c:yVal>
          <c:smooth val="0"/>
        </c:ser>
        <c:axId val="-2128940872"/>
        <c:axId val="-2129643912"/>
      </c:scatterChart>
      <c:valAx>
        <c:axId val="-2128940872"/>
        <c:scaling>
          <c:orientation val="minMax"/>
          <c:max val="120.0"/>
          <c:min val="10.0"/>
        </c:scaling>
        <c:delete val="0"/>
        <c:axPos val="b"/>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majorUnit val="10.0"/>
      </c:valAx>
      <c:valAx>
        <c:axId val="-2129643912"/>
        <c:scaling>
          <c:orientation val="minMax"/>
          <c:max val="10000.0"/>
          <c:min val="0.0"/>
        </c:scaling>
        <c:delete val="0"/>
        <c:axPos val="l"/>
        <c:majorGridlines>
          <c:spPr>
            <a:ln w="9525">
              <a:solidFill>
                <a:srgbClr val="E1E0D9"/>
              </a:solidFill>
            </a:ln>
          </c:spPr>
        </c:majorGridlines>
        <c:numFmt formatCode="#,##0"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autoZero"/>
        <c:crossBetween val="midCat"/>
        <c:majorUnit val="5000.0"/>
      </c:valAx>
    </c:plotArea>
    <c:plotVisOnly val="1"/>
    <c:dispBlanksAs val="gap"/>
    <c:showDLblsOverMax val="0"/>
  </c:chart>
  <c:txPr>
    <a:bodyPr/>
    <a:lstStyle/>
    <a:p>
      <a:pPr>
        <a:defRPr sz="900">
          <a:solidFill>
            <a:srgbClr val="52514E"/>
          </a:solidFill>
          <a:latin typeface="Segoe U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27"/>
          <c:y val="0.08"/>
          <c:w val="0.7"/>
          <c:h val="0.6"/>
        </c:manualLayout>
      </c:layout>
      <c:scatterChart>
        <c:scatterStyle val="lineMarker"/>
        <c:varyColors val="0"/>
        <c:ser>
          <c:idx val="0"/>
          <c:order val="0"/>
          <c:tx>
            <c:strRef>
              <c:f>Sheet1!$B$1</c:f>
              <c:strCache>
                <c:ptCount val="1"/>
                <c:pt idx="0">
                  <c:v>p95 por segundo (ms)</c:v>
                </c:pt>
              </c:strCache>
            </c:strRef>
          </c:tx>
          <c:spPr>
            <a:ln w="25400">
              <a:solidFill>
                <a:srgbClr val="EB6834"/>
              </a:solidFill>
            </a:ln>
          </c:spPr>
          <c:marker>
            <c:symbol val="none"/>
          </c:marker>
          <c:xVal>
            <c:numRef>
              <c:f>Sheet1!$A$2:$A$111</c:f>
              <c:numCache>
                <c:formatCode>General</c:formatCode>
                <c:ptCount val="110"/>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pt idx="14">
                  <c:v>24</c:v>
                </c:pt>
                <c:pt idx="15">
                  <c:v>25</c:v>
                </c:pt>
                <c:pt idx="16">
                  <c:v>26</c:v>
                </c:pt>
                <c:pt idx="17">
                  <c:v>27</c:v>
                </c:pt>
                <c:pt idx="18">
                  <c:v>28</c:v>
                </c:pt>
                <c:pt idx="19">
                  <c:v>29</c:v>
                </c:pt>
                <c:pt idx="20">
                  <c:v>30</c:v>
                </c:pt>
                <c:pt idx="21">
                  <c:v>31</c:v>
                </c:pt>
                <c:pt idx="22">
                  <c:v>32</c:v>
                </c:pt>
                <c:pt idx="23">
                  <c:v>33</c:v>
                </c:pt>
                <c:pt idx="24">
                  <c:v>34</c:v>
                </c:pt>
                <c:pt idx="25">
                  <c:v>35</c:v>
                </c:pt>
                <c:pt idx="26">
                  <c:v>36</c:v>
                </c:pt>
                <c:pt idx="27">
                  <c:v>37</c:v>
                </c:pt>
                <c:pt idx="28">
                  <c:v>38</c:v>
                </c:pt>
                <c:pt idx="29">
                  <c:v>39</c:v>
                </c:pt>
                <c:pt idx="30">
                  <c:v>40</c:v>
                </c:pt>
                <c:pt idx="31">
                  <c:v>41</c:v>
                </c:pt>
                <c:pt idx="32">
                  <c:v>42</c:v>
                </c:pt>
                <c:pt idx="33">
                  <c:v>43</c:v>
                </c:pt>
                <c:pt idx="34">
                  <c:v>44</c:v>
                </c:pt>
                <c:pt idx="35">
                  <c:v>45</c:v>
                </c:pt>
                <c:pt idx="36">
                  <c:v>46</c:v>
                </c:pt>
                <c:pt idx="37">
                  <c:v>47</c:v>
                </c:pt>
                <c:pt idx="38">
                  <c:v>48</c:v>
                </c:pt>
                <c:pt idx="39">
                  <c:v>49</c:v>
                </c:pt>
                <c:pt idx="40">
                  <c:v>50</c:v>
                </c:pt>
                <c:pt idx="41">
                  <c:v>51</c:v>
                </c:pt>
                <c:pt idx="42">
                  <c:v>52</c:v>
                </c:pt>
                <c:pt idx="43">
                  <c:v>53</c:v>
                </c:pt>
                <c:pt idx="44">
                  <c:v>54</c:v>
                </c:pt>
                <c:pt idx="45">
                  <c:v>55</c:v>
                </c:pt>
                <c:pt idx="46">
                  <c:v>56</c:v>
                </c:pt>
                <c:pt idx="47">
                  <c:v>57</c:v>
                </c:pt>
                <c:pt idx="48">
                  <c:v>58</c:v>
                </c:pt>
                <c:pt idx="49">
                  <c:v>59</c:v>
                </c:pt>
                <c:pt idx="50">
                  <c:v>60</c:v>
                </c:pt>
                <c:pt idx="51">
                  <c:v>61</c:v>
                </c:pt>
                <c:pt idx="52">
                  <c:v>62</c:v>
                </c:pt>
                <c:pt idx="53">
                  <c:v>63</c:v>
                </c:pt>
                <c:pt idx="54">
                  <c:v>64</c:v>
                </c:pt>
                <c:pt idx="55">
                  <c:v>65</c:v>
                </c:pt>
                <c:pt idx="56">
                  <c:v>66</c:v>
                </c:pt>
                <c:pt idx="57">
                  <c:v>67</c:v>
                </c:pt>
                <c:pt idx="58">
                  <c:v>68</c:v>
                </c:pt>
                <c:pt idx="59">
                  <c:v>69</c:v>
                </c:pt>
                <c:pt idx="60">
                  <c:v>70</c:v>
                </c:pt>
                <c:pt idx="61">
                  <c:v>71</c:v>
                </c:pt>
                <c:pt idx="62">
                  <c:v>72</c:v>
                </c:pt>
                <c:pt idx="63">
                  <c:v>73</c:v>
                </c:pt>
                <c:pt idx="64">
                  <c:v>74</c:v>
                </c:pt>
                <c:pt idx="65">
                  <c:v>75</c:v>
                </c:pt>
                <c:pt idx="66">
                  <c:v>76</c:v>
                </c:pt>
                <c:pt idx="67">
                  <c:v>77</c:v>
                </c:pt>
                <c:pt idx="68">
                  <c:v>78</c:v>
                </c:pt>
                <c:pt idx="69">
                  <c:v>79</c:v>
                </c:pt>
                <c:pt idx="70">
                  <c:v>80</c:v>
                </c:pt>
                <c:pt idx="71">
                  <c:v>81</c:v>
                </c:pt>
                <c:pt idx="72">
                  <c:v>82</c:v>
                </c:pt>
                <c:pt idx="73">
                  <c:v>83</c:v>
                </c:pt>
                <c:pt idx="74">
                  <c:v>84</c:v>
                </c:pt>
                <c:pt idx="75">
                  <c:v>85</c:v>
                </c:pt>
                <c:pt idx="76">
                  <c:v>86</c:v>
                </c:pt>
                <c:pt idx="77">
                  <c:v>87</c:v>
                </c:pt>
                <c:pt idx="78">
                  <c:v>88</c:v>
                </c:pt>
                <c:pt idx="79">
                  <c:v>89</c:v>
                </c:pt>
                <c:pt idx="80">
                  <c:v>90</c:v>
                </c:pt>
                <c:pt idx="81">
                  <c:v>91</c:v>
                </c:pt>
                <c:pt idx="82">
                  <c:v>92</c:v>
                </c:pt>
                <c:pt idx="83">
                  <c:v>93</c:v>
                </c:pt>
                <c:pt idx="84">
                  <c:v>94</c:v>
                </c:pt>
                <c:pt idx="85">
                  <c:v>95</c:v>
                </c:pt>
                <c:pt idx="86">
                  <c:v>96</c:v>
                </c:pt>
                <c:pt idx="87">
                  <c:v>97</c:v>
                </c:pt>
                <c:pt idx="88">
                  <c:v>98</c:v>
                </c:pt>
                <c:pt idx="89">
                  <c:v>99</c:v>
                </c:pt>
                <c:pt idx="90">
                  <c:v>100</c:v>
                </c:pt>
                <c:pt idx="91">
                  <c:v>101</c:v>
                </c:pt>
                <c:pt idx="92">
                  <c:v>102</c:v>
                </c:pt>
                <c:pt idx="93">
                  <c:v>103</c:v>
                </c:pt>
                <c:pt idx="94">
                  <c:v>104</c:v>
                </c:pt>
                <c:pt idx="95">
                  <c:v>105</c:v>
                </c:pt>
                <c:pt idx="96">
                  <c:v>106</c:v>
                </c:pt>
                <c:pt idx="97">
                  <c:v>107</c:v>
                </c:pt>
                <c:pt idx="98">
                  <c:v>108</c:v>
                </c:pt>
                <c:pt idx="99">
                  <c:v>109</c:v>
                </c:pt>
                <c:pt idx="100">
                  <c:v>110</c:v>
                </c:pt>
                <c:pt idx="101">
                  <c:v>111</c:v>
                </c:pt>
                <c:pt idx="102">
                  <c:v>112</c:v>
                </c:pt>
                <c:pt idx="103">
                  <c:v>113</c:v>
                </c:pt>
                <c:pt idx="104">
                  <c:v>114</c:v>
                </c:pt>
                <c:pt idx="105">
                  <c:v>115</c:v>
                </c:pt>
                <c:pt idx="106">
                  <c:v>116</c:v>
                </c:pt>
                <c:pt idx="107">
                  <c:v>117</c:v>
                </c:pt>
                <c:pt idx="108">
                  <c:v>118</c:v>
                </c:pt>
                <c:pt idx="109">
                  <c:v>119</c:v>
                </c:pt>
              </c:numCache>
            </c:numRef>
          </c:xVal>
          <c:yVal>
            <c:numRef>
              <c:f>Sheet1!$B$2:$B$111</c:f>
              <c:numCache>
                <c:formatCode>General</c:formatCode>
                <c:ptCount val="110"/>
                <c:pt idx="0">
                  <c:v>9.0115</c:v>
                </c:pt>
                <c:pt idx="1">
                  <c:v>8.1746</c:v>
                </c:pt>
                <c:pt idx="2">
                  <c:v>8.757</c:v>
                </c:pt>
                <c:pt idx="3">
                  <c:v>6.0768</c:v>
                </c:pt>
                <c:pt idx="4">
                  <c:v>5.5853</c:v>
                </c:pt>
                <c:pt idx="5">
                  <c:v>3.8591</c:v>
                </c:pt>
                <c:pt idx="6">
                  <c:v>5.5358</c:v>
                </c:pt>
                <c:pt idx="7">
                  <c:v>5.0673</c:v>
                </c:pt>
                <c:pt idx="8">
                  <c:v>4.8476</c:v>
                </c:pt>
                <c:pt idx="9">
                  <c:v>4.5161</c:v>
                </c:pt>
                <c:pt idx="10">
                  <c:v>4.873</c:v>
                </c:pt>
                <c:pt idx="11">
                  <c:v>4.5127</c:v>
                </c:pt>
                <c:pt idx="12">
                  <c:v>4.8521</c:v>
                </c:pt>
                <c:pt idx="13">
                  <c:v>4.755</c:v>
                </c:pt>
                <c:pt idx="14">
                  <c:v>4.3344</c:v>
                </c:pt>
                <c:pt idx="15">
                  <c:v>4.5147</c:v>
                </c:pt>
                <c:pt idx="16">
                  <c:v>5.4126</c:v>
                </c:pt>
                <c:pt idx="17">
                  <c:v>4.9553</c:v>
                </c:pt>
                <c:pt idx="18">
                  <c:v>4.2176</c:v>
                </c:pt>
                <c:pt idx="19">
                  <c:v>5.246</c:v>
                </c:pt>
                <c:pt idx="20">
                  <c:v>18.6362</c:v>
                </c:pt>
                <c:pt idx="21">
                  <c:v>32.7818</c:v>
                </c:pt>
                <c:pt idx="22">
                  <c:v>80.3902</c:v>
                </c:pt>
                <c:pt idx="23">
                  <c:v>60.8142</c:v>
                </c:pt>
                <c:pt idx="24">
                  <c:v>95.2717</c:v>
                </c:pt>
                <c:pt idx="25">
                  <c:v>95.8831</c:v>
                </c:pt>
                <c:pt idx="26">
                  <c:v>115.7271</c:v>
                </c:pt>
                <c:pt idx="27">
                  <c:v>126.4613</c:v>
                </c:pt>
                <c:pt idx="28">
                  <c:v>196.8394</c:v>
                </c:pt>
                <c:pt idx="29">
                  <c:v>95.3653</c:v>
                </c:pt>
                <c:pt idx="30">
                  <c:v>82.3897</c:v>
                </c:pt>
                <c:pt idx="31">
                  <c:v>188.0011</c:v>
                </c:pt>
                <c:pt idx="32">
                  <c:v>88.931</c:v>
                </c:pt>
                <c:pt idx="33">
                  <c:v>78.0201</c:v>
                </c:pt>
                <c:pt idx="34">
                  <c:v>144.1368</c:v>
                </c:pt>
                <c:pt idx="35">
                  <c:v>152.462</c:v>
                </c:pt>
                <c:pt idx="36">
                  <c:v>226.7897</c:v>
                </c:pt>
                <c:pt idx="37">
                  <c:v>223.6245</c:v>
                </c:pt>
                <c:pt idx="38">
                  <c:v>137.2915</c:v>
                </c:pt>
                <c:pt idx="39">
                  <c:v>73.3383</c:v>
                </c:pt>
                <c:pt idx="40">
                  <c:v>131.0248</c:v>
                </c:pt>
                <c:pt idx="41">
                  <c:v>124.8332</c:v>
                </c:pt>
                <c:pt idx="42">
                  <c:v>103.3386</c:v>
                </c:pt>
                <c:pt idx="43">
                  <c:v>151.063</c:v>
                </c:pt>
                <c:pt idx="44">
                  <c:v>87.2054</c:v>
                </c:pt>
                <c:pt idx="45">
                  <c:v>85.5423</c:v>
                </c:pt>
                <c:pt idx="46">
                  <c:v>105.8365</c:v>
                </c:pt>
                <c:pt idx="47">
                  <c:v>81.7279</c:v>
                </c:pt>
                <c:pt idx="48">
                  <c:v>91.3835</c:v>
                </c:pt>
                <c:pt idx="49">
                  <c:v>88.8659</c:v>
                </c:pt>
                <c:pt idx="50">
                  <c:v>75.4726</c:v>
                </c:pt>
                <c:pt idx="51">
                  <c:v>112.0319</c:v>
                </c:pt>
                <c:pt idx="52">
                  <c:v>72.0603</c:v>
                </c:pt>
                <c:pt idx="53">
                  <c:v>79.1745</c:v>
                </c:pt>
                <c:pt idx="54">
                  <c:v>85.3144</c:v>
                </c:pt>
                <c:pt idx="55">
                  <c:v>77.3909</c:v>
                </c:pt>
                <c:pt idx="56">
                  <c:v>100.4506</c:v>
                </c:pt>
                <c:pt idx="57">
                  <c:v>91.8527</c:v>
                </c:pt>
                <c:pt idx="58">
                  <c:v>77.1957</c:v>
                </c:pt>
                <c:pt idx="59">
                  <c:v>72.8087</c:v>
                </c:pt>
                <c:pt idx="60">
                  <c:v>91.8043</c:v>
                </c:pt>
                <c:pt idx="61">
                  <c:v>63.7734</c:v>
                </c:pt>
                <c:pt idx="62">
                  <c:v>95.5641</c:v>
                </c:pt>
                <c:pt idx="63">
                  <c:v>69.1092</c:v>
                </c:pt>
                <c:pt idx="64">
                  <c:v>73.5161</c:v>
                </c:pt>
                <c:pt idx="65">
                  <c:v>84.0106</c:v>
                </c:pt>
                <c:pt idx="66">
                  <c:v>57.7572</c:v>
                </c:pt>
                <c:pt idx="67">
                  <c:v>60.0762</c:v>
                </c:pt>
                <c:pt idx="68">
                  <c:v>45.8673</c:v>
                </c:pt>
                <c:pt idx="69">
                  <c:v>20.1285</c:v>
                </c:pt>
                <c:pt idx="70">
                  <c:v>4.6049</c:v>
                </c:pt>
                <c:pt idx="71">
                  <c:v>4.15</c:v>
                </c:pt>
                <c:pt idx="72">
                  <c:v>3.8139</c:v>
                </c:pt>
                <c:pt idx="73">
                  <c:v>3.8849</c:v>
                </c:pt>
                <c:pt idx="74">
                  <c:v>3.5177</c:v>
                </c:pt>
                <c:pt idx="75">
                  <c:v>4.3701</c:v>
                </c:pt>
                <c:pt idx="76">
                  <c:v>3.7112</c:v>
                </c:pt>
                <c:pt idx="77">
                  <c:v>3.8505</c:v>
                </c:pt>
                <c:pt idx="78">
                  <c:v>3.7235</c:v>
                </c:pt>
                <c:pt idx="79">
                  <c:v>3.9979</c:v>
                </c:pt>
                <c:pt idx="80">
                  <c:v>4.3306</c:v>
                </c:pt>
                <c:pt idx="81">
                  <c:v>3.5647</c:v>
                </c:pt>
                <c:pt idx="82">
                  <c:v>4.4736</c:v>
                </c:pt>
                <c:pt idx="83">
                  <c:v>4.4483</c:v>
                </c:pt>
                <c:pt idx="84">
                  <c:v>4.7934</c:v>
                </c:pt>
                <c:pt idx="85">
                  <c:v>4.5264</c:v>
                </c:pt>
                <c:pt idx="86">
                  <c:v>4.5113</c:v>
                </c:pt>
                <c:pt idx="87">
                  <c:v>4.7269</c:v>
                </c:pt>
                <c:pt idx="88">
                  <c:v>3.7616</c:v>
                </c:pt>
                <c:pt idx="89">
                  <c:v>4.009</c:v>
                </c:pt>
                <c:pt idx="90">
                  <c:v>4.2224</c:v>
                </c:pt>
                <c:pt idx="91">
                  <c:v>4.6764</c:v>
                </c:pt>
                <c:pt idx="92">
                  <c:v>3.9937</c:v>
                </c:pt>
                <c:pt idx="93">
                  <c:v>4.3398</c:v>
                </c:pt>
                <c:pt idx="94">
                  <c:v>4.2445</c:v>
                </c:pt>
                <c:pt idx="95">
                  <c:v>4.3545</c:v>
                </c:pt>
                <c:pt idx="96">
                  <c:v>4.0083</c:v>
                </c:pt>
                <c:pt idx="97">
                  <c:v>3.8467</c:v>
                </c:pt>
                <c:pt idx="98">
                  <c:v>4.0201</c:v>
                </c:pt>
                <c:pt idx="99">
                  <c:v>3.6827</c:v>
                </c:pt>
                <c:pt idx="100">
                  <c:v>4.5915</c:v>
                </c:pt>
                <c:pt idx="101">
                  <c:v>3.8102</c:v>
                </c:pt>
                <c:pt idx="102">
                  <c:v>3.3669</c:v>
                </c:pt>
                <c:pt idx="103">
                  <c:v>3.4881</c:v>
                </c:pt>
                <c:pt idx="104">
                  <c:v>3.144</c:v>
                </c:pt>
                <c:pt idx="105">
                  <c:v>3.1916</c:v>
                </c:pt>
                <c:pt idx="106">
                  <c:v>3.6483</c:v>
                </c:pt>
                <c:pt idx="107">
                  <c:v>3.7265</c:v>
                </c:pt>
                <c:pt idx="108">
                  <c:v>3.4207</c:v>
                </c:pt>
                <c:pt idx="109">
                  <c:v>3.1115</c:v>
                </c:pt>
              </c:numCache>
            </c:numRef>
          </c:yVal>
          <c:smooth val="0"/>
        </c:ser>
        <c:axId val="-2128940872"/>
        <c:axId val="-2129643912"/>
      </c:scatterChart>
      <c:valAx>
        <c:axId val="-2128940872"/>
        <c:scaling>
          <c:orientation val="minMax"/>
          <c:max val="120.0"/>
          <c:min val="10.0"/>
        </c:scaling>
        <c:delete val="0"/>
        <c:axPos val="b"/>
        <c:title>
          <c:tx>
            <c:rich>
              <a:bodyPr/>
              <a:lstStyle/>
              <a:p>
                <a:r>
                  <a:rPr sz="900" b="0">
                    <a:solidFill>
                      <a:srgbClr val="52514E"/>
                    </a:solidFill>
                    <a:latin typeface="Segoe UI"/>
                  </a:rPr>
                  <a:t>segundos desde el inicio</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majorUnit val="10.0"/>
      </c:valAx>
      <c:valAx>
        <c:axId val="-2129643912"/>
        <c:scaling>
          <c:orientation val="minMax"/>
          <c:max val="250.0"/>
          <c:min val="0.0"/>
        </c:scaling>
        <c:delete val="0"/>
        <c:axPos val="l"/>
        <c:majorGridlines>
          <c:spPr>
            <a:ln w="9525">
              <a:solidFill>
                <a:srgbClr val="E1E0D9"/>
              </a:solidFill>
            </a:ln>
          </c:spPr>
        </c:majorGridlines>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autoZero"/>
        <c:crossBetween val="midCat"/>
        <c:majorUnit val="125.0"/>
      </c:valAx>
    </c:plotArea>
    <c:plotVisOnly val="1"/>
    <c:dispBlanksAs val="gap"/>
    <c:showDLblsOverMax val="0"/>
  </c:chart>
  <c:txPr>
    <a:bodyPr/>
    <a:lstStyle/>
    <a:p>
      <a:pPr>
        <a:defRPr sz="900">
          <a:solidFill>
            <a:srgbClr val="52514E"/>
          </a:solidFill>
          <a:latin typeface="Segoe U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5"/>
          <c:y val="0.16"/>
          <c:w val="0.8"/>
          <c:h val="0.66"/>
        </c:manualLayout>
      </c:layout>
      <c:scatterChart>
        <c:scatterStyle val="lineMarker"/>
        <c:varyColors val="0"/>
        <c:ser>
          <c:idx val="0"/>
          <c:order val="0"/>
          <c:tx>
            <c:strRef>
              <c:f>Sheet1!$B$1</c:f>
              <c:strCache>
                <c:ptCount val="1"/>
                <c:pt idx="0">
                  <c:v>con pool (HikariCP)</c:v>
                </c:pt>
              </c:strCache>
            </c:strRef>
          </c:tx>
          <c:spPr>
            <a:ln w="28575">
              <a:solidFill>
                <a:srgbClr val="2A78D6"/>
              </a:solidFill>
            </a:ln>
          </c:spPr>
          <c:marker>
            <c:symbol val="circle"/>
            <c:size val="7"/>
            <c:spPr>
              <a:solidFill>
                <a:srgbClr val="2A78D6"/>
              </a:solidFill>
              <a:ln w="19050">
                <a:solidFill>
                  <a:srgbClr val="FCFCFB"/>
                </a:solidFill>
              </a:ln>
            </c:spPr>
          </c:marker>
          <c:xVal>
            <c:numRef>
              <c:f>Sheet1!$A$2:$A$9</c:f>
              <c:numCache>
                <c:formatCode>General</c:formatCode>
                <c:ptCount val="8"/>
                <c:pt idx="0">
                  <c:v>1</c:v>
                </c:pt>
                <c:pt idx="1">
                  <c:v>10</c:v>
                </c:pt>
                <c:pt idx="2">
                  <c:v>25</c:v>
                </c:pt>
                <c:pt idx="3">
                  <c:v>50</c:v>
                </c:pt>
                <c:pt idx="4">
                  <c:v>100</c:v>
                </c:pt>
                <c:pt idx="5">
                  <c:v>200</c:v>
                </c:pt>
                <c:pt idx="6">
                  <c:v>400</c:v>
                </c:pt>
                <c:pt idx="7">
                  <c:v>800</c:v>
                </c:pt>
              </c:numCache>
            </c:numRef>
          </c:xVal>
          <c:yVal>
            <c:numRef>
              <c:f>Sheet1!$B$2:$B$9</c:f>
              <c:numCache>
                <c:formatCode>General</c:formatCode>
                <c:ptCount val="8"/>
                <c:pt idx="0">
                  <c:v>2023.847996997626</c:v>
                </c:pt>
                <c:pt idx="1">
                  <c:v>9442.410039585768</c:v>
                </c:pt>
                <c:pt idx="2">
                  <c:v>5124.137408635255</c:v>
                </c:pt>
                <c:pt idx="3">
                  <c:v>5442.078851755043</c:v>
                </c:pt>
                <c:pt idx="4">
                  <c:v>8435.39397264246</c:v>
                </c:pt>
                <c:pt idx="5">
                  <c:v>8017.214209289288</c:v>
                </c:pt>
                <c:pt idx="6">
                  <c:v>5846.40480617781</c:v>
                </c:pt>
                <c:pt idx="7">
                  <c:v>7041.627420674502</c:v>
                </c:pt>
              </c:numCache>
            </c:numRef>
          </c:yVal>
          <c:smooth val="0"/>
        </c:ser>
        <c:ser>
          <c:idx val="1"/>
          <c:order val="1"/>
          <c:tx>
            <c:strRef>
              <c:f>Sheet1!$B$11</c:f>
              <c:strCache>
                <c:ptCount val="1"/>
                <c:pt idx="0">
                  <c:v>sin pool</c:v>
                </c:pt>
              </c:strCache>
            </c:strRef>
          </c:tx>
          <c:spPr>
            <a:ln w="28575">
              <a:solidFill>
                <a:srgbClr val="EB6834"/>
              </a:solidFill>
            </a:ln>
          </c:spPr>
          <c:marker>
            <c:symbol val="circle"/>
            <c:size val="7"/>
            <c:spPr>
              <a:solidFill>
                <a:srgbClr val="EB6834"/>
              </a:solidFill>
              <a:ln w="19050">
                <a:solidFill>
                  <a:srgbClr val="FCFCFB"/>
                </a:solidFill>
              </a:ln>
            </c:spPr>
          </c:marker>
          <c:xVal>
            <c:numRef>
              <c:f>Sheet1!$A$12:$A$19</c:f>
              <c:numCache>
                <c:formatCode>General</c:formatCode>
                <c:ptCount val="8"/>
                <c:pt idx="0">
                  <c:v>1</c:v>
                </c:pt>
                <c:pt idx="1">
                  <c:v>10</c:v>
                </c:pt>
                <c:pt idx="2">
                  <c:v>25</c:v>
                </c:pt>
                <c:pt idx="3">
                  <c:v>50</c:v>
                </c:pt>
                <c:pt idx="4">
                  <c:v>100</c:v>
                </c:pt>
                <c:pt idx="5">
                  <c:v>200</c:v>
                </c:pt>
                <c:pt idx="6">
                  <c:v>400</c:v>
                </c:pt>
                <c:pt idx="7">
                  <c:v>800</c:v>
                </c:pt>
              </c:numCache>
            </c:numRef>
          </c:xVal>
          <c:yVal>
            <c:numRef>
              <c:f>Sheet1!$B$12:$B$19</c:f>
              <c:numCache>
                <c:formatCode>General</c:formatCode>
                <c:ptCount val="8"/>
                <c:pt idx="0">
                  <c:v>3488.5203993142936</c:v>
                </c:pt>
                <c:pt idx="1">
                  <c:v>6927.850629718418</c:v>
                </c:pt>
                <c:pt idx="2">
                  <c:v>7446.223533742761</c:v>
                </c:pt>
                <c:pt idx="3">
                  <c:v>2876.0607089646055</c:v>
                </c:pt>
                <c:pt idx="4">
                  <c:v>3959.691553921072</c:v>
                </c:pt>
                <c:pt idx="5">
                  <c:v>3143.00830327589</c:v>
                </c:pt>
                <c:pt idx="6">
                  <c:v>1825.7721349090357</c:v>
                </c:pt>
                <c:pt idx="7">
                  <c:v>2437.041640808451</c:v>
                </c:pt>
              </c:numCache>
            </c:numRef>
          </c:yVal>
          <c:smooth val="0"/>
        </c:ser>
        <c:ser>
          <c:idx val="2"/>
          <c:order val="2"/>
          <c:tx>
            <c:strRef>
              <c:f>Sheet1!$B$21</c:f>
              <c:strCache>
                <c:ptCount val="1"/>
                <c:pt idx="0">
                  <c:v>con pool, corridas</c:v>
                </c:pt>
              </c:strCache>
            </c:strRef>
          </c:tx>
          <c:spPr>
            <a:ln>
              <a:noFill/>
            </a:ln>
          </c:spPr>
          <c:marker>
            <c:symbol val="circle"/>
            <c:size val="5"/>
            <c:spPr>
              <a:solidFill>
                <a:srgbClr val="86B6EF"/>
              </a:solidFill>
              <a:ln w="19050">
                <a:solidFill>
                  <a:srgbClr val="FCFCFB"/>
                </a:solidFill>
              </a:ln>
            </c:spPr>
          </c:marker>
          <c:xVal>
            <c:numRef>
              <c:f>Sheet1!$A$22:$A$37</c:f>
              <c:numCache>
                <c:formatCode>General</c:formatCode>
                <c:ptCount val="16"/>
                <c:pt idx="0">
                  <c:v>1</c:v>
                </c:pt>
                <c:pt idx="1">
                  <c:v>1</c:v>
                </c:pt>
                <c:pt idx="2">
                  <c:v>10</c:v>
                </c:pt>
                <c:pt idx="3">
                  <c:v>10</c:v>
                </c:pt>
                <c:pt idx="4">
                  <c:v>25</c:v>
                </c:pt>
                <c:pt idx="5">
                  <c:v>25</c:v>
                </c:pt>
                <c:pt idx="6">
                  <c:v>50</c:v>
                </c:pt>
                <c:pt idx="7">
                  <c:v>50</c:v>
                </c:pt>
                <c:pt idx="8">
                  <c:v>100</c:v>
                </c:pt>
                <c:pt idx="9">
                  <c:v>100</c:v>
                </c:pt>
                <c:pt idx="10">
                  <c:v>200</c:v>
                </c:pt>
                <c:pt idx="11">
                  <c:v>200</c:v>
                </c:pt>
                <c:pt idx="12">
                  <c:v>400</c:v>
                </c:pt>
                <c:pt idx="13">
                  <c:v>400</c:v>
                </c:pt>
                <c:pt idx="14">
                  <c:v>800</c:v>
                </c:pt>
                <c:pt idx="15">
                  <c:v>800</c:v>
                </c:pt>
              </c:numCache>
            </c:numRef>
          </c:xVal>
          <c:yVal>
            <c:numRef>
              <c:f>Sheet1!$B$22:$B$37</c:f>
              <c:numCache>
                <c:formatCode>General</c:formatCode>
                <c:ptCount val="16"/>
                <c:pt idx="0">
                  <c:v>1992.31783681241</c:v>
                </c:pt>
                <c:pt idx="1">
                  <c:v>2055.378157182842</c:v>
                </c:pt>
                <c:pt idx="2">
                  <c:v>10799.89563080696</c:v>
                </c:pt>
                <c:pt idx="3">
                  <c:v>8084.924448364577</c:v>
                </c:pt>
                <c:pt idx="4">
                  <c:v>6332.033512446802</c:v>
                </c:pt>
                <c:pt idx="5">
                  <c:v>3916.241304823708</c:v>
                </c:pt>
                <c:pt idx="6">
                  <c:v>6308.604746300687</c:v>
                </c:pt>
                <c:pt idx="7">
                  <c:v>4575.552957209397</c:v>
                </c:pt>
                <c:pt idx="8">
                  <c:v>7844.828173032027</c:v>
                </c:pt>
                <c:pt idx="9">
                  <c:v>9025.959772252892</c:v>
                </c:pt>
                <c:pt idx="10">
                  <c:v>7863.176731565414</c:v>
                </c:pt>
                <c:pt idx="11">
                  <c:v>8171.251687013161</c:v>
                </c:pt>
                <c:pt idx="12">
                  <c:v>6179.2529732846515</c:v>
                </c:pt>
                <c:pt idx="13">
                  <c:v>5513.55663907097</c:v>
                </c:pt>
                <c:pt idx="14">
                  <c:v>5926.177842929272</c:v>
                </c:pt>
                <c:pt idx="15">
                  <c:v>8157.076998419733</c:v>
                </c:pt>
              </c:numCache>
            </c:numRef>
          </c:yVal>
          <c:smooth val="0"/>
        </c:ser>
        <c:ser>
          <c:idx val="3"/>
          <c:order val="3"/>
          <c:tx>
            <c:strRef>
              <c:f>Sheet1!$B$39</c:f>
              <c:strCache>
                <c:ptCount val="1"/>
                <c:pt idx="0">
                  <c:v>sin pool, corridas</c:v>
                </c:pt>
              </c:strCache>
            </c:strRef>
          </c:tx>
          <c:spPr>
            <a:ln>
              <a:noFill/>
            </a:ln>
          </c:spPr>
          <c:marker>
            <c:symbol val="circle"/>
            <c:size val="5"/>
            <c:spPr>
              <a:solidFill>
                <a:srgbClr val="F3B497"/>
              </a:solidFill>
              <a:ln w="19050">
                <a:solidFill>
                  <a:srgbClr val="FCFCFB"/>
                </a:solidFill>
              </a:ln>
            </c:spPr>
          </c:marker>
          <c:xVal>
            <c:numRef>
              <c:f>Sheet1!$A$40:$A$55</c:f>
              <c:numCache>
                <c:formatCode>General</c:formatCode>
                <c:ptCount val="16"/>
                <c:pt idx="0">
                  <c:v>1</c:v>
                </c:pt>
                <c:pt idx="1">
                  <c:v>1</c:v>
                </c:pt>
                <c:pt idx="2">
                  <c:v>10</c:v>
                </c:pt>
                <c:pt idx="3">
                  <c:v>10</c:v>
                </c:pt>
                <c:pt idx="4">
                  <c:v>25</c:v>
                </c:pt>
                <c:pt idx="5">
                  <c:v>25</c:v>
                </c:pt>
                <c:pt idx="6">
                  <c:v>50</c:v>
                </c:pt>
                <c:pt idx="7">
                  <c:v>50</c:v>
                </c:pt>
                <c:pt idx="8">
                  <c:v>100</c:v>
                </c:pt>
                <c:pt idx="9">
                  <c:v>100</c:v>
                </c:pt>
                <c:pt idx="10">
                  <c:v>200</c:v>
                </c:pt>
                <c:pt idx="11">
                  <c:v>200</c:v>
                </c:pt>
                <c:pt idx="12">
                  <c:v>400</c:v>
                </c:pt>
                <c:pt idx="13">
                  <c:v>400</c:v>
                </c:pt>
                <c:pt idx="14">
                  <c:v>800</c:v>
                </c:pt>
                <c:pt idx="15">
                  <c:v>800</c:v>
                </c:pt>
              </c:numCache>
            </c:numRef>
          </c:xVal>
          <c:yVal>
            <c:numRef>
              <c:f>Sheet1!$B$40:$B$55</c:f>
              <c:numCache>
                <c:formatCode>General</c:formatCode>
                <c:ptCount val="16"/>
                <c:pt idx="0">
                  <c:v>3213.8539133348827</c:v>
                </c:pt>
                <c:pt idx="1">
                  <c:v>3763.1868852937046</c:v>
                </c:pt>
                <c:pt idx="2">
                  <c:v>7496.610102950795</c:v>
                </c:pt>
                <c:pt idx="3">
                  <c:v>6359.091156486039</c:v>
                </c:pt>
                <c:pt idx="4">
                  <c:v>7248.347191166103</c:v>
                </c:pt>
                <c:pt idx="5">
                  <c:v>7644.099876319418</c:v>
                </c:pt>
                <c:pt idx="6">
                  <c:v>2560.461750255428</c:v>
                </c:pt>
                <c:pt idx="7">
                  <c:v>3191.659667673783</c:v>
                </c:pt>
                <c:pt idx="8">
                  <c:v>3196.7300083064415</c:v>
                </c:pt>
                <c:pt idx="9">
                  <c:v>4722.653099535703</c:v>
                </c:pt>
                <c:pt idx="10">
                  <c:v>3488.79419538005</c:v>
                </c:pt>
                <c:pt idx="11">
                  <c:v>2797.2224111717296</c:v>
                </c:pt>
                <c:pt idx="12">
                  <c:v>427.67025984295935</c:v>
                </c:pt>
                <c:pt idx="13">
                  <c:v>3223.874009975112</c:v>
                </c:pt>
                <c:pt idx="14">
                  <c:v>1023.6613215379447</c:v>
                </c:pt>
                <c:pt idx="15">
                  <c:v>3850.421960078958</c:v>
                </c:pt>
              </c:numCache>
            </c:numRef>
          </c:yVal>
          <c:smooth val="0"/>
        </c:ser>
        <c:axId val="-2128940872"/>
        <c:axId val="-2129643912"/>
      </c:scatterChart>
      <c:valAx>
        <c:axId val="-2128940872"/>
        <c:scaling>
          <c:logBase val="10"/>
          <c:orientation val="minMax"/>
          <c:max val="1000.0"/>
          <c:min val="1.0"/>
        </c:scaling>
        <c:delete val="0"/>
        <c:axPos val="b"/>
        <c:title>
          <c:tx>
            <c:rich>
              <a:bodyPr/>
              <a:lstStyle/>
              <a:p>
                <a:r>
                  <a:rPr sz="1000" b="0">
                    <a:solidFill>
                      <a:srgbClr val="52514E"/>
                    </a:solidFill>
                    <a:latin typeface="Segoe UI"/>
                  </a:rPr>
                  <a:t>usuarios virtuales (escala log)</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autoZero"/>
        <c:crossBetween val="midCat"/>
      </c:valAx>
      <c:valAx>
        <c:axId val="-2129643912"/>
        <c:scaling>
          <c:orientation val="minMax"/>
          <c:max val="15000.0"/>
          <c:min val="0.0"/>
        </c:scaling>
        <c:delete val="0"/>
        <c:axPos val="l"/>
        <c:majorGridlines>
          <c:spPr>
            <a:ln w="9525">
              <a:solidFill>
                <a:srgbClr val="E1E0D9"/>
              </a:solidFill>
            </a:ln>
          </c:spPr>
        </c:majorGridlines>
        <c:title>
          <c:tx>
            <c:rich>
              <a:bodyPr/>
              <a:lstStyle/>
              <a:p>
                <a:r>
                  <a:rPr sz="1000" b="0">
                    <a:solidFill>
                      <a:srgbClr val="52514E"/>
                    </a:solidFill>
                    <a:latin typeface="Segoe UI"/>
                  </a:rPr>
                  <a:t>peticiones por segundo</a:t>
                </a:r>
              </a:p>
            </c:rich>
          </c:tx>
          <c:layout/>
          <c:overlay val="0"/>
        </c:title>
        <c:numFmt formatCode="#,##0"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min"/>
        <c:crossBetween val="midCat"/>
      </c:valAx>
    </c:plotArea>
    <c:legend>
      <c:legendPos val="t"/>
      <c:legendEntry>
        <c:idx val="3"/>
        <c:delete val="1"/>
      </c:legendEntry>
      <c:legendEntry>
        <c:idx val="2"/>
        <c:delete val="1"/>
      </c:legendEntry>
      <c:layout/>
      <c:overlay val="0"/>
      <c:txPr>
        <a:bodyPr/>
        <a:lstStyle/>
        <a:p>
          <a:pPr>
            <a:defRPr sz="1000"/>
          </a:pPr>
        </a:p>
      </c:txPr>
    </c:legend>
    <c:plotVisOnly val="1"/>
    <c:dispBlanksAs val="gap"/>
    <c:showDLblsOverMax val="0"/>
  </c:chart>
  <c:txPr>
    <a:bodyPr/>
    <a:lstStyle/>
    <a:p>
      <a:pPr>
        <a:defRPr sz="1000">
          <a:solidFill>
            <a:srgbClr val="52514E"/>
          </a:solidFill>
          <a:latin typeface="Segoe U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3"/>
          <c:y val="0.16"/>
          <c:w val="0.8"/>
          <c:h val="0.66"/>
        </c:manualLayout>
      </c:layout>
      <c:scatterChart>
        <c:scatterStyle val="lineMarker"/>
        <c:varyColors val="0"/>
        <c:ser>
          <c:idx val="0"/>
          <c:order val="0"/>
          <c:tx>
            <c:strRef>
              <c:f>Sheet1!$B$1</c:f>
              <c:strCache>
                <c:ptCount val="1"/>
                <c:pt idx="0">
                  <c:v>con pool (HikariCP)</c:v>
                </c:pt>
              </c:strCache>
            </c:strRef>
          </c:tx>
          <c:spPr>
            <a:ln w="28575">
              <a:solidFill>
                <a:srgbClr val="2A78D6"/>
              </a:solidFill>
            </a:ln>
          </c:spPr>
          <c:marker>
            <c:symbol val="circle"/>
            <c:size val="7"/>
            <c:spPr>
              <a:solidFill>
                <a:srgbClr val="2A78D6"/>
              </a:solidFill>
              <a:ln w="19050">
                <a:solidFill>
                  <a:srgbClr val="FCFCFB"/>
                </a:solidFill>
              </a:ln>
            </c:spPr>
          </c:marker>
          <c:xVal>
            <c:numRef>
              <c:f>Sheet1!$A$2:$A$9</c:f>
              <c:numCache>
                <c:formatCode>General</c:formatCode>
                <c:ptCount val="8"/>
                <c:pt idx="0">
                  <c:v>1</c:v>
                </c:pt>
                <c:pt idx="1">
                  <c:v>10</c:v>
                </c:pt>
                <c:pt idx="2">
                  <c:v>25</c:v>
                </c:pt>
                <c:pt idx="3">
                  <c:v>50</c:v>
                </c:pt>
                <c:pt idx="4">
                  <c:v>100</c:v>
                </c:pt>
                <c:pt idx="5">
                  <c:v>200</c:v>
                </c:pt>
                <c:pt idx="6">
                  <c:v>400</c:v>
                </c:pt>
                <c:pt idx="7">
                  <c:v>800</c:v>
                </c:pt>
              </c:numCache>
            </c:numRef>
          </c:xVal>
          <c:yVal>
            <c:numRef>
              <c:f>Sheet1!$B$2:$B$9</c:f>
              <c:numCache>
                <c:formatCode>General</c:formatCode>
                <c:ptCount val="8"/>
                <c:pt idx="0">
                  <c:v>0.9735724999999988</c:v>
                </c:pt>
                <c:pt idx="1">
                  <c:v>1.6019999999999999</c:v>
                </c:pt>
                <c:pt idx="2">
                  <c:v>11.739339999999997</c:v>
                </c:pt>
                <c:pt idx="3">
                  <c:v>21.223974999999996</c:v>
                </c:pt>
                <c:pt idx="4">
                  <c:v>24.941099999999906</c:v>
                </c:pt>
                <c:pt idx="5">
                  <c:v>49.57525</c:v>
                </c:pt>
                <c:pt idx="6">
                  <c:v>143.13757499999986</c:v>
                </c:pt>
                <c:pt idx="7">
                  <c:v>202.1865</c:v>
                </c:pt>
              </c:numCache>
            </c:numRef>
          </c:yVal>
          <c:smooth val="0"/>
        </c:ser>
        <c:ser>
          <c:idx val="1"/>
          <c:order val="1"/>
          <c:tx>
            <c:strRef>
              <c:f>Sheet1!$B$11</c:f>
              <c:strCache>
                <c:ptCount val="1"/>
                <c:pt idx="0">
                  <c:v>sin pool</c:v>
                </c:pt>
              </c:strCache>
            </c:strRef>
          </c:tx>
          <c:spPr>
            <a:ln w="28575">
              <a:solidFill>
                <a:srgbClr val="EB6834"/>
              </a:solidFill>
            </a:ln>
          </c:spPr>
          <c:marker>
            <c:symbol val="circle"/>
            <c:size val="7"/>
            <c:spPr>
              <a:solidFill>
                <a:srgbClr val="EB6834"/>
              </a:solidFill>
              <a:ln w="19050">
                <a:solidFill>
                  <a:srgbClr val="FCFCFB"/>
                </a:solidFill>
              </a:ln>
            </c:spPr>
          </c:marker>
          <c:xVal>
            <c:numRef>
              <c:f>Sheet1!$A$12:$A$19</c:f>
              <c:numCache>
                <c:formatCode>General</c:formatCode>
                <c:ptCount val="8"/>
                <c:pt idx="0">
                  <c:v>1</c:v>
                </c:pt>
                <c:pt idx="1">
                  <c:v>10</c:v>
                </c:pt>
                <c:pt idx="2">
                  <c:v>25</c:v>
                </c:pt>
                <c:pt idx="3">
                  <c:v>50</c:v>
                </c:pt>
                <c:pt idx="4">
                  <c:v>100</c:v>
                </c:pt>
                <c:pt idx="5">
                  <c:v>200</c:v>
                </c:pt>
                <c:pt idx="6">
                  <c:v>400</c:v>
                </c:pt>
                <c:pt idx="7">
                  <c:v>800</c:v>
                </c:pt>
              </c:numCache>
            </c:numRef>
          </c:xVal>
          <c:yVal>
            <c:numRef>
              <c:f>Sheet1!$B$12:$B$19</c:f>
              <c:numCache>
                <c:formatCode>General</c:formatCode>
                <c:ptCount val="8"/>
                <c:pt idx="0">
                  <c:v>0.6219</c:v>
                </c:pt>
                <c:pt idx="1">
                  <c:v>1.8443149999999995</c:v>
                </c:pt>
                <c:pt idx="2">
                  <c:v>4.201019999999989</c:v>
                </c:pt>
                <c:pt idx="3">
                  <c:v>35.63962999999998</c:v>
                </c:pt>
                <c:pt idx="4">
                  <c:v>63.43510499999999</c:v>
                </c:pt>
                <c:pt idx="5">
                  <c:v>158.92360499999995</c:v>
                </c:pt>
                <c:pt idx="6">
                  <c:v>1420.4216049999998</c:v>
                </c:pt>
                <c:pt idx="7">
                  <c:v>1086.1212624999998</c:v>
                </c:pt>
              </c:numCache>
            </c:numRef>
          </c:yVal>
          <c:smooth val="0"/>
        </c:ser>
        <c:ser>
          <c:idx val="2"/>
          <c:order val="2"/>
          <c:tx>
            <c:strRef>
              <c:f>Sheet1!$B$21</c:f>
              <c:strCache>
                <c:ptCount val="1"/>
                <c:pt idx="0">
                  <c:v>con pool, corridas</c:v>
                </c:pt>
              </c:strCache>
            </c:strRef>
          </c:tx>
          <c:spPr>
            <a:ln>
              <a:noFill/>
            </a:ln>
          </c:spPr>
          <c:marker>
            <c:symbol val="circle"/>
            <c:size val="5"/>
            <c:spPr>
              <a:solidFill>
                <a:srgbClr val="86B6EF"/>
              </a:solidFill>
              <a:ln w="19050">
                <a:solidFill>
                  <a:srgbClr val="FCFCFB"/>
                </a:solidFill>
              </a:ln>
            </c:spPr>
          </c:marker>
          <c:xVal>
            <c:numRef>
              <c:f>Sheet1!$A$22:$A$37</c:f>
              <c:numCache>
                <c:formatCode>General</c:formatCode>
                <c:ptCount val="16"/>
                <c:pt idx="0">
                  <c:v>1</c:v>
                </c:pt>
                <c:pt idx="1">
                  <c:v>1</c:v>
                </c:pt>
                <c:pt idx="2">
                  <c:v>10</c:v>
                </c:pt>
                <c:pt idx="3">
                  <c:v>10</c:v>
                </c:pt>
                <c:pt idx="4">
                  <c:v>25</c:v>
                </c:pt>
                <c:pt idx="5">
                  <c:v>25</c:v>
                </c:pt>
                <c:pt idx="6">
                  <c:v>50</c:v>
                </c:pt>
                <c:pt idx="7">
                  <c:v>50</c:v>
                </c:pt>
                <c:pt idx="8">
                  <c:v>100</c:v>
                </c:pt>
                <c:pt idx="9">
                  <c:v>100</c:v>
                </c:pt>
                <c:pt idx="10">
                  <c:v>200</c:v>
                </c:pt>
                <c:pt idx="11">
                  <c:v>200</c:v>
                </c:pt>
                <c:pt idx="12">
                  <c:v>400</c:v>
                </c:pt>
                <c:pt idx="13">
                  <c:v>400</c:v>
                </c:pt>
                <c:pt idx="14">
                  <c:v>800</c:v>
                </c:pt>
                <c:pt idx="15">
                  <c:v>800</c:v>
                </c:pt>
              </c:numCache>
            </c:numRef>
          </c:xVal>
          <c:yVal>
            <c:numRef>
              <c:f>Sheet1!$B$22:$B$37</c:f>
              <c:numCache>
                <c:formatCode>General</c:formatCode>
                <c:ptCount val="16"/>
                <c:pt idx="0">
                  <c:v>0.9736600000000006</c:v>
                </c:pt>
                <c:pt idx="1">
                  <c:v>0.9734849999999969</c:v>
                </c:pt>
                <c:pt idx="2">
                  <c:v>1.5086</c:v>
                </c:pt>
                <c:pt idx="3">
                  <c:v>1.6954</c:v>
                </c:pt>
                <c:pt idx="4">
                  <c:v>7.635899999999994</c:v>
                </c:pt>
                <c:pt idx="5">
                  <c:v>15.84278</c:v>
                </c:pt>
                <c:pt idx="6">
                  <c:v>16.6596</c:v>
                </c:pt>
                <c:pt idx="7">
                  <c:v>25.788349999999994</c:v>
                </c:pt>
                <c:pt idx="8">
                  <c:v>27.081199999999818</c:v>
                </c:pt>
                <c:pt idx="9">
                  <c:v>22.801</c:v>
                </c:pt>
                <c:pt idx="10">
                  <c:v>51.1769</c:v>
                </c:pt>
                <c:pt idx="11">
                  <c:v>47.9736</c:v>
                </c:pt>
                <c:pt idx="12">
                  <c:v>134.51080000000002</c:v>
                </c:pt>
                <c:pt idx="13">
                  <c:v>151.7643499999997</c:v>
                </c:pt>
                <c:pt idx="14">
                  <c:v>288.6373</c:v>
                </c:pt>
                <c:pt idx="15">
                  <c:v>115.7357</c:v>
                </c:pt>
              </c:numCache>
            </c:numRef>
          </c:yVal>
          <c:smooth val="0"/>
        </c:ser>
        <c:ser>
          <c:idx val="3"/>
          <c:order val="3"/>
          <c:tx>
            <c:strRef>
              <c:f>Sheet1!$B$39</c:f>
              <c:strCache>
                <c:ptCount val="1"/>
                <c:pt idx="0">
                  <c:v>sin pool, corridas</c:v>
                </c:pt>
              </c:strCache>
            </c:strRef>
          </c:tx>
          <c:spPr>
            <a:ln>
              <a:noFill/>
            </a:ln>
          </c:spPr>
          <c:marker>
            <c:symbol val="circle"/>
            <c:size val="5"/>
            <c:spPr>
              <a:solidFill>
                <a:srgbClr val="F3B497"/>
              </a:solidFill>
              <a:ln w="19050">
                <a:solidFill>
                  <a:srgbClr val="FCFCFB"/>
                </a:solidFill>
              </a:ln>
            </c:spPr>
          </c:marker>
          <c:xVal>
            <c:numRef>
              <c:f>Sheet1!$A$40:$A$55</c:f>
              <c:numCache>
                <c:formatCode>General</c:formatCode>
                <c:ptCount val="16"/>
                <c:pt idx="0">
                  <c:v>1</c:v>
                </c:pt>
                <c:pt idx="1">
                  <c:v>1</c:v>
                </c:pt>
                <c:pt idx="2">
                  <c:v>10</c:v>
                </c:pt>
                <c:pt idx="3">
                  <c:v>10</c:v>
                </c:pt>
                <c:pt idx="4">
                  <c:v>25</c:v>
                </c:pt>
                <c:pt idx="5">
                  <c:v>25</c:v>
                </c:pt>
                <c:pt idx="6">
                  <c:v>50</c:v>
                </c:pt>
                <c:pt idx="7">
                  <c:v>50</c:v>
                </c:pt>
                <c:pt idx="8">
                  <c:v>100</c:v>
                </c:pt>
                <c:pt idx="9">
                  <c:v>100</c:v>
                </c:pt>
                <c:pt idx="10">
                  <c:v>200</c:v>
                </c:pt>
                <c:pt idx="11">
                  <c:v>200</c:v>
                </c:pt>
                <c:pt idx="12">
                  <c:v>400</c:v>
                </c:pt>
                <c:pt idx="13">
                  <c:v>400</c:v>
                </c:pt>
                <c:pt idx="14">
                  <c:v>800</c:v>
                </c:pt>
                <c:pt idx="15">
                  <c:v>800</c:v>
                </c:pt>
              </c:numCache>
            </c:numRef>
          </c:xVal>
          <c:yVal>
            <c:numRef>
              <c:f>Sheet1!$B$40:$B$55</c:f>
              <c:numCache>
                <c:formatCode>General</c:formatCode>
                <c:ptCount val="16"/>
                <c:pt idx="0">
                  <c:v>0.6323</c:v>
                </c:pt>
                <c:pt idx="1">
                  <c:v>0.6115</c:v>
                </c:pt>
                <c:pt idx="2">
                  <c:v>1.5648299999999988</c:v>
                </c:pt>
                <c:pt idx="3">
                  <c:v>2.1238</c:v>
                </c:pt>
                <c:pt idx="4">
                  <c:v>4.525139999999979</c:v>
                </c:pt>
                <c:pt idx="5">
                  <c:v>3.8769</c:v>
                </c:pt>
                <c:pt idx="6">
                  <c:v>46.14145999999997</c:v>
                </c:pt>
                <c:pt idx="7">
                  <c:v>25.13779999999999</c:v>
                </c:pt>
                <c:pt idx="8">
                  <c:v>90.7477</c:v>
                </c:pt>
                <c:pt idx="9">
                  <c:v>36.12251</c:v>
                </c:pt>
                <c:pt idx="10">
                  <c:v>140.53204000000005</c:v>
                </c:pt>
                <c:pt idx="11">
                  <c:v>177.31516999999988</c:v>
                </c:pt>
                <c:pt idx="12">
                  <c:v>2616.6802399999997</c:v>
                </c:pt>
                <c:pt idx="13">
                  <c:v>224.16296999999986</c:v>
                </c:pt>
                <c:pt idx="14">
                  <c:v>1857.9906249999995</c:v>
                </c:pt>
                <c:pt idx="15">
                  <c:v>314.2519</c:v>
                </c:pt>
              </c:numCache>
            </c:numRef>
          </c:yVal>
          <c:smooth val="0"/>
        </c:ser>
        <c:axId val="-2128940872"/>
        <c:axId val="-2129643912"/>
      </c:scatterChart>
      <c:valAx>
        <c:axId val="-2128940872"/>
        <c:scaling>
          <c:logBase val="10"/>
          <c:orientation val="minMax"/>
          <c:max val="1000.0"/>
          <c:min val="1.0"/>
        </c:scaling>
        <c:delete val="0"/>
        <c:axPos val="b"/>
        <c:title>
          <c:tx>
            <c:rich>
              <a:bodyPr/>
              <a:lstStyle/>
              <a:p>
                <a:r>
                  <a:rPr sz="1000" b="0">
                    <a:solidFill>
                      <a:srgbClr val="52514E"/>
                    </a:solidFill>
                    <a:latin typeface="Segoe UI"/>
                  </a:rPr>
                  <a:t>usuarios virtuales (escala log)</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9643912"/>
        <c:crosses val="min"/>
        <c:crossBetween val="midCat"/>
      </c:valAx>
      <c:valAx>
        <c:axId val="-2129643912"/>
        <c:scaling>
          <c:logBase val="10"/>
          <c:orientation val="minMax"/>
          <c:max val="10000.0"/>
          <c:min val="0.1"/>
        </c:scaling>
        <c:delete val="0"/>
        <c:axPos val="l"/>
        <c:majorGridlines>
          <c:spPr>
            <a:ln w="9525">
              <a:solidFill>
                <a:srgbClr val="E1E0D9"/>
              </a:solidFill>
            </a:ln>
          </c:spPr>
        </c:majorGridlines>
        <c:title>
          <c:tx>
            <c:rich>
              <a:bodyPr/>
              <a:lstStyle/>
              <a:p>
                <a:r>
                  <a:rPr sz="1000" b="0">
                    <a:solidFill>
                      <a:srgbClr val="52514E"/>
                    </a:solidFill>
                    <a:latin typeface="Segoe UI"/>
                  </a:rPr>
                  <a:t>p95 (ms, escala log)</a:t>
                </a:r>
              </a:p>
            </c:rich>
          </c:tx>
          <c:layout/>
          <c:overlay val="0"/>
        </c:title>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128940872"/>
        <c:crosses val="min"/>
        <c:crossBetween val="midCat"/>
      </c:valAx>
    </c:plotArea>
    <c:legend>
      <c:legendPos val="t"/>
      <c:legendEntry>
        <c:idx val="3"/>
        <c:delete val="1"/>
      </c:legendEntry>
      <c:legendEntry>
        <c:idx val="2"/>
        <c:delete val="1"/>
      </c:legendEntry>
      <c:layout/>
      <c:overlay val="0"/>
      <c:txPr>
        <a:bodyPr/>
        <a:lstStyle/>
        <a:p>
          <a:pPr>
            <a:defRPr sz="1000"/>
          </a:pPr>
        </a:p>
      </c:txPr>
    </c:legend>
    <c:plotVisOnly val="1"/>
    <c:dispBlanksAs val="gap"/>
    <c:showDLblsOverMax val="0"/>
  </c:chart>
  <c:txPr>
    <a:bodyPr/>
    <a:lstStyle/>
    <a:p>
      <a:pPr>
        <a:defRPr sz="1000">
          <a:solidFill>
            <a:srgbClr val="52514E"/>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bloques. Las gráficas de los bloques 2 y 3 son mediciones reales hechas con los scripts de k6 contra la registraduría del taller; no son curvas ilustrativas.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tramo es tiempo real que la petición pasa en algún lugar. La idea clave para el taller: Actuator (servidor) solo ve el tramo azul; k6 (cliente) ve desde que envía hasta que recibe. La diferencia entre ambos es red y, sobre todo, cola. Throughput no es un tramo: es cuántas peticiones terminan por segundo.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formas son exactamente las de los escenarios de register_person_k6.js y register_voter_k6.js. Se elige el perfil por la pregunta que se quiere responder, no por costumbre. regression usa la misma forma que baseline para comparar dos builds; arrival es el modelo abierto (se ve más adelante).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Corrección respecto a la versión anterior: soak (resistencia) no es una variante del estrés; es su propio tipo de prueba, con carga normal y larga duración. El estrés busca el límite; el soak busca lo que se acumula con el tiempo.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Distribución real de 34.776 peticiones con 100 VUs durante 30 s, con el código del taller tal cual (sin pool). Los intervalos se duplican (0-5, 5-10, 10-20...) porque la cola es muy larga. El promedio mezcla a los rápidos con los lentos y no describe a nadie. El p95 dice: el 95 % de las peticiones tardó esto o menos. Por eso los SLO del taller se escriben en p95 y p99. Máximo observado: 3,90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Modelo cerrado (constant-vus), sin pausas, servicio con pool. Con 1 VU el núcleo del servidor tiene tiempo libre; con 10 ya está lleno y el throughput deja de crecer (varía entre corridas porque es un portátil, ver los puntos). Desde ahí cada VU extra solo agrega cola. Ley de Little: usuarios en el sistema = throughput × tiempo por iteración. Si el throughput no puede crecer, lo único que crece es el tiempo. La iteración incluye el trabajo del propio k6 (armar el JSON, validar), por eso es mayor que http_req_duration.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Mismo experimento que la diapositiva anterior. Azul: p95 que calcula Actuator con http.server.requests, que solo cuenta desde que un hilo de Tomcat toma la petición. Naranja: p95 de k6. La brecha es red, cola y el propio cliente. Si el servidor dice 0,1 ms y el cliente 100 ms, optimizar el código de negocio no sirve: el problema es capacidad. Es el ejercicio "cliente contra servidor" del README. El p95 del servidor se estima del histograma de Actuator (se configuró minimum-expected-value en 50 µs para tener resolución por debajo de 1 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constant-arrival-rate (escenario arrival del taller) fija cuántas peticiones llegan por segundo, sin importar lo que tarde el servidor, como el tráfico real. Por debajo de la capacidad se atiende todo. Por encima, la cola crece sin límite: la latencia pasa de milisegundos a segundos, k6 necesita cada vez más VUs y descarta iteraciones (dropped_iterations). En el modelo cerrado esto no se ve: si el servidor se pone lento, los VUs envían menos, justo cuando deberían enviar más. Recuadro inferior: el código sin pool bajo el mismo experimento. Advertencia: en la segunda corrida de los escalones con más de 1.000 VUs, el esquema de ids del script de medición se solapó y parte de las respuestas fueron DUPLICATED. Es el error de estado de prueba de la regla 04; afecta el porcentaje de resultados de negocio correctos, no la forma de estas curvas.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Perfil: 20 VUs durante 30 s, salto a 400 VUs en 5 s, 40 s sostenido y regreso. Código del taller tal cual (sin pool). Tres gráficas con el mismo eje de tiempo y cada una con su escala: no se mezclan unidades en un eje. Qué observar: el throughput casi no sube porque el servidor ya estaba cerca del techo; lo que se dispara es la latencia. La pregunta clave de un spike: al bajar la carga, ¿la latencia vuelve a la base? Se omiten los primeros 10 s (k6 abriendo conexiones) y el último segundo, que queda incompleto.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regla tiene su contraparte en los scripts del taller. La regla 4 es la que más se rompe: si se repite la prueba sin reiniciar el servicio, los ids ya existen y todo lo que esperaba VALID devuelve DUPLICATED. No es un fallo del servicio, es estado de prueba mal gestionado.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 /register devuelve 200 para todos los resultados de negocio. Un script que solo mire el código HTTP reporta 0 % de error aunque el servicio rechace todo. Y cuidado con validar con includes: "INVALID_AGE" contiene la palabra "VALID". register_voter_k6.js compara con igualdad exacta contra la columna expected del CSV; esa es la forma correcta.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evidencia del inyector sobrecargado es real: en la calibración de estas gráficas, con k6 y el servicio compartiendo los 16 hilos del portátil, la CPU llegó al 99 %. k6 reportaba un p95 mucho mayor que el del servidor, y la diferencia era k6 esperando CPU, no el servicio. Por eso las mediciones reales del deck se hicieron fijando el servicio a 2 núcleos y k6 al resto.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esto pasó preparando las gráficas de este deck. Son los mismos errores que pueden cometer en el taller, y cada uno produjo números que parecían válidos.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Versión sin proveedor de nube. Las tres reglas aplican igual en AWS, Azure, GCP o en un laboratorio. k6 puede distribuirse con varias instancias o con el operador de k6 en Kubernetes; JMeter y Locust tienen modo controlador/trabajadores.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retiró TestSprite de la versión anterior: no es una herramienta de generación de carga comparable a las otras y aparecía como protagonista sin justificación. Todas estas son de código abierto. Gatling hoy tiene DSL en Java, Kotlin y Scala, no solo Scala.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Corrección: "memory leak" es fuga de memoria, no bloqueo. Cada nivel responde una pregunta distinta y usa una fuente distinta. En el taller: nivel 1 es el resumen de k6, nivel 2 es comparar con http.server.requests de Actuator, nivel 3 son hilos, pool y GC.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RegistryRepository.getConnection() abre una conexión nueva en cada operación, dos por petición. La variante "con pool" es el mismo código usando HikariCP con 20 conexiones; el resto es idéntico, en el mismo núcleo. Con pocos VUs no hay diferencia clara: por eso ni la prueba unitaria ni la de integración lo detectan. Con concurrencia, sin pool el throughput cae, la dispersión entre corridas es enorme y aparecen errores. Y eso con H2 en memoria, sin red ni autenticación: contra una base de datos real por red, abrir cada conexión cuesta todavía más.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Umbrales iguales a los del script del taller (p95 &lt; 300 ms, p99 &lt; 800 ms, error &lt; 1 %). La versión anterior decía 200 ms; se alineó con el taller. k6 termina con código 99 cuando se cruza un threshold, así que el paso de CI falla sin lógica adicional. En PR solo el escenario corto; load/stress/soak en ejecución nocturna o manual.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reemplazó el nivel 4 anterior (centrado en una plataforma comercial) por prácticas verificables. El taller lleva al estudiante del nivel 1 al 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conecta con los entregables del README.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8.xml"/><Relationship Id="rId4" Type="http://schemas.openxmlformats.org/officeDocument/2006/relationships/chart" Target="../charts/char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1.xml"/><Relationship Id="rId4" Type="http://schemas.openxmlformats.org/officeDocument/2006/relationships/chart" Target="../charts/char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chart" Target="../charts/char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chart" Target="../charts/chart16.xml"/><Relationship Id="rId4" Type="http://schemas.openxmlformats.org/officeDocument/2006/relationships/chart" Target="../charts/char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731520" y="1234440"/>
            <a:ext cx="6858000" cy="320040"/>
          </a:xfrm>
          <a:prstGeom prst="rect">
            <a:avLst/>
          </a:prstGeom>
          <a:noFill/>
        </p:spPr>
        <p:txBody>
          <a:bodyPr wrap="square" lIns="0" rIns="0" tIns="0" bIns="0" anchor="t">
            <a:spAutoFit/>
          </a:bodyPr>
          <a:lstStyle/>
          <a:p>
            <a:pPr algn="l">
              <a:lnSpc>
                <a:spcPct val="110000"/>
              </a:lnSpc>
            </a:pPr>
            <a:r>
              <a:rPr sz="1200" b="1" i="0" spc="150">
                <a:solidFill>
                  <a:srgbClr val="2A78D6"/>
                </a:solidFill>
                <a:latin typeface="Segoe UI"/>
              </a:rPr>
              <a:t>TESTING Y VALIDACIÓN DE SOFTWARE</a:t>
            </a:r>
          </a:p>
        </p:txBody>
      </p:sp>
      <p:sp>
        <p:nvSpPr>
          <p:cNvPr id="3" name="TextBox 2"/>
          <p:cNvSpPr txBox="1"/>
          <p:nvPr/>
        </p:nvSpPr>
        <p:spPr>
          <a:xfrm>
            <a:off x="731520" y="1645920"/>
            <a:ext cx="6583680" cy="1828800"/>
          </a:xfrm>
          <a:prstGeom prst="rect">
            <a:avLst/>
          </a:prstGeom>
          <a:noFill/>
        </p:spPr>
        <p:txBody>
          <a:bodyPr wrap="square" lIns="0" rIns="0" tIns="0" bIns="0" anchor="t">
            <a:spAutoFit/>
          </a:bodyPr>
          <a:lstStyle/>
          <a:p>
            <a:pPr algn="l">
              <a:lnSpc>
                <a:spcPct val="95000"/>
              </a:lnSpc>
            </a:pPr>
            <a:r>
              <a:rPr sz="4800" b="1" i="0">
                <a:solidFill>
                  <a:srgbClr val="0B0B0B"/>
                </a:solidFill>
                <a:latin typeface="Segoe UI"/>
              </a:rPr>
              <a:t>Pruebas de carga y rendimiento</a:t>
            </a:r>
          </a:p>
        </p:txBody>
      </p:sp>
      <p:sp>
        <p:nvSpPr>
          <p:cNvPr id="4" name="TextBox 3"/>
          <p:cNvSpPr txBox="1"/>
          <p:nvPr/>
        </p:nvSpPr>
        <p:spPr>
          <a:xfrm>
            <a:off x="731520" y="3429000"/>
            <a:ext cx="6035040" cy="1097280"/>
          </a:xfrm>
          <a:prstGeom prst="rect">
            <a:avLst/>
          </a:prstGeom>
          <a:noFill/>
        </p:spPr>
        <p:txBody>
          <a:bodyPr wrap="square" lIns="0" rIns="0" tIns="0" bIns="0" anchor="t">
            <a:spAutoFit/>
          </a:bodyPr>
          <a:lstStyle/>
          <a:p>
            <a:pPr algn="l">
              <a:lnSpc>
                <a:spcPct val="120000"/>
              </a:lnSpc>
            </a:pPr>
            <a:r>
              <a:rPr sz="1800" b="0" i="0">
                <a:solidFill>
                  <a:srgbClr val="52514E"/>
                </a:solidFill>
                <a:latin typeface="Segoe UI"/>
              </a:rPr>
              <a:t>Cómo medir, leer y explicar el comportamiento de un servicio cuando muchos usuarios llegan a la vez.</a:t>
            </a:r>
          </a:p>
        </p:txBody>
      </p:sp>
      <p:sp>
        <p:nvSpPr>
          <p:cNvPr id="5" name="TextBox 4"/>
          <p:cNvSpPr txBox="1"/>
          <p:nvPr/>
        </p:nvSpPr>
        <p:spPr>
          <a:xfrm>
            <a:off x="731520" y="5394960"/>
            <a:ext cx="6400800" cy="822960"/>
          </a:xfrm>
          <a:prstGeom prst="rect">
            <a:avLst/>
          </a:prstGeom>
          <a:noFill/>
        </p:spPr>
        <p:txBody>
          <a:bodyPr wrap="square" lIns="0" rIns="0" tIns="0" bIns="0" anchor="t">
            <a:spAutoFit/>
          </a:bodyPr>
          <a:lstStyle/>
          <a:p>
            <a:pPr algn="l">
              <a:lnSpc>
                <a:spcPct val="130000"/>
              </a:lnSpc>
            </a:pPr>
            <a:r>
              <a:rPr sz="1300" b="0" i="0">
                <a:solidFill>
                  <a:srgbClr val="52514E"/>
                </a:solidFill>
                <a:latin typeface="Segoe UI"/>
              </a:rPr>
              <a:t>Taller: Registraduría (Spring Boot + H2) medida con k6</a:t>
            </a:r>
          </a:p>
          <a:p>
            <a:pPr algn="l">
              <a:lnSpc>
                <a:spcPct val="130000"/>
              </a:lnSpc>
            </a:pPr>
            <a:r>
              <a:rPr sz="1300" b="0" i="0">
                <a:solidFill>
                  <a:srgbClr val="898781"/>
                </a:solidFill>
                <a:latin typeface="Segoe UI"/>
              </a:rPr>
              <a:t>César Augusto Vega Fernández · Universidad de La Sabana</a:t>
            </a:r>
          </a:p>
        </p:txBody>
      </p:sp>
      <p:graphicFrame>
        <p:nvGraphicFramePr>
          <p:cNvPr id="6" name="Chart 5"/>
          <p:cNvGraphicFramePr>
            <a:graphicFrameLocks noGrp="1"/>
          </p:cNvGraphicFramePr>
          <p:nvPr/>
        </p:nvGraphicFramePr>
        <p:xfrm>
          <a:off x="7406640" y="1097280"/>
          <a:ext cx="4389120" cy="4206240"/>
        </p:xfrm>
        <a:graphic>
          <a:graphicData uri="http://schemas.openxmlformats.org/drawingml/2006/chart">
            <c:chart xmlns:c="http://schemas.openxmlformats.org/drawingml/2006/chart" r:id="rId2"/>
          </a:graphicData>
        </a:graphic>
      </p:graphicFrame>
      <p:sp>
        <p:nvSpPr>
          <p:cNvPr id="7" name="TextBox 6"/>
          <p:cNvSpPr txBox="1"/>
          <p:nvPr/>
        </p:nvSpPr>
        <p:spPr>
          <a:xfrm>
            <a:off x="7406640" y="5394960"/>
            <a:ext cx="4389120" cy="548640"/>
          </a:xfrm>
          <a:prstGeom prst="rect">
            <a:avLst/>
          </a:prstGeom>
          <a:noFill/>
        </p:spPr>
        <p:txBody>
          <a:bodyPr wrap="square" lIns="0" rIns="0" tIns="0" bIns="0" anchor="t">
            <a:spAutoFit/>
          </a:bodyPr>
          <a:lstStyle/>
          <a:p>
            <a:pPr algn="ctr">
              <a:lnSpc>
                <a:spcPct val="110000"/>
              </a:lnSpc>
            </a:pPr>
            <a:r>
              <a:rPr sz="1100" b="0" i="0">
                <a:solidFill>
                  <a:srgbClr val="898781"/>
                </a:solidFill>
                <a:latin typeface="Segoe UI"/>
              </a:rPr>
              <a:t>Medición real de este taller: el p95 se mantiene plano y de pronto se dispara.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AGENDA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La ruta de hoy</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2</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6" name="Rounded Rectangle 5"/>
          <p:cNvSpPr/>
          <p:nvPr/>
        </p:nvSpPr>
        <p:spPr>
          <a:xfrm>
            <a:off x="548640" y="1737360"/>
            <a:ext cx="2606040" cy="402336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822959" y="2011680"/>
            <a:ext cx="2103120" cy="822960"/>
          </a:xfrm>
          <a:prstGeom prst="rect">
            <a:avLst/>
          </a:prstGeom>
          <a:noFill/>
        </p:spPr>
        <p:txBody>
          <a:bodyPr wrap="square" lIns="0" rIns="0" tIns="0" bIns="0" anchor="t">
            <a:spAutoFit/>
          </a:bodyPr>
          <a:lstStyle/>
          <a:p>
            <a:pPr algn="l">
              <a:lnSpc>
                <a:spcPct val="110000"/>
              </a:lnSpc>
            </a:pPr>
            <a:r>
              <a:rPr sz="4400" b="1" i="0">
                <a:solidFill>
                  <a:srgbClr val="2A78D6"/>
                </a:solidFill>
                <a:latin typeface="Segoe UI"/>
              </a:rPr>
              <a:t>1</a:t>
            </a:r>
          </a:p>
        </p:txBody>
      </p:sp>
      <p:sp>
        <p:nvSpPr>
          <p:cNvPr id="8" name="TextBox 7"/>
          <p:cNvSpPr txBox="1"/>
          <p:nvPr/>
        </p:nvSpPr>
        <p:spPr>
          <a:xfrm>
            <a:off x="822959" y="3017520"/>
            <a:ext cx="2103120" cy="731520"/>
          </a:xfrm>
          <a:prstGeom prst="rect">
            <a:avLst/>
          </a:prstGeom>
          <a:noFill/>
        </p:spPr>
        <p:txBody>
          <a:bodyPr wrap="square" lIns="0" rIns="0" tIns="0" bIns="0" anchor="t">
            <a:spAutoFit/>
          </a:bodyPr>
          <a:lstStyle/>
          <a:p>
            <a:pPr algn="l">
              <a:lnSpc>
                <a:spcPct val="100000"/>
              </a:lnSpc>
            </a:pPr>
            <a:r>
              <a:rPr sz="1900" b="1" i="0">
                <a:solidFill>
                  <a:srgbClr val="0B0B0B"/>
                </a:solidFill>
                <a:latin typeface="Segoe UI"/>
              </a:rPr>
              <a:t>El vocabulario</a:t>
            </a:r>
          </a:p>
        </p:txBody>
      </p:sp>
      <p:sp>
        <p:nvSpPr>
          <p:cNvPr id="9" name="TextBox 8"/>
          <p:cNvSpPr txBox="1"/>
          <p:nvPr/>
        </p:nvSpPr>
        <p:spPr>
          <a:xfrm>
            <a:off x="822959" y="3840480"/>
            <a:ext cx="2103120" cy="1737360"/>
          </a:xfrm>
          <a:prstGeom prst="rect">
            <a:avLst/>
          </a:prstGeom>
          <a:noFill/>
        </p:spPr>
        <p:txBody>
          <a:bodyPr wrap="square" lIns="0" rIns="0" tIns="0" bIns="0" anchor="t">
            <a:spAutoFit/>
          </a:bodyPr>
          <a:lstStyle/>
          <a:p>
            <a:pPr algn="l">
              <a:lnSpc>
                <a:spcPct val="120000"/>
              </a:lnSpc>
            </a:pPr>
            <a:r>
              <a:rPr sz="1400" b="0" i="0">
                <a:solidFill>
                  <a:srgbClr val="52514E"/>
                </a:solidFill>
                <a:latin typeface="Segoe UI"/>
              </a:rPr>
              <a:t>Anatomía de una petición, tipos de prueba y por qué se habla de p95 y no de promedio.</a:t>
            </a:r>
          </a:p>
        </p:txBody>
      </p:sp>
      <p:sp>
        <p:nvSpPr>
          <p:cNvPr id="10" name="Rounded Rectangle 9"/>
          <p:cNvSpPr/>
          <p:nvPr/>
        </p:nvSpPr>
        <p:spPr>
          <a:xfrm>
            <a:off x="3364992" y="1737360"/>
            <a:ext cx="2606040" cy="402336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3639312" y="2011680"/>
            <a:ext cx="2103120" cy="822960"/>
          </a:xfrm>
          <a:prstGeom prst="rect">
            <a:avLst/>
          </a:prstGeom>
          <a:noFill/>
        </p:spPr>
        <p:txBody>
          <a:bodyPr wrap="square" lIns="0" rIns="0" tIns="0" bIns="0" anchor="t">
            <a:spAutoFit/>
          </a:bodyPr>
          <a:lstStyle/>
          <a:p>
            <a:pPr algn="l">
              <a:lnSpc>
                <a:spcPct val="110000"/>
              </a:lnSpc>
            </a:pPr>
            <a:r>
              <a:rPr sz="4400" b="1" i="0">
                <a:solidFill>
                  <a:srgbClr val="2A78D6"/>
                </a:solidFill>
                <a:latin typeface="Segoe UI"/>
              </a:rPr>
              <a:t>2</a:t>
            </a:r>
          </a:p>
        </p:txBody>
      </p:sp>
      <p:sp>
        <p:nvSpPr>
          <p:cNvPr id="12" name="TextBox 11"/>
          <p:cNvSpPr txBox="1"/>
          <p:nvPr/>
        </p:nvSpPr>
        <p:spPr>
          <a:xfrm>
            <a:off x="3639312" y="3017520"/>
            <a:ext cx="2103120" cy="731520"/>
          </a:xfrm>
          <a:prstGeom prst="rect">
            <a:avLst/>
          </a:prstGeom>
          <a:noFill/>
        </p:spPr>
        <p:txBody>
          <a:bodyPr wrap="square" lIns="0" rIns="0" tIns="0" bIns="0" anchor="t">
            <a:spAutoFit/>
          </a:bodyPr>
          <a:lstStyle/>
          <a:p>
            <a:pPr algn="l">
              <a:lnSpc>
                <a:spcPct val="100000"/>
              </a:lnSpc>
            </a:pPr>
            <a:r>
              <a:rPr sz="1900" b="1" i="0">
                <a:solidFill>
                  <a:srgbClr val="0B0B0B"/>
                </a:solidFill>
                <a:latin typeface="Segoe UI"/>
              </a:rPr>
              <a:t>Qué pasa al saturar</a:t>
            </a:r>
          </a:p>
        </p:txBody>
      </p:sp>
      <p:sp>
        <p:nvSpPr>
          <p:cNvPr id="13" name="TextBox 12"/>
          <p:cNvSpPr txBox="1"/>
          <p:nvPr/>
        </p:nvSpPr>
        <p:spPr>
          <a:xfrm>
            <a:off x="3639312" y="3840480"/>
            <a:ext cx="2103120" cy="1737360"/>
          </a:xfrm>
          <a:prstGeom prst="rect">
            <a:avLst/>
          </a:prstGeom>
          <a:noFill/>
        </p:spPr>
        <p:txBody>
          <a:bodyPr wrap="square" lIns="0" rIns="0" tIns="0" bIns="0" anchor="t">
            <a:spAutoFit/>
          </a:bodyPr>
          <a:lstStyle/>
          <a:p>
            <a:pPr algn="l">
              <a:lnSpc>
                <a:spcPct val="120000"/>
              </a:lnSpc>
            </a:pPr>
            <a:r>
              <a:rPr sz="1400" b="0" i="0">
                <a:solidFill>
                  <a:srgbClr val="52514E"/>
                </a:solidFill>
                <a:latin typeface="Segoe UI"/>
              </a:rPr>
              <a:t>Curvas reales: throughput, latencia, cola, modelo abierto vs. cerrado y un pico.</a:t>
            </a:r>
          </a:p>
        </p:txBody>
      </p:sp>
      <p:sp>
        <p:nvSpPr>
          <p:cNvPr id="14" name="Rounded Rectangle 13"/>
          <p:cNvSpPr/>
          <p:nvPr/>
        </p:nvSpPr>
        <p:spPr>
          <a:xfrm>
            <a:off x="6181344" y="1737360"/>
            <a:ext cx="2606040" cy="402336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5" name="TextBox 14"/>
          <p:cNvSpPr txBox="1"/>
          <p:nvPr/>
        </p:nvSpPr>
        <p:spPr>
          <a:xfrm>
            <a:off x="6455664" y="2011680"/>
            <a:ext cx="2103120" cy="822960"/>
          </a:xfrm>
          <a:prstGeom prst="rect">
            <a:avLst/>
          </a:prstGeom>
          <a:noFill/>
        </p:spPr>
        <p:txBody>
          <a:bodyPr wrap="square" lIns="0" rIns="0" tIns="0" bIns="0" anchor="t">
            <a:spAutoFit/>
          </a:bodyPr>
          <a:lstStyle/>
          <a:p>
            <a:pPr algn="l">
              <a:lnSpc>
                <a:spcPct val="110000"/>
              </a:lnSpc>
            </a:pPr>
            <a:r>
              <a:rPr sz="4400" b="1" i="0">
                <a:solidFill>
                  <a:srgbClr val="2A78D6"/>
                </a:solidFill>
                <a:latin typeface="Segoe UI"/>
              </a:rPr>
              <a:t>3</a:t>
            </a:r>
          </a:p>
        </p:txBody>
      </p:sp>
      <p:sp>
        <p:nvSpPr>
          <p:cNvPr id="16" name="TextBox 15"/>
          <p:cNvSpPr txBox="1"/>
          <p:nvPr/>
        </p:nvSpPr>
        <p:spPr>
          <a:xfrm>
            <a:off x="6455664" y="3017520"/>
            <a:ext cx="2103120" cy="731520"/>
          </a:xfrm>
          <a:prstGeom prst="rect">
            <a:avLst/>
          </a:prstGeom>
          <a:noFill/>
        </p:spPr>
        <p:txBody>
          <a:bodyPr wrap="square" lIns="0" rIns="0" tIns="0" bIns="0" anchor="t">
            <a:spAutoFit/>
          </a:bodyPr>
          <a:lstStyle/>
          <a:p>
            <a:pPr algn="l">
              <a:lnSpc>
                <a:spcPct val="100000"/>
              </a:lnSpc>
            </a:pPr>
            <a:r>
              <a:rPr sz="1900" b="1" i="0">
                <a:solidFill>
                  <a:srgbClr val="0B0B0B"/>
                </a:solidFill>
                <a:latin typeface="Segoe UI"/>
              </a:rPr>
              <a:t>Escribir la prueba</a:t>
            </a:r>
          </a:p>
        </p:txBody>
      </p:sp>
      <p:sp>
        <p:nvSpPr>
          <p:cNvPr id="17" name="TextBox 16"/>
          <p:cNvSpPr txBox="1"/>
          <p:nvPr/>
        </p:nvSpPr>
        <p:spPr>
          <a:xfrm>
            <a:off x="6455664" y="3840480"/>
            <a:ext cx="2103120" cy="1737360"/>
          </a:xfrm>
          <a:prstGeom prst="rect">
            <a:avLst/>
          </a:prstGeom>
          <a:noFill/>
        </p:spPr>
        <p:txBody>
          <a:bodyPr wrap="square" lIns="0" rIns="0" tIns="0" bIns="0" anchor="t">
            <a:spAutoFit/>
          </a:bodyPr>
          <a:lstStyle/>
          <a:p>
            <a:pPr algn="l">
              <a:lnSpc>
                <a:spcPct val="120000"/>
              </a:lnSpc>
            </a:pPr>
            <a:r>
              <a:rPr sz="1400" b="0" i="0">
                <a:solidFill>
                  <a:srgbClr val="52514E"/>
                </a:solidFill>
                <a:latin typeface="Segoe UI"/>
              </a:rPr>
              <a:t>Reglas del script, el falso verde, errores comunes y herramientas.</a:t>
            </a:r>
          </a:p>
        </p:txBody>
      </p:sp>
      <p:sp>
        <p:nvSpPr>
          <p:cNvPr id="18" name="Rounded Rectangle 17"/>
          <p:cNvSpPr/>
          <p:nvPr/>
        </p:nvSpPr>
        <p:spPr>
          <a:xfrm>
            <a:off x="8997696" y="1737360"/>
            <a:ext cx="2606040" cy="402336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9" name="TextBox 18"/>
          <p:cNvSpPr txBox="1"/>
          <p:nvPr/>
        </p:nvSpPr>
        <p:spPr>
          <a:xfrm>
            <a:off x="9272016" y="2011680"/>
            <a:ext cx="2103120" cy="822960"/>
          </a:xfrm>
          <a:prstGeom prst="rect">
            <a:avLst/>
          </a:prstGeom>
          <a:noFill/>
        </p:spPr>
        <p:txBody>
          <a:bodyPr wrap="square" lIns="0" rIns="0" tIns="0" bIns="0" anchor="t">
            <a:spAutoFit/>
          </a:bodyPr>
          <a:lstStyle/>
          <a:p>
            <a:pPr algn="l">
              <a:lnSpc>
                <a:spcPct val="110000"/>
              </a:lnSpc>
            </a:pPr>
            <a:r>
              <a:rPr sz="4400" b="1" i="0">
                <a:solidFill>
                  <a:srgbClr val="2A78D6"/>
                </a:solidFill>
                <a:latin typeface="Segoe UI"/>
              </a:rPr>
              <a:t>4</a:t>
            </a:r>
          </a:p>
        </p:txBody>
      </p:sp>
      <p:sp>
        <p:nvSpPr>
          <p:cNvPr id="20" name="TextBox 19"/>
          <p:cNvSpPr txBox="1"/>
          <p:nvPr/>
        </p:nvSpPr>
        <p:spPr>
          <a:xfrm>
            <a:off x="9272016" y="3017520"/>
            <a:ext cx="2103120" cy="731520"/>
          </a:xfrm>
          <a:prstGeom prst="rect">
            <a:avLst/>
          </a:prstGeom>
          <a:noFill/>
        </p:spPr>
        <p:txBody>
          <a:bodyPr wrap="square" lIns="0" rIns="0" tIns="0" bIns="0" anchor="t">
            <a:spAutoFit/>
          </a:bodyPr>
          <a:lstStyle/>
          <a:p>
            <a:pPr algn="l">
              <a:lnSpc>
                <a:spcPct val="100000"/>
              </a:lnSpc>
            </a:pPr>
            <a:r>
              <a:rPr sz="1900" b="1" i="0">
                <a:solidFill>
                  <a:srgbClr val="0B0B0B"/>
                </a:solidFill>
                <a:latin typeface="Segoe UI"/>
              </a:rPr>
              <a:t>Del síntoma a la causa</a:t>
            </a:r>
          </a:p>
        </p:txBody>
      </p:sp>
      <p:sp>
        <p:nvSpPr>
          <p:cNvPr id="21" name="TextBox 20"/>
          <p:cNvSpPr txBox="1"/>
          <p:nvPr/>
        </p:nvSpPr>
        <p:spPr>
          <a:xfrm>
            <a:off x="9272016" y="3840480"/>
            <a:ext cx="2103120" cy="1737360"/>
          </a:xfrm>
          <a:prstGeom prst="rect">
            <a:avLst/>
          </a:prstGeom>
          <a:noFill/>
        </p:spPr>
        <p:txBody>
          <a:bodyPr wrap="square" lIns="0" rIns="0" tIns="0" bIns="0" anchor="t">
            <a:spAutoFit/>
          </a:bodyPr>
          <a:lstStyle/>
          <a:p>
            <a:pPr algn="l">
              <a:lnSpc>
                <a:spcPct val="120000"/>
              </a:lnSpc>
            </a:pPr>
            <a:r>
              <a:rPr sz="1400" b="0" i="0">
                <a:solidFill>
                  <a:srgbClr val="52514E"/>
                </a:solidFill>
                <a:latin typeface="Segoe UI"/>
              </a:rPr>
              <a:t>Observabilidad, gates en CI y cómo madura un equipo en rendimiento.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1 · VOCABULARIO</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Anatomía de una petición</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3</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6" name="Rounded Rectangle 5"/>
          <p:cNvSpPr/>
          <p:nvPr/>
        </p:nvSpPr>
        <p:spPr>
          <a:xfrm>
            <a:off x="1234440" y="2697480"/>
            <a:ext cx="1106424" cy="777240"/>
          </a:xfrm>
          <a:prstGeom prst="roundRect">
            <a:avLst>
              <a:gd name="adj" fmla="val 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300" b="1">
                <a:solidFill>
                  <a:srgbClr val="52514E"/>
                </a:solidFill>
                <a:latin typeface="Segoe UI"/>
              </a:rPr>
              <a:t>Conexión</a:t>
            </a:r>
          </a:p>
        </p:txBody>
      </p:sp>
      <p:sp>
        <p:nvSpPr>
          <p:cNvPr id="7" name="Rounded Rectangle 6"/>
          <p:cNvSpPr/>
          <p:nvPr/>
        </p:nvSpPr>
        <p:spPr>
          <a:xfrm>
            <a:off x="2377440" y="2697480"/>
            <a:ext cx="1197864" cy="777240"/>
          </a:xfrm>
          <a:prstGeom prst="roundRect">
            <a:avLst>
              <a:gd name="adj" fmla="val 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300" b="1">
                <a:solidFill>
                  <a:srgbClr val="52514E"/>
                </a:solidFill>
                <a:latin typeface="Segoe UI"/>
              </a:rPr>
              <a:t>Envío + red</a:t>
            </a:r>
          </a:p>
        </p:txBody>
      </p:sp>
      <p:sp>
        <p:nvSpPr>
          <p:cNvPr id="8" name="Rounded Rectangle 7"/>
          <p:cNvSpPr/>
          <p:nvPr/>
        </p:nvSpPr>
        <p:spPr>
          <a:xfrm>
            <a:off x="3611880" y="2697480"/>
            <a:ext cx="2478024" cy="7772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300" b="1">
                <a:solidFill>
                  <a:srgbClr val="FFFFFF"/>
                </a:solidFill>
                <a:latin typeface="Segoe UI"/>
              </a:rPr>
              <a:t>Espera en cola</a:t>
            </a:r>
          </a:p>
        </p:txBody>
      </p:sp>
      <p:sp>
        <p:nvSpPr>
          <p:cNvPr id="9" name="Rounded Rectangle 8"/>
          <p:cNvSpPr/>
          <p:nvPr/>
        </p:nvSpPr>
        <p:spPr>
          <a:xfrm>
            <a:off x="6126480" y="2697480"/>
            <a:ext cx="3118104" cy="77724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300" b="1">
                <a:solidFill>
                  <a:srgbClr val="FFFFFF"/>
                </a:solidFill>
                <a:latin typeface="Segoe UI"/>
              </a:rPr>
              <a:t>Procesamiento: app + BD</a:t>
            </a:r>
          </a:p>
        </p:txBody>
      </p:sp>
      <p:sp>
        <p:nvSpPr>
          <p:cNvPr id="10" name="Rounded Rectangle 9"/>
          <p:cNvSpPr/>
          <p:nvPr/>
        </p:nvSpPr>
        <p:spPr>
          <a:xfrm>
            <a:off x="9281160" y="2697480"/>
            <a:ext cx="1380744" cy="777240"/>
          </a:xfrm>
          <a:prstGeom prst="roundRect">
            <a:avLst>
              <a:gd name="adj" fmla="val 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300" b="1">
                <a:solidFill>
                  <a:srgbClr val="52514E"/>
                </a:solidFill>
                <a:latin typeface="Segoe UI"/>
              </a:rPr>
              <a:t>Red + recepción</a:t>
            </a:r>
          </a:p>
        </p:txBody>
      </p:sp>
      <p:sp>
        <p:nvSpPr>
          <p:cNvPr id="11" name="TextBox 10"/>
          <p:cNvSpPr txBox="1"/>
          <p:nvPr/>
        </p:nvSpPr>
        <p:spPr>
          <a:xfrm>
            <a:off x="320040" y="2880360"/>
            <a:ext cx="822960" cy="457200"/>
          </a:xfrm>
          <a:prstGeom prst="rect">
            <a:avLst/>
          </a:prstGeom>
          <a:noFill/>
        </p:spPr>
        <p:txBody>
          <a:bodyPr wrap="square" lIns="0" rIns="0" tIns="0" bIns="0" anchor="t">
            <a:spAutoFit/>
          </a:bodyPr>
          <a:lstStyle/>
          <a:p>
            <a:pPr algn="r">
              <a:lnSpc>
                <a:spcPct val="110000"/>
              </a:lnSpc>
            </a:pPr>
            <a:r>
              <a:rPr sz="1300" b="1" i="0">
                <a:solidFill>
                  <a:srgbClr val="52514E"/>
                </a:solidFill>
                <a:latin typeface="Segoe UI"/>
              </a:rPr>
              <a:t>Cliente</a:t>
            </a:r>
          </a:p>
        </p:txBody>
      </p:sp>
      <p:sp>
        <p:nvSpPr>
          <p:cNvPr id="12" name="TextBox 11"/>
          <p:cNvSpPr txBox="1"/>
          <p:nvPr/>
        </p:nvSpPr>
        <p:spPr>
          <a:xfrm>
            <a:off x="10789920" y="2880360"/>
            <a:ext cx="1097280" cy="457200"/>
          </a:xfrm>
          <a:prstGeom prst="rect">
            <a:avLst/>
          </a:prstGeom>
          <a:noFill/>
        </p:spPr>
        <p:txBody>
          <a:bodyPr wrap="square" lIns="0" rIns="0" tIns="0" bIns="0" anchor="t">
            <a:spAutoFit/>
          </a:bodyPr>
          <a:lstStyle/>
          <a:p>
            <a:pPr algn="l">
              <a:lnSpc>
                <a:spcPct val="110000"/>
              </a:lnSpc>
            </a:pPr>
            <a:r>
              <a:rPr sz="1300" b="1" i="0">
                <a:solidFill>
                  <a:srgbClr val="52514E"/>
                </a:solidFill>
                <a:latin typeface="Segoe UI"/>
              </a:rPr>
              <a:t>Cliente</a:t>
            </a:r>
          </a:p>
        </p:txBody>
      </p:sp>
      <p:sp>
        <p:nvSpPr>
          <p:cNvPr id="13" name="TextBox 12"/>
          <p:cNvSpPr txBox="1"/>
          <p:nvPr/>
        </p:nvSpPr>
        <p:spPr>
          <a:xfrm>
            <a:off x="3611880" y="2313432"/>
            <a:ext cx="5943600" cy="274320"/>
          </a:xfrm>
          <a:prstGeom prst="rect">
            <a:avLst/>
          </a:prstGeom>
          <a:noFill/>
        </p:spPr>
        <p:txBody>
          <a:bodyPr wrap="square" lIns="0" rIns="0" tIns="0" bIns="0" anchor="t">
            <a:spAutoFit/>
          </a:bodyPr>
          <a:lstStyle/>
          <a:p>
            <a:pPr algn="l">
              <a:lnSpc>
                <a:spcPct val="110000"/>
              </a:lnSpc>
            </a:pPr>
            <a:r>
              <a:rPr sz="1100" b="0" i="0">
                <a:solidFill>
                  <a:srgbClr val="898781"/>
                </a:solidFill>
                <a:latin typeface="Segoe UI"/>
              </a:rPr>
              <a:t>dentro del servidor</a:t>
            </a:r>
          </a:p>
        </p:txBody>
      </p:sp>
      <p:cxnSp>
        <p:nvCxnSpPr>
          <p:cNvPr id="14" name="Connector 13"/>
          <p:cNvCxnSpPr/>
          <p:nvPr/>
        </p:nvCxnSpPr>
        <p:spPr>
          <a:xfrm>
            <a:off x="3611880" y="2606040"/>
            <a:ext cx="5632704" cy="0"/>
          </a:xfrm>
          <a:prstGeom prst="line">
            <a:avLst/>
          </a:prstGeom>
          <a:ln w="12700">
            <a:solidFill>
              <a:srgbClr val="C3C2B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126480" y="3730752"/>
            <a:ext cx="3118104" cy="0"/>
          </a:xfrm>
          <a:prstGeom prst="line">
            <a:avLst/>
          </a:prstGeom>
          <a:ln w="25400">
            <a:solidFill>
              <a:srgbClr val="2A78D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26480" y="3621024"/>
            <a:ext cx="0" cy="109728"/>
          </a:xfrm>
          <a:prstGeom prst="line">
            <a:avLst/>
          </a:prstGeom>
          <a:ln w="25400">
            <a:solidFill>
              <a:srgbClr val="2A78D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244584" y="3621024"/>
            <a:ext cx="0" cy="109728"/>
          </a:xfrm>
          <a:prstGeom prst="line">
            <a:avLst/>
          </a:prstGeom>
          <a:ln w="25400">
            <a:solidFill>
              <a:srgbClr val="2A78D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126480" y="3803904"/>
            <a:ext cx="3118104"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Lo que mide el servidor</a:t>
            </a:r>
          </a:p>
        </p:txBody>
      </p:sp>
      <p:sp>
        <p:nvSpPr>
          <p:cNvPr id="19" name="TextBox 18"/>
          <p:cNvSpPr txBox="1"/>
          <p:nvPr/>
        </p:nvSpPr>
        <p:spPr>
          <a:xfrm>
            <a:off x="6126480" y="4078224"/>
            <a:ext cx="3118104" cy="457200"/>
          </a:xfrm>
          <a:prstGeom prst="rect">
            <a:avLst/>
          </a:prstGeom>
          <a:noFill/>
        </p:spPr>
        <p:txBody>
          <a:bodyPr wrap="square" lIns="0" rIns="0" tIns="0" bIns="0" anchor="t">
            <a:spAutoFit/>
          </a:bodyPr>
          <a:lstStyle/>
          <a:p>
            <a:pPr algn="l">
              <a:lnSpc>
                <a:spcPct val="110000"/>
              </a:lnSpc>
            </a:pPr>
            <a:r>
              <a:rPr sz="1100" b="0" i="0">
                <a:solidFill>
                  <a:srgbClr val="52514E"/>
                </a:solidFill>
                <a:latin typeface="Consolas"/>
              </a:rPr>
              <a:t>Actuator: http.server.requests</a:t>
            </a:r>
          </a:p>
        </p:txBody>
      </p:sp>
      <p:cxnSp>
        <p:nvCxnSpPr>
          <p:cNvPr id="20" name="Connector 19"/>
          <p:cNvCxnSpPr/>
          <p:nvPr/>
        </p:nvCxnSpPr>
        <p:spPr>
          <a:xfrm>
            <a:off x="2377440" y="4626864"/>
            <a:ext cx="8284464" cy="0"/>
          </a:xfrm>
          <a:prstGeom prst="line">
            <a:avLst/>
          </a:prstGeom>
          <a:ln w="25400">
            <a:solidFill>
              <a:srgbClr val="0B0B0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377440" y="4517136"/>
            <a:ext cx="0" cy="109728"/>
          </a:xfrm>
          <a:prstGeom prst="line">
            <a:avLst/>
          </a:prstGeom>
          <a:ln w="25400">
            <a:solidFill>
              <a:srgbClr val="0B0B0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661904" y="4517136"/>
            <a:ext cx="0" cy="109728"/>
          </a:xfrm>
          <a:prstGeom prst="line">
            <a:avLst/>
          </a:prstGeom>
          <a:ln w="25400">
            <a:solidFill>
              <a:srgbClr val="0B0B0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377440" y="4700016"/>
            <a:ext cx="8284464"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Lo que mide k6</a:t>
            </a:r>
          </a:p>
        </p:txBody>
      </p:sp>
      <p:sp>
        <p:nvSpPr>
          <p:cNvPr id="24" name="TextBox 23"/>
          <p:cNvSpPr txBox="1"/>
          <p:nvPr/>
        </p:nvSpPr>
        <p:spPr>
          <a:xfrm>
            <a:off x="2377440" y="4974336"/>
            <a:ext cx="8284464" cy="457200"/>
          </a:xfrm>
          <a:prstGeom prst="rect">
            <a:avLst/>
          </a:prstGeom>
          <a:noFill/>
        </p:spPr>
        <p:txBody>
          <a:bodyPr wrap="square" lIns="0" rIns="0" tIns="0" bIns="0" anchor="t">
            <a:spAutoFit/>
          </a:bodyPr>
          <a:lstStyle/>
          <a:p>
            <a:pPr algn="l">
              <a:lnSpc>
                <a:spcPct val="110000"/>
              </a:lnSpc>
            </a:pPr>
            <a:r>
              <a:rPr sz="1100" b="0" i="0">
                <a:solidFill>
                  <a:srgbClr val="52514E"/>
                </a:solidFill>
                <a:latin typeface="Consolas"/>
              </a:rPr>
              <a:t>http_req_duration = sending + waiting + receiving</a:t>
            </a:r>
          </a:p>
        </p:txBody>
      </p:sp>
      <p:cxnSp>
        <p:nvCxnSpPr>
          <p:cNvPr id="25" name="Connector 24"/>
          <p:cNvCxnSpPr/>
          <p:nvPr/>
        </p:nvCxnSpPr>
        <p:spPr>
          <a:xfrm>
            <a:off x="1234440" y="5522976"/>
            <a:ext cx="9427464" cy="0"/>
          </a:xfrm>
          <a:prstGeom prst="line">
            <a:avLst/>
          </a:prstGeom>
          <a:ln w="25400">
            <a:solidFill>
              <a:srgbClr val="52514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234440" y="5413248"/>
            <a:ext cx="0" cy="109728"/>
          </a:xfrm>
          <a:prstGeom prst="line">
            <a:avLst/>
          </a:prstGeom>
          <a:ln w="25400">
            <a:solidFill>
              <a:srgbClr val="52514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661904" y="5413248"/>
            <a:ext cx="0" cy="109728"/>
          </a:xfrm>
          <a:prstGeom prst="line">
            <a:avLst/>
          </a:prstGeom>
          <a:ln w="25400">
            <a:solidFill>
              <a:srgbClr val="52514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234440" y="5596128"/>
            <a:ext cx="9427464"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Tiempo de respuesta que percibe el usuario</a:t>
            </a:r>
          </a:p>
        </p:txBody>
      </p:sp>
      <p:sp>
        <p:nvSpPr>
          <p:cNvPr id="29" name="TextBox 28"/>
          <p:cNvSpPr txBox="1"/>
          <p:nvPr/>
        </p:nvSpPr>
        <p:spPr>
          <a:xfrm>
            <a:off x="1234440" y="5870448"/>
            <a:ext cx="9427464" cy="457200"/>
          </a:xfrm>
          <a:prstGeom prst="rect">
            <a:avLst/>
          </a:prstGeom>
          <a:noFill/>
        </p:spPr>
        <p:txBody>
          <a:bodyPr wrap="square" lIns="0" rIns="0" tIns="0" bIns="0" anchor="t">
            <a:spAutoFit/>
          </a:bodyPr>
          <a:lstStyle/>
          <a:p>
            <a:pPr algn="l">
              <a:lnSpc>
                <a:spcPct val="110000"/>
              </a:lnSpc>
            </a:pPr>
            <a:r>
              <a:rPr sz="1100" b="0" i="0">
                <a:solidFill>
                  <a:srgbClr val="52514E"/>
                </a:solidFill>
                <a:latin typeface="Consolas"/>
              </a:rPr>
              <a:t>incluye abrir la conexión (http_req_blocked / connecting)</a:t>
            </a:r>
          </a:p>
        </p:txBody>
      </p:sp>
      <p:sp>
        <p:nvSpPr>
          <p:cNvPr id="30" name="TextBox 29"/>
          <p:cNvSpPr txBox="1"/>
          <p:nvPr/>
        </p:nvSpPr>
        <p:spPr>
          <a:xfrm>
            <a:off x="548640" y="1325880"/>
            <a:ext cx="265176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Latencia</a:t>
            </a:r>
          </a:p>
        </p:txBody>
      </p:sp>
      <p:sp>
        <p:nvSpPr>
          <p:cNvPr id="31" name="TextBox 30"/>
          <p:cNvSpPr txBox="1"/>
          <p:nvPr/>
        </p:nvSpPr>
        <p:spPr>
          <a:xfrm>
            <a:off x="548640" y="1600200"/>
            <a:ext cx="2651760" cy="54864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Tiempo que la petición pasa viajando por la red.</a:t>
            </a:r>
          </a:p>
        </p:txBody>
      </p:sp>
      <p:sp>
        <p:nvSpPr>
          <p:cNvPr id="32" name="TextBox 31"/>
          <p:cNvSpPr txBox="1"/>
          <p:nvPr/>
        </p:nvSpPr>
        <p:spPr>
          <a:xfrm>
            <a:off x="3364992" y="1325880"/>
            <a:ext cx="265176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Tiempo de procesamiento</a:t>
            </a:r>
          </a:p>
        </p:txBody>
      </p:sp>
      <p:sp>
        <p:nvSpPr>
          <p:cNvPr id="33" name="TextBox 32"/>
          <p:cNvSpPr txBox="1"/>
          <p:nvPr/>
        </p:nvSpPr>
        <p:spPr>
          <a:xfrm>
            <a:off x="3364992" y="1600200"/>
            <a:ext cx="2651760" cy="54864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Lo que tardan la aplicación y la base de datos.</a:t>
            </a:r>
          </a:p>
        </p:txBody>
      </p:sp>
      <p:sp>
        <p:nvSpPr>
          <p:cNvPr id="34" name="TextBox 33"/>
          <p:cNvSpPr txBox="1"/>
          <p:nvPr/>
        </p:nvSpPr>
        <p:spPr>
          <a:xfrm>
            <a:off x="6181344" y="1325880"/>
            <a:ext cx="265176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Tiempo de respuesta</a:t>
            </a:r>
          </a:p>
        </p:txBody>
      </p:sp>
      <p:sp>
        <p:nvSpPr>
          <p:cNvPr id="35" name="TextBox 34"/>
          <p:cNvSpPr txBox="1"/>
          <p:nvPr/>
        </p:nvSpPr>
        <p:spPr>
          <a:xfrm>
            <a:off x="6181344" y="1600200"/>
            <a:ext cx="2651760" cy="54864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Todo el recorrido, ida y vuelta, cola incluida.</a:t>
            </a:r>
          </a:p>
        </p:txBody>
      </p:sp>
      <p:sp>
        <p:nvSpPr>
          <p:cNvPr id="36" name="TextBox 35"/>
          <p:cNvSpPr txBox="1"/>
          <p:nvPr/>
        </p:nvSpPr>
        <p:spPr>
          <a:xfrm>
            <a:off x="8997696" y="1325880"/>
            <a:ext cx="265176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Throughput</a:t>
            </a:r>
          </a:p>
        </p:txBody>
      </p:sp>
      <p:sp>
        <p:nvSpPr>
          <p:cNvPr id="37" name="TextBox 36"/>
          <p:cNvSpPr txBox="1"/>
          <p:nvPr/>
        </p:nvSpPr>
        <p:spPr>
          <a:xfrm>
            <a:off x="8997696" y="1600200"/>
            <a:ext cx="2651760" cy="54864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Peticiones completadas por segundo. No es un tramo: es una tasa.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1 · TIPOS DE PRUEBA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Cinco preguntas, cinco perfiles de carga</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4</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6" name="Rounded Rectangle 5"/>
          <p:cNvSpPr/>
          <p:nvPr/>
        </p:nvSpPr>
        <p:spPr>
          <a:xfrm>
            <a:off x="548640" y="1417320"/>
            <a:ext cx="2148840" cy="480060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731520" y="1600200"/>
            <a:ext cx="1783080" cy="365760"/>
          </a:xfrm>
          <a:prstGeom prst="rect">
            <a:avLst/>
          </a:prstGeom>
          <a:noFill/>
        </p:spPr>
        <p:txBody>
          <a:bodyPr wrap="square" lIns="0" rIns="0" tIns="0" bIns="0" anchor="t">
            <a:spAutoFit/>
          </a:bodyPr>
          <a:lstStyle/>
          <a:p>
            <a:pPr algn="l">
              <a:lnSpc>
                <a:spcPct val="110000"/>
              </a:lnSpc>
            </a:pPr>
            <a:r>
              <a:rPr sz="1700" b="1" i="0">
                <a:solidFill>
                  <a:srgbClr val="0B0B0B"/>
                </a:solidFill>
                <a:latin typeface="Segoe UI"/>
              </a:rPr>
              <a:t>Línea base</a:t>
            </a:r>
          </a:p>
        </p:txBody>
      </p:sp>
      <p:sp>
        <p:nvSpPr>
          <p:cNvPr id="8" name="TextBox 7"/>
          <p:cNvSpPr txBox="1"/>
          <p:nvPr/>
        </p:nvSpPr>
        <p:spPr>
          <a:xfrm>
            <a:off x="731520" y="2011680"/>
            <a:ext cx="1783080" cy="274320"/>
          </a:xfrm>
          <a:prstGeom prst="rect">
            <a:avLst/>
          </a:prstGeom>
          <a:noFill/>
        </p:spPr>
        <p:txBody>
          <a:bodyPr wrap="square" lIns="0" rIns="0" tIns="0" bIns="0" anchor="t">
            <a:spAutoFit/>
          </a:bodyPr>
          <a:lstStyle/>
          <a:p>
            <a:pPr algn="l">
              <a:lnSpc>
                <a:spcPct val="110000"/>
              </a:lnSpc>
            </a:pPr>
            <a:r>
              <a:rPr sz="1050" b="0" i="0">
                <a:solidFill>
                  <a:srgbClr val="2A78D6"/>
                </a:solidFill>
                <a:latin typeface="Consolas"/>
              </a:rPr>
              <a:t>SCENARIO=baseline</a:t>
            </a:r>
          </a:p>
        </p:txBody>
      </p:sp>
      <p:graphicFrame>
        <p:nvGraphicFramePr>
          <p:cNvPr id="9" name="Chart 8"/>
          <p:cNvGraphicFramePr>
            <a:graphicFrameLocks noGrp="1"/>
          </p:cNvGraphicFramePr>
          <p:nvPr/>
        </p:nvGraphicFramePr>
        <p:xfrm>
          <a:off x="594360" y="2377440"/>
          <a:ext cx="2057400" cy="1828800"/>
        </p:xfrm>
        <a:graphic>
          <a:graphicData uri="http://schemas.openxmlformats.org/drawingml/2006/chart">
            <c:chart xmlns:c="http://schemas.openxmlformats.org/drawingml/2006/chart" r:id="rId3"/>
          </a:graphicData>
        </a:graphic>
      </p:graphicFrame>
      <p:sp>
        <p:nvSpPr>
          <p:cNvPr id="10" name="TextBox 9"/>
          <p:cNvSpPr txBox="1"/>
          <p:nvPr/>
        </p:nvSpPr>
        <p:spPr>
          <a:xfrm>
            <a:off x="731520" y="4343400"/>
            <a:ext cx="1783080" cy="274320"/>
          </a:xfrm>
          <a:prstGeom prst="rect">
            <a:avLst/>
          </a:prstGeom>
          <a:noFill/>
        </p:spPr>
        <p:txBody>
          <a:bodyPr wrap="square" lIns="0" rIns="0" tIns="0" bIns="0" anchor="t">
            <a:spAutoFit/>
          </a:bodyPr>
          <a:lstStyle/>
          <a:p>
            <a:pPr algn="l">
              <a:lnSpc>
                <a:spcPct val="110000"/>
              </a:lnSpc>
            </a:pPr>
            <a:r>
              <a:rPr sz="1200" b="1" i="0">
                <a:solidFill>
                  <a:srgbClr val="52514E"/>
                </a:solidFill>
                <a:latin typeface="Segoe UI"/>
              </a:rPr>
              <a:t>20 VUs · 5 min</a:t>
            </a:r>
          </a:p>
        </p:txBody>
      </p:sp>
      <p:sp>
        <p:nvSpPr>
          <p:cNvPr id="11" name="TextBox 10"/>
          <p:cNvSpPr txBox="1"/>
          <p:nvPr/>
        </p:nvSpPr>
        <p:spPr>
          <a:xfrm>
            <a:off x="731520" y="4709160"/>
            <a:ext cx="1783080" cy="1371600"/>
          </a:xfrm>
          <a:prstGeom prst="rect">
            <a:avLst/>
          </a:prstGeom>
          <a:noFill/>
        </p:spPr>
        <p:txBody>
          <a:bodyPr wrap="square" lIns="0" rIns="0" tIns="0" bIns="0" anchor="t">
            <a:spAutoFit/>
          </a:bodyPr>
          <a:lstStyle/>
          <a:p>
            <a:pPr algn="l">
              <a:lnSpc>
                <a:spcPct val="115000"/>
              </a:lnSpc>
            </a:pPr>
            <a:r>
              <a:rPr sz="1300" b="0" i="0">
                <a:solidFill>
                  <a:srgbClr val="0B0B0B"/>
                </a:solidFill>
                <a:latin typeface="Segoe UI"/>
              </a:rPr>
              <a:t>¿Cuál es nuestra referencia para comparar?</a:t>
            </a:r>
          </a:p>
        </p:txBody>
      </p:sp>
      <p:sp>
        <p:nvSpPr>
          <p:cNvPr id="12" name="Rounded Rectangle 11"/>
          <p:cNvSpPr/>
          <p:nvPr/>
        </p:nvSpPr>
        <p:spPr>
          <a:xfrm>
            <a:off x="2807208" y="1417320"/>
            <a:ext cx="2148840" cy="480060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3" name="TextBox 12"/>
          <p:cNvSpPr txBox="1"/>
          <p:nvPr/>
        </p:nvSpPr>
        <p:spPr>
          <a:xfrm>
            <a:off x="2990088" y="1600200"/>
            <a:ext cx="1783080" cy="365760"/>
          </a:xfrm>
          <a:prstGeom prst="rect">
            <a:avLst/>
          </a:prstGeom>
          <a:noFill/>
        </p:spPr>
        <p:txBody>
          <a:bodyPr wrap="square" lIns="0" rIns="0" tIns="0" bIns="0" anchor="t">
            <a:spAutoFit/>
          </a:bodyPr>
          <a:lstStyle/>
          <a:p>
            <a:pPr algn="l">
              <a:lnSpc>
                <a:spcPct val="110000"/>
              </a:lnSpc>
            </a:pPr>
            <a:r>
              <a:rPr sz="1700" b="1" i="0">
                <a:solidFill>
                  <a:srgbClr val="0B0B0B"/>
                </a:solidFill>
                <a:latin typeface="Segoe UI"/>
              </a:rPr>
              <a:t>Carga</a:t>
            </a:r>
          </a:p>
        </p:txBody>
      </p:sp>
      <p:sp>
        <p:nvSpPr>
          <p:cNvPr id="14" name="TextBox 13"/>
          <p:cNvSpPr txBox="1"/>
          <p:nvPr/>
        </p:nvSpPr>
        <p:spPr>
          <a:xfrm>
            <a:off x="2990088" y="2011680"/>
            <a:ext cx="1783080" cy="274320"/>
          </a:xfrm>
          <a:prstGeom prst="rect">
            <a:avLst/>
          </a:prstGeom>
          <a:noFill/>
        </p:spPr>
        <p:txBody>
          <a:bodyPr wrap="square" lIns="0" rIns="0" tIns="0" bIns="0" anchor="t">
            <a:spAutoFit/>
          </a:bodyPr>
          <a:lstStyle/>
          <a:p>
            <a:pPr algn="l">
              <a:lnSpc>
                <a:spcPct val="110000"/>
              </a:lnSpc>
            </a:pPr>
            <a:r>
              <a:rPr sz="1050" b="0" i="0">
                <a:solidFill>
                  <a:srgbClr val="2A78D6"/>
                </a:solidFill>
                <a:latin typeface="Consolas"/>
              </a:rPr>
              <a:t>SCENARIO=load</a:t>
            </a:r>
          </a:p>
        </p:txBody>
      </p:sp>
      <p:graphicFrame>
        <p:nvGraphicFramePr>
          <p:cNvPr id="15" name="Chart 14"/>
          <p:cNvGraphicFramePr>
            <a:graphicFrameLocks noGrp="1"/>
          </p:cNvGraphicFramePr>
          <p:nvPr/>
        </p:nvGraphicFramePr>
        <p:xfrm>
          <a:off x="2852928" y="2377440"/>
          <a:ext cx="2057400" cy="1828800"/>
        </p:xfrm>
        <a:graphic>
          <a:graphicData uri="http://schemas.openxmlformats.org/drawingml/2006/chart">
            <c:chart xmlns:c="http://schemas.openxmlformats.org/drawingml/2006/chart" r:id="rId4"/>
          </a:graphicData>
        </a:graphic>
      </p:graphicFrame>
      <p:sp>
        <p:nvSpPr>
          <p:cNvPr id="16" name="TextBox 15"/>
          <p:cNvSpPr txBox="1"/>
          <p:nvPr/>
        </p:nvSpPr>
        <p:spPr>
          <a:xfrm>
            <a:off x="2990088" y="4343400"/>
            <a:ext cx="1783080" cy="274320"/>
          </a:xfrm>
          <a:prstGeom prst="rect">
            <a:avLst/>
          </a:prstGeom>
          <a:noFill/>
        </p:spPr>
        <p:txBody>
          <a:bodyPr wrap="square" lIns="0" rIns="0" tIns="0" bIns="0" anchor="t">
            <a:spAutoFit/>
          </a:bodyPr>
          <a:lstStyle/>
          <a:p>
            <a:pPr algn="l">
              <a:lnSpc>
                <a:spcPct val="110000"/>
              </a:lnSpc>
            </a:pPr>
            <a:r>
              <a:rPr sz="1200" b="1" i="0">
                <a:solidFill>
                  <a:srgbClr val="52514E"/>
                </a:solidFill>
                <a:latin typeface="Segoe UI"/>
              </a:rPr>
              <a:t>0→200 VUs · 14 min</a:t>
            </a:r>
          </a:p>
        </p:txBody>
      </p:sp>
      <p:sp>
        <p:nvSpPr>
          <p:cNvPr id="17" name="TextBox 16"/>
          <p:cNvSpPr txBox="1"/>
          <p:nvPr/>
        </p:nvSpPr>
        <p:spPr>
          <a:xfrm>
            <a:off x="2990088" y="4709160"/>
            <a:ext cx="1783080" cy="1371600"/>
          </a:xfrm>
          <a:prstGeom prst="rect">
            <a:avLst/>
          </a:prstGeom>
          <a:noFill/>
        </p:spPr>
        <p:txBody>
          <a:bodyPr wrap="square" lIns="0" rIns="0" tIns="0" bIns="0" anchor="t">
            <a:spAutoFit/>
          </a:bodyPr>
          <a:lstStyle/>
          <a:p>
            <a:pPr algn="l">
              <a:lnSpc>
                <a:spcPct val="115000"/>
              </a:lnSpc>
            </a:pPr>
            <a:r>
              <a:rPr sz="1300" b="0" i="0">
                <a:solidFill>
                  <a:srgbClr val="0B0B0B"/>
                </a:solidFill>
                <a:latin typeface="Segoe UI"/>
              </a:rPr>
              <a:t>¿Cumplimos el SLO con la demanda esperada?</a:t>
            </a:r>
          </a:p>
        </p:txBody>
      </p:sp>
      <p:sp>
        <p:nvSpPr>
          <p:cNvPr id="18" name="Rounded Rectangle 17"/>
          <p:cNvSpPr/>
          <p:nvPr/>
        </p:nvSpPr>
        <p:spPr>
          <a:xfrm>
            <a:off x="5065776" y="1417320"/>
            <a:ext cx="2148840" cy="480060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9" name="TextBox 18"/>
          <p:cNvSpPr txBox="1"/>
          <p:nvPr/>
        </p:nvSpPr>
        <p:spPr>
          <a:xfrm>
            <a:off x="5248656" y="1600200"/>
            <a:ext cx="1783080" cy="365760"/>
          </a:xfrm>
          <a:prstGeom prst="rect">
            <a:avLst/>
          </a:prstGeom>
          <a:noFill/>
        </p:spPr>
        <p:txBody>
          <a:bodyPr wrap="square" lIns="0" rIns="0" tIns="0" bIns="0" anchor="t">
            <a:spAutoFit/>
          </a:bodyPr>
          <a:lstStyle/>
          <a:p>
            <a:pPr algn="l">
              <a:lnSpc>
                <a:spcPct val="110000"/>
              </a:lnSpc>
            </a:pPr>
            <a:r>
              <a:rPr sz="1700" b="1" i="0">
                <a:solidFill>
                  <a:srgbClr val="0B0B0B"/>
                </a:solidFill>
                <a:latin typeface="Segoe UI"/>
              </a:rPr>
              <a:t>Estrés</a:t>
            </a:r>
          </a:p>
        </p:txBody>
      </p:sp>
      <p:sp>
        <p:nvSpPr>
          <p:cNvPr id="20" name="TextBox 19"/>
          <p:cNvSpPr txBox="1"/>
          <p:nvPr/>
        </p:nvSpPr>
        <p:spPr>
          <a:xfrm>
            <a:off x="5248656" y="2011680"/>
            <a:ext cx="1783080" cy="274320"/>
          </a:xfrm>
          <a:prstGeom prst="rect">
            <a:avLst/>
          </a:prstGeom>
          <a:noFill/>
        </p:spPr>
        <p:txBody>
          <a:bodyPr wrap="square" lIns="0" rIns="0" tIns="0" bIns="0" anchor="t">
            <a:spAutoFit/>
          </a:bodyPr>
          <a:lstStyle/>
          <a:p>
            <a:pPr algn="l">
              <a:lnSpc>
                <a:spcPct val="110000"/>
              </a:lnSpc>
            </a:pPr>
            <a:r>
              <a:rPr sz="1050" b="0" i="0">
                <a:solidFill>
                  <a:srgbClr val="2A78D6"/>
                </a:solidFill>
                <a:latin typeface="Consolas"/>
              </a:rPr>
              <a:t>SCENARIO=stress</a:t>
            </a:r>
          </a:p>
        </p:txBody>
      </p:sp>
      <p:graphicFrame>
        <p:nvGraphicFramePr>
          <p:cNvPr id="21" name="Chart 20"/>
          <p:cNvGraphicFramePr>
            <a:graphicFrameLocks noGrp="1"/>
          </p:cNvGraphicFramePr>
          <p:nvPr/>
        </p:nvGraphicFramePr>
        <p:xfrm>
          <a:off x="5111496" y="2377440"/>
          <a:ext cx="2057400" cy="1828800"/>
        </p:xfrm>
        <a:graphic>
          <a:graphicData uri="http://schemas.openxmlformats.org/drawingml/2006/chart">
            <c:chart xmlns:c="http://schemas.openxmlformats.org/drawingml/2006/chart" r:id="rId5"/>
          </a:graphicData>
        </a:graphic>
      </p:graphicFrame>
      <p:sp>
        <p:nvSpPr>
          <p:cNvPr id="22" name="TextBox 21"/>
          <p:cNvSpPr txBox="1"/>
          <p:nvPr/>
        </p:nvSpPr>
        <p:spPr>
          <a:xfrm>
            <a:off x="5248656" y="4343400"/>
            <a:ext cx="1783080" cy="274320"/>
          </a:xfrm>
          <a:prstGeom prst="rect">
            <a:avLst/>
          </a:prstGeom>
          <a:noFill/>
        </p:spPr>
        <p:txBody>
          <a:bodyPr wrap="square" lIns="0" rIns="0" tIns="0" bIns="0" anchor="t">
            <a:spAutoFit/>
          </a:bodyPr>
          <a:lstStyle/>
          <a:p>
            <a:pPr algn="l">
              <a:lnSpc>
                <a:spcPct val="110000"/>
              </a:lnSpc>
            </a:pPr>
            <a:r>
              <a:rPr sz="1200" b="1" i="0">
                <a:solidFill>
                  <a:srgbClr val="52514E"/>
                </a:solidFill>
                <a:latin typeface="Segoe UI"/>
              </a:rPr>
              <a:t>200→600 VUs · 10 min</a:t>
            </a:r>
          </a:p>
        </p:txBody>
      </p:sp>
      <p:sp>
        <p:nvSpPr>
          <p:cNvPr id="23" name="TextBox 22"/>
          <p:cNvSpPr txBox="1"/>
          <p:nvPr/>
        </p:nvSpPr>
        <p:spPr>
          <a:xfrm>
            <a:off x="5248656" y="4709160"/>
            <a:ext cx="1783080" cy="1371600"/>
          </a:xfrm>
          <a:prstGeom prst="rect">
            <a:avLst/>
          </a:prstGeom>
          <a:noFill/>
        </p:spPr>
        <p:txBody>
          <a:bodyPr wrap="square" lIns="0" rIns="0" tIns="0" bIns="0" anchor="t">
            <a:spAutoFit/>
          </a:bodyPr>
          <a:lstStyle/>
          <a:p>
            <a:pPr algn="l">
              <a:lnSpc>
                <a:spcPct val="115000"/>
              </a:lnSpc>
            </a:pPr>
            <a:r>
              <a:rPr sz="1300" b="0" i="0">
                <a:solidFill>
                  <a:srgbClr val="0B0B0B"/>
                </a:solidFill>
                <a:latin typeface="Segoe UI"/>
              </a:rPr>
              <a:t>¿Dónde se rompe y cómo se degrada?</a:t>
            </a:r>
          </a:p>
        </p:txBody>
      </p:sp>
      <p:sp>
        <p:nvSpPr>
          <p:cNvPr id="24" name="Rounded Rectangle 23"/>
          <p:cNvSpPr/>
          <p:nvPr/>
        </p:nvSpPr>
        <p:spPr>
          <a:xfrm>
            <a:off x="7324344" y="1417320"/>
            <a:ext cx="2148840" cy="480060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5" name="TextBox 24"/>
          <p:cNvSpPr txBox="1"/>
          <p:nvPr/>
        </p:nvSpPr>
        <p:spPr>
          <a:xfrm>
            <a:off x="7507223" y="1600200"/>
            <a:ext cx="1783080" cy="365760"/>
          </a:xfrm>
          <a:prstGeom prst="rect">
            <a:avLst/>
          </a:prstGeom>
          <a:noFill/>
        </p:spPr>
        <p:txBody>
          <a:bodyPr wrap="square" lIns="0" rIns="0" tIns="0" bIns="0" anchor="t">
            <a:spAutoFit/>
          </a:bodyPr>
          <a:lstStyle/>
          <a:p>
            <a:pPr algn="l">
              <a:lnSpc>
                <a:spcPct val="110000"/>
              </a:lnSpc>
            </a:pPr>
            <a:r>
              <a:rPr sz="1700" b="1" i="0">
                <a:solidFill>
                  <a:srgbClr val="0B0B0B"/>
                </a:solidFill>
                <a:latin typeface="Segoe UI"/>
              </a:rPr>
              <a:t>Pico</a:t>
            </a:r>
          </a:p>
        </p:txBody>
      </p:sp>
      <p:sp>
        <p:nvSpPr>
          <p:cNvPr id="26" name="TextBox 25"/>
          <p:cNvSpPr txBox="1"/>
          <p:nvPr/>
        </p:nvSpPr>
        <p:spPr>
          <a:xfrm>
            <a:off x="7507223" y="2011680"/>
            <a:ext cx="1783080" cy="274320"/>
          </a:xfrm>
          <a:prstGeom prst="rect">
            <a:avLst/>
          </a:prstGeom>
          <a:noFill/>
        </p:spPr>
        <p:txBody>
          <a:bodyPr wrap="square" lIns="0" rIns="0" tIns="0" bIns="0" anchor="t">
            <a:spAutoFit/>
          </a:bodyPr>
          <a:lstStyle/>
          <a:p>
            <a:pPr algn="l">
              <a:lnSpc>
                <a:spcPct val="110000"/>
              </a:lnSpc>
            </a:pPr>
            <a:r>
              <a:rPr sz="1050" b="0" i="0">
                <a:solidFill>
                  <a:srgbClr val="2A78D6"/>
                </a:solidFill>
                <a:latin typeface="Consolas"/>
              </a:rPr>
              <a:t>SCENARIO=spike</a:t>
            </a:r>
          </a:p>
        </p:txBody>
      </p:sp>
      <p:graphicFrame>
        <p:nvGraphicFramePr>
          <p:cNvPr id="27" name="Chart 26"/>
          <p:cNvGraphicFramePr>
            <a:graphicFrameLocks noGrp="1"/>
          </p:cNvGraphicFramePr>
          <p:nvPr/>
        </p:nvGraphicFramePr>
        <p:xfrm>
          <a:off x="7370064" y="2377440"/>
          <a:ext cx="2057400" cy="1828800"/>
        </p:xfrm>
        <a:graphic>
          <a:graphicData uri="http://schemas.openxmlformats.org/drawingml/2006/chart">
            <c:chart xmlns:c="http://schemas.openxmlformats.org/drawingml/2006/chart" r:id="rId6"/>
          </a:graphicData>
        </a:graphic>
      </p:graphicFrame>
      <p:sp>
        <p:nvSpPr>
          <p:cNvPr id="28" name="TextBox 27"/>
          <p:cNvSpPr txBox="1"/>
          <p:nvPr/>
        </p:nvSpPr>
        <p:spPr>
          <a:xfrm>
            <a:off x="7507223" y="4343400"/>
            <a:ext cx="1783080" cy="274320"/>
          </a:xfrm>
          <a:prstGeom prst="rect">
            <a:avLst/>
          </a:prstGeom>
          <a:noFill/>
        </p:spPr>
        <p:txBody>
          <a:bodyPr wrap="square" lIns="0" rIns="0" tIns="0" bIns="0" anchor="t">
            <a:spAutoFit/>
          </a:bodyPr>
          <a:lstStyle/>
          <a:p>
            <a:pPr algn="l">
              <a:lnSpc>
                <a:spcPct val="110000"/>
              </a:lnSpc>
            </a:pPr>
            <a:r>
              <a:rPr sz="1200" b="1" i="0">
                <a:solidFill>
                  <a:srgbClr val="52514E"/>
                </a:solidFill>
                <a:latin typeface="Segoe UI"/>
              </a:rPr>
              <a:t>50→300→50 VUs · 4 min</a:t>
            </a:r>
          </a:p>
        </p:txBody>
      </p:sp>
      <p:sp>
        <p:nvSpPr>
          <p:cNvPr id="29" name="TextBox 28"/>
          <p:cNvSpPr txBox="1"/>
          <p:nvPr/>
        </p:nvSpPr>
        <p:spPr>
          <a:xfrm>
            <a:off x="7507223" y="4709160"/>
            <a:ext cx="1783080" cy="1371600"/>
          </a:xfrm>
          <a:prstGeom prst="rect">
            <a:avLst/>
          </a:prstGeom>
          <a:noFill/>
        </p:spPr>
        <p:txBody>
          <a:bodyPr wrap="square" lIns="0" rIns="0" tIns="0" bIns="0" anchor="t">
            <a:spAutoFit/>
          </a:bodyPr>
          <a:lstStyle/>
          <a:p>
            <a:pPr algn="l">
              <a:lnSpc>
                <a:spcPct val="115000"/>
              </a:lnSpc>
            </a:pPr>
            <a:r>
              <a:rPr sz="1300" b="0" i="0">
                <a:solidFill>
                  <a:srgbClr val="0B0B0B"/>
                </a:solidFill>
                <a:latin typeface="Segoe UI"/>
              </a:rPr>
              <a:t>¿Se recupera tras un salto brusco?</a:t>
            </a:r>
          </a:p>
        </p:txBody>
      </p:sp>
      <p:sp>
        <p:nvSpPr>
          <p:cNvPr id="30" name="Rounded Rectangle 29"/>
          <p:cNvSpPr/>
          <p:nvPr/>
        </p:nvSpPr>
        <p:spPr>
          <a:xfrm>
            <a:off x="9582912" y="1417320"/>
            <a:ext cx="2148840" cy="480060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1" name="TextBox 30"/>
          <p:cNvSpPr txBox="1"/>
          <p:nvPr/>
        </p:nvSpPr>
        <p:spPr>
          <a:xfrm>
            <a:off x="9765792" y="1600200"/>
            <a:ext cx="1783080" cy="365760"/>
          </a:xfrm>
          <a:prstGeom prst="rect">
            <a:avLst/>
          </a:prstGeom>
          <a:noFill/>
        </p:spPr>
        <p:txBody>
          <a:bodyPr wrap="square" lIns="0" rIns="0" tIns="0" bIns="0" anchor="t">
            <a:spAutoFit/>
          </a:bodyPr>
          <a:lstStyle/>
          <a:p>
            <a:pPr algn="l">
              <a:lnSpc>
                <a:spcPct val="110000"/>
              </a:lnSpc>
            </a:pPr>
            <a:r>
              <a:rPr sz="1700" b="1" i="0">
                <a:solidFill>
                  <a:srgbClr val="0B0B0B"/>
                </a:solidFill>
                <a:latin typeface="Segoe UI"/>
              </a:rPr>
              <a:t>Resistencia</a:t>
            </a:r>
          </a:p>
        </p:txBody>
      </p:sp>
      <p:sp>
        <p:nvSpPr>
          <p:cNvPr id="32" name="TextBox 31"/>
          <p:cNvSpPr txBox="1"/>
          <p:nvPr/>
        </p:nvSpPr>
        <p:spPr>
          <a:xfrm>
            <a:off x="9765792" y="2011680"/>
            <a:ext cx="1783080" cy="274320"/>
          </a:xfrm>
          <a:prstGeom prst="rect">
            <a:avLst/>
          </a:prstGeom>
          <a:noFill/>
        </p:spPr>
        <p:txBody>
          <a:bodyPr wrap="square" lIns="0" rIns="0" tIns="0" bIns="0" anchor="t">
            <a:spAutoFit/>
          </a:bodyPr>
          <a:lstStyle/>
          <a:p>
            <a:pPr algn="l">
              <a:lnSpc>
                <a:spcPct val="110000"/>
              </a:lnSpc>
            </a:pPr>
            <a:r>
              <a:rPr sz="1050" b="0" i="0">
                <a:solidFill>
                  <a:srgbClr val="2A78D6"/>
                </a:solidFill>
                <a:latin typeface="Consolas"/>
              </a:rPr>
              <a:t>SCENARIO=soak</a:t>
            </a:r>
          </a:p>
        </p:txBody>
      </p:sp>
      <p:graphicFrame>
        <p:nvGraphicFramePr>
          <p:cNvPr id="33" name="Chart 32"/>
          <p:cNvGraphicFramePr>
            <a:graphicFrameLocks noGrp="1"/>
          </p:cNvGraphicFramePr>
          <p:nvPr/>
        </p:nvGraphicFramePr>
        <p:xfrm>
          <a:off x="9628632" y="2377440"/>
          <a:ext cx="2057400" cy="1828800"/>
        </p:xfrm>
        <a:graphic>
          <a:graphicData uri="http://schemas.openxmlformats.org/drawingml/2006/chart">
            <c:chart xmlns:c="http://schemas.openxmlformats.org/drawingml/2006/chart" r:id="rId7"/>
          </a:graphicData>
        </a:graphic>
      </p:graphicFrame>
      <p:sp>
        <p:nvSpPr>
          <p:cNvPr id="34" name="TextBox 33"/>
          <p:cNvSpPr txBox="1"/>
          <p:nvPr/>
        </p:nvSpPr>
        <p:spPr>
          <a:xfrm>
            <a:off x="9765792" y="4343400"/>
            <a:ext cx="1783080" cy="274320"/>
          </a:xfrm>
          <a:prstGeom prst="rect">
            <a:avLst/>
          </a:prstGeom>
          <a:noFill/>
        </p:spPr>
        <p:txBody>
          <a:bodyPr wrap="square" lIns="0" rIns="0" tIns="0" bIns="0" anchor="t">
            <a:spAutoFit/>
          </a:bodyPr>
          <a:lstStyle/>
          <a:p>
            <a:pPr algn="l">
              <a:lnSpc>
                <a:spcPct val="110000"/>
              </a:lnSpc>
            </a:pPr>
            <a:r>
              <a:rPr sz="1200" b="1" i="0">
                <a:solidFill>
                  <a:srgbClr val="52514E"/>
                </a:solidFill>
                <a:latin typeface="Segoe UI"/>
              </a:rPr>
              <a:t>100 VUs · 2 h</a:t>
            </a:r>
          </a:p>
        </p:txBody>
      </p:sp>
      <p:sp>
        <p:nvSpPr>
          <p:cNvPr id="35" name="TextBox 34"/>
          <p:cNvSpPr txBox="1"/>
          <p:nvPr/>
        </p:nvSpPr>
        <p:spPr>
          <a:xfrm>
            <a:off x="9765792" y="4709160"/>
            <a:ext cx="1783080" cy="1371600"/>
          </a:xfrm>
          <a:prstGeom prst="rect">
            <a:avLst/>
          </a:prstGeom>
          <a:noFill/>
        </p:spPr>
        <p:txBody>
          <a:bodyPr wrap="square" lIns="0" rIns="0" tIns="0" bIns="0" anchor="t">
            <a:spAutoFit/>
          </a:bodyPr>
          <a:lstStyle/>
          <a:p>
            <a:pPr algn="l">
              <a:lnSpc>
                <a:spcPct val="115000"/>
              </a:lnSpc>
            </a:pPr>
            <a:r>
              <a:rPr sz="1300" b="0" i="0">
                <a:solidFill>
                  <a:srgbClr val="0B0B0B"/>
                </a:solidFill>
                <a:latin typeface="Segoe UI"/>
              </a:rPr>
              <a:t>¿Se degrada con las horas? Fugas, GC, conexiones.</a:t>
            </a:r>
          </a:p>
        </p:txBody>
      </p:sp>
      <p:sp>
        <p:nvSpPr>
          <p:cNvPr id="36" name="TextBox 35"/>
          <p:cNvSpPr txBox="1"/>
          <p:nvPr/>
        </p:nvSpPr>
        <p:spPr>
          <a:xfrm>
            <a:off x="548640" y="6263640"/>
            <a:ext cx="10972800" cy="22860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Eje vertical: usuarios virtuales, con la misma escala en las cinco tarjetas para poder compararlas.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1 · TIPOS DE PRUEBA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Carga, estrés, pico y resistencia no son lo mismo</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5</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graphicFrame>
        <p:nvGraphicFramePr>
          <p:cNvPr id="6" name="Table 5"/>
          <p:cNvGraphicFramePr>
            <a:graphicFrameLocks noGrp="1"/>
          </p:cNvGraphicFramePr>
          <p:nvPr/>
        </p:nvGraphicFramePr>
        <p:xfrm>
          <a:off x="548640" y="1463040"/>
          <a:ext cx="11064240" cy="4572000"/>
        </p:xfrm>
        <a:graphic>
          <a:graphicData uri="http://schemas.openxmlformats.org/drawingml/2006/table">
            <a:tbl>
              <a:tblPr firstRow="1" bandRow="1">
                <a:tableStyleId>{2D5ABB26-0587-4C30-8999-92F81FD0307C}</a:tableStyleId>
              </a:tblPr>
              <a:tblGrid>
                <a:gridCol w="1463040"/>
                <a:gridCol w="2400300"/>
                <a:gridCol w="2400300"/>
                <a:gridCol w="2400300"/>
                <a:gridCol w="2400300"/>
              </a:tblGrid>
              <a:tr h="548640">
                <a:tc>
                  <a:txBody>
                    <a:bodyPr wrap="square"/>
                    <a:lstStyle/>
                    <a:p>
                      <a:r>
                        <a:rPr sz="1600" b="1">
                          <a:solidFill>
                            <a:srgbClr val="0B0B0B"/>
                          </a:solidFill>
                          <a:latin typeface="Segoe UI"/>
                        </a:rPr>
                        <a:t/>
                      </a:r>
                    </a:p>
                  </a:txBody>
                  <a:tcPr marL="109728" marR="109728" anchor="ctr">
                    <a:solidFill>
                      <a:srgbClr val="FCFCFB"/>
                    </a:solidFill>
                  </a:tcPr>
                </a:tc>
                <a:tc>
                  <a:txBody>
                    <a:bodyPr wrap="square"/>
                    <a:lstStyle/>
                    <a:p>
                      <a:r>
                        <a:rPr sz="1600" b="1">
                          <a:solidFill>
                            <a:srgbClr val="2A78D6"/>
                          </a:solidFill>
                          <a:latin typeface="Segoe UI"/>
                        </a:rPr>
                        <a:t>Carga</a:t>
                      </a:r>
                    </a:p>
                  </a:txBody>
                  <a:tcPr marL="109728" marR="109728" anchor="ctr">
                    <a:solidFill>
                      <a:srgbClr val="FCFCFB"/>
                    </a:solidFill>
                  </a:tcPr>
                </a:tc>
                <a:tc>
                  <a:txBody>
                    <a:bodyPr wrap="square"/>
                    <a:lstStyle/>
                    <a:p>
                      <a:r>
                        <a:rPr sz="1600" b="1">
                          <a:solidFill>
                            <a:srgbClr val="EB6834"/>
                          </a:solidFill>
                          <a:latin typeface="Segoe UI"/>
                        </a:rPr>
                        <a:t>Estrés</a:t>
                      </a:r>
                    </a:p>
                  </a:txBody>
                  <a:tcPr marL="109728" marR="109728" anchor="ctr">
                    <a:solidFill>
                      <a:srgbClr val="FCFCFB"/>
                    </a:solidFill>
                  </a:tcPr>
                </a:tc>
                <a:tc>
                  <a:txBody>
                    <a:bodyPr wrap="square"/>
                    <a:lstStyle/>
                    <a:p>
                      <a:r>
                        <a:rPr sz="1600" b="1">
                          <a:solidFill>
                            <a:srgbClr val="4A3AA7"/>
                          </a:solidFill>
                          <a:latin typeface="Segoe UI"/>
                        </a:rPr>
                        <a:t>Pico</a:t>
                      </a:r>
                    </a:p>
                  </a:txBody>
                  <a:tcPr marL="109728" marR="109728" anchor="ctr">
                    <a:solidFill>
                      <a:srgbClr val="FCFCFB"/>
                    </a:solidFill>
                  </a:tcPr>
                </a:tc>
                <a:tc>
                  <a:txBody>
                    <a:bodyPr wrap="square"/>
                    <a:lstStyle/>
                    <a:p>
                      <a:r>
                        <a:rPr sz="1600" b="1">
                          <a:solidFill>
                            <a:srgbClr val="1BAF7A"/>
                          </a:solidFill>
                          <a:latin typeface="Segoe UI"/>
                        </a:rPr>
                        <a:t>Resistencia</a:t>
                      </a:r>
                    </a:p>
                  </a:txBody>
                  <a:tcPr marL="109728" marR="109728" anchor="ctr">
                    <a:solidFill>
                      <a:srgbClr val="FCFCFB"/>
                    </a:solidFill>
                  </a:tcPr>
                </a:tc>
              </a:tr>
              <a:tr h="804672">
                <a:tc>
                  <a:txBody>
                    <a:bodyPr wrap="square"/>
                    <a:lstStyle/>
                    <a:p>
                      <a:r>
                        <a:rPr sz="1300" b="1">
                          <a:solidFill>
                            <a:srgbClr val="52514E"/>
                          </a:solidFill>
                          <a:latin typeface="Segoe UI"/>
                        </a:rPr>
                        <a:t>Pregunta</a:t>
                      </a:r>
                    </a:p>
                  </a:txBody>
                  <a:tcPr marL="109728" marR="109728" anchor="ctr">
                    <a:solidFill>
                      <a:srgbClr val="FFFFFF"/>
                    </a:solidFill>
                  </a:tcPr>
                </a:tc>
                <a:tc>
                  <a:txBody>
                    <a:bodyPr wrap="square"/>
                    <a:lstStyle/>
                    <a:p>
                      <a:r>
                        <a:rPr sz="1300">
                          <a:solidFill>
                            <a:srgbClr val="0B0B0B"/>
                          </a:solidFill>
                          <a:latin typeface="Segoe UI"/>
                        </a:rPr>
                        <a:t>¿Cumple el SLO con la demanda esperada?</a:t>
                      </a:r>
                    </a:p>
                  </a:txBody>
                  <a:tcPr marL="109728" marR="109728" anchor="ctr">
                    <a:solidFill>
                      <a:srgbClr val="FFFFFF"/>
                    </a:solidFill>
                  </a:tcPr>
                </a:tc>
                <a:tc>
                  <a:txBody>
                    <a:bodyPr wrap="square"/>
                    <a:lstStyle/>
                    <a:p>
                      <a:r>
                        <a:rPr sz="1300">
                          <a:solidFill>
                            <a:srgbClr val="0B0B0B"/>
                          </a:solidFill>
                          <a:latin typeface="Segoe UI"/>
                        </a:rPr>
                        <a:t>¿Dónde está el límite y cómo falla?</a:t>
                      </a:r>
                    </a:p>
                  </a:txBody>
                  <a:tcPr marL="109728" marR="109728" anchor="ctr">
                    <a:solidFill>
                      <a:srgbClr val="FFFFFF"/>
                    </a:solidFill>
                  </a:tcPr>
                </a:tc>
                <a:tc>
                  <a:txBody>
                    <a:bodyPr wrap="square"/>
                    <a:lstStyle/>
                    <a:p>
                      <a:r>
                        <a:rPr sz="1300">
                          <a:solidFill>
                            <a:srgbClr val="0B0B0B"/>
                          </a:solidFill>
                          <a:latin typeface="Segoe UI"/>
                        </a:rPr>
                        <a:t>¿Aguanta un salto brusco y se recupera?</a:t>
                      </a:r>
                    </a:p>
                  </a:txBody>
                  <a:tcPr marL="109728" marR="109728" anchor="ctr">
                    <a:solidFill>
                      <a:srgbClr val="FFFFFF"/>
                    </a:solidFill>
                  </a:tcPr>
                </a:tc>
                <a:tc>
                  <a:txBody>
                    <a:bodyPr wrap="square"/>
                    <a:lstStyle/>
                    <a:p>
                      <a:r>
                        <a:rPr sz="1300">
                          <a:solidFill>
                            <a:srgbClr val="0B0B0B"/>
                          </a:solidFill>
                          <a:latin typeface="Segoe UI"/>
                        </a:rPr>
                        <a:t>¿Se degrada con el paso de las horas?</a:t>
                      </a:r>
                    </a:p>
                  </a:txBody>
                  <a:tcPr marL="109728" marR="109728" anchor="ctr">
                    <a:solidFill>
                      <a:srgbClr val="FFFFFF"/>
                    </a:solidFill>
                  </a:tcPr>
                </a:tc>
              </a:tr>
              <a:tr h="804672">
                <a:tc>
                  <a:txBody>
                    <a:bodyPr wrap="square"/>
                    <a:lstStyle/>
                    <a:p>
                      <a:r>
                        <a:rPr sz="1300" b="1">
                          <a:solidFill>
                            <a:srgbClr val="52514E"/>
                          </a:solidFill>
                          <a:latin typeface="Segoe UI"/>
                        </a:rPr>
                        <a:t>Perfil</a:t>
                      </a:r>
                    </a:p>
                  </a:txBody>
                  <a:tcPr marL="109728" marR="109728" anchor="ctr">
                    <a:solidFill>
                      <a:srgbClr val="FCFCFB"/>
                    </a:solidFill>
                  </a:tcPr>
                </a:tc>
                <a:tc>
                  <a:txBody>
                    <a:bodyPr wrap="square"/>
                    <a:lstStyle/>
                    <a:p>
                      <a:r>
                        <a:rPr sz="1300">
                          <a:solidFill>
                            <a:srgbClr val="0B0B0B"/>
                          </a:solidFill>
                          <a:latin typeface="Segoe UI"/>
                        </a:rPr>
                        <a:t>Rampa realista hasta el nivel esperado</a:t>
                      </a:r>
                    </a:p>
                  </a:txBody>
                  <a:tcPr marL="109728" marR="109728" anchor="ctr">
                    <a:solidFill>
                      <a:srgbClr val="FCFCFB"/>
                    </a:solidFill>
                  </a:tcPr>
                </a:tc>
                <a:tc>
                  <a:txBody>
                    <a:bodyPr wrap="square"/>
                    <a:lstStyle/>
                    <a:p>
                      <a:r>
                        <a:rPr sz="1300">
                          <a:solidFill>
                            <a:srgbClr val="0B0B0B"/>
                          </a:solidFill>
                          <a:latin typeface="Segoe UI"/>
                        </a:rPr>
                        <a:t>Escalones por encima de lo esperado</a:t>
                      </a:r>
                    </a:p>
                  </a:txBody>
                  <a:tcPr marL="109728" marR="109728" anchor="ctr">
                    <a:solidFill>
                      <a:srgbClr val="FCFCFB"/>
                    </a:solidFill>
                  </a:tcPr>
                </a:tc>
                <a:tc>
                  <a:txBody>
                    <a:bodyPr wrap="square"/>
                    <a:lstStyle/>
                    <a:p>
                      <a:r>
                        <a:rPr sz="1300">
                          <a:solidFill>
                            <a:srgbClr val="0B0B0B"/>
                          </a:solidFill>
                          <a:latin typeface="Segoe UI"/>
                        </a:rPr>
                        <a:t>Salto de ×5 a ×10 en segundos</a:t>
                      </a:r>
                    </a:p>
                  </a:txBody>
                  <a:tcPr marL="109728" marR="109728" anchor="ctr">
                    <a:solidFill>
                      <a:srgbClr val="FCFCFB"/>
                    </a:solidFill>
                  </a:tcPr>
                </a:tc>
                <a:tc>
                  <a:txBody>
                    <a:bodyPr wrap="square"/>
                    <a:lstStyle/>
                    <a:p>
                      <a:r>
                        <a:rPr sz="1300">
                          <a:solidFill>
                            <a:srgbClr val="0B0B0B"/>
                          </a:solidFill>
                          <a:latin typeface="Segoe UI"/>
                        </a:rPr>
                        <a:t>Carga normal, constante</a:t>
                      </a:r>
                    </a:p>
                  </a:txBody>
                  <a:tcPr marL="109728" marR="109728" anchor="ctr">
                    <a:solidFill>
                      <a:srgbClr val="FCFCFB"/>
                    </a:solidFill>
                  </a:tcPr>
                </a:tc>
              </a:tr>
              <a:tr h="804672">
                <a:tc>
                  <a:txBody>
                    <a:bodyPr wrap="square"/>
                    <a:lstStyle/>
                    <a:p>
                      <a:r>
                        <a:rPr sz="1300" b="1">
                          <a:solidFill>
                            <a:srgbClr val="52514E"/>
                          </a:solidFill>
                          <a:latin typeface="Segoe UI"/>
                        </a:rPr>
                        <a:t>Duración</a:t>
                      </a:r>
                    </a:p>
                  </a:txBody>
                  <a:tcPr marL="109728" marR="109728" anchor="ctr">
                    <a:solidFill>
                      <a:srgbClr val="FFFFFF"/>
                    </a:solidFill>
                  </a:tcPr>
                </a:tc>
                <a:tc>
                  <a:txBody>
                    <a:bodyPr wrap="square"/>
                    <a:lstStyle/>
                    <a:p>
                      <a:r>
                        <a:rPr sz="1300">
                          <a:solidFill>
                            <a:srgbClr val="0B0B0B"/>
                          </a:solidFill>
                          <a:latin typeface="Segoe UI"/>
                        </a:rPr>
                        <a:t>Minutos a una hora</a:t>
                      </a:r>
                    </a:p>
                  </a:txBody>
                  <a:tcPr marL="109728" marR="109728" anchor="ctr">
                    <a:solidFill>
                      <a:srgbClr val="FFFFFF"/>
                    </a:solidFill>
                  </a:tcPr>
                </a:tc>
                <a:tc>
                  <a:txBody>
                    <a:bodyPr wrap="square"/>
                    <a:lstStyle/>
                    <a:p>
                      <a:r>
                        <a:rPr sz="1300">
                          <a:solidFill>
                            <a:srgbClr val="0B0B0B"/>
                          </a:solidFill>
                          <a:latin typeface="Segoe UI"/>
                        </a:rPr>
                        <a:t>Hasta encontrar el quiebre</a:t>
                      </a:r>
                    </a:p>
                  </a:txBody>
                  <a:tcPr marL="109728" marR="109728" anchor="ctr">
                    <a:solidFill>
                      <a:srgbClr val="FFFFFF"/>
                    </a:solidFill>
                  </a:tcPr>
                </a:tc>
                <a:tc>
                  <a:txBody>
                    <a:bodyPr wrap="square"/>
                    <a:lstStyle/>
                    <a:p>
                      <a:r>
                        <a:rPr sz="1300">
                          <a:solidFill>
                            <a:srgbClr val="0B0B0B"/>
                          </a:solidFill>
                          <a:latin typeface="Segoe UI"/>
                        </a:rPr>
                        <a:t>Pocos minutos</a:t>
                      </a:r>
                    </a:p>
                  </a:txBody>
                  <a:tcPr marL="109728" marR="109728" anchor="ctr">
                    <a:solidFill>
                      <a:srgbClr val="FFFFFF"/>
                    </a:solidFill>
                  </a:tcPr>
                </a:tc>
                <a:tc>
                  <a:txBody>
                    <a:bodyPr wrap="square"/>
                    <a:lstStyle/>
                    <a:p>
                      <a:r>
                        <a:rPr sz="1300">
                          <a:solidFill>
                            <a:srgbClr val="0B0B0B"/>
                          </a:solidFill>
                          <a:latin typeface="Segoe UI"/>
                        </a:rPr>
                        <a:t>Horas (2 h en el taller)</a:t>
                      </a:r>
                    </a:p>
                  </a:txBody>
                  <a:tcPr marL="109728" marR="109728" anchor="ctr">
                    <a:solidFill>
                      <a:srgbClr val="FFFFFF"/>
                    </a:solidFill>
                  </a:tcPr>
                </a:tc>
              </a:tr>
              <a:tr h="804672">
                <a:tc>
                  <a:txBody>
                    <a:bodyPr wrap="square"/>
                    <a:lstStyle/>
                    <a:p>
                      <a:r>
                        <a:rPr sz="1300" b="1">
                          <a:solidFill>
                            <a:srgbClr val="52514E"/>
                          </a:solidFill>
                          <a:latin typeface="Segoe UI"/>
                        </a:rPr>
                        <a:t>Qué mirar</a:t>
                      </a:r>
                    </a:p>
                  </a:txBody>
                  <a:tcPr marL="109728" marR="109728" anchor="ctr">
                    <a:solidFill>
                      <a:srgbClr val="FCFCFB"/>
                    </a:solidFill>
                  </a:tcPr>
                </a:tc>
                <a:tc>
                  <a:txBody>
                    <a:bodyPr wrap="square"/>
                    <a:lstStyle/>
                    <a:p>
                      <a:r>
                        <a:rPr sz="1300">
                          <a:solidFill>
                            <a:srgbClr val="0B0B0B"/>
                          </a:solidFill>
                          <a:latin typeface="Segoe UI"/>
                        </a:rPr>
                        <a:t>p95/p99 y tasa de error contra el SLO</a:t>
                      </a:r>
                    </a:p>
                  </a:txBody>
                  <a:tcPr marL="109728" marR="109728" anchor="ctr">
                    <a:solidFill>
                      <a:srgbClr val="FCFCFB"/>
                    </a:solidFill>
                  </a:tcPr>
                </a:tc>
                <a:tc>
                  <a:txBody>
                    <a:bodyPr wrap="square"/>
                    <a:lstStyle/>
                    <a:p>
                      <a:r>
                        <a:rPr sz="1300">
                          <a:solidFill>
                            <a:srgbClr val="0B0B0B"/>
                          </a:solidFill>
                          <a:latin typeface="Segoe UI"/>
                        </a:rPr>
                        <a:t>Punto de quiebre y tipo de fallo</a:t>
                      </a:r>
                    </a:p>
                  </a:txBody>
                  <a:tcPr marL="109728" marR="109728" anchor="ctr">
                    <a:solidFill>
                      <a:srgbClr val="FCFCFB"/>
                    </a:solidFill>
                  </a:tcPr>
                </a:tc>
                <a:tc>
                  <a:txBody>
                    <a:bodyPr wrap="square"/>
                    <a:lstStyle/>
                    <a:p>
                      <a:r>
                        <a:rPr sz="1300">
                          <a:solidFill>
                            <a:srgbClr val="0B0B0B"/>
                          </a:solidFill>
                          <a:latin typeface="Segoe UI"/>
                        </a:rPr>
                        <a:t>Tiempo de recuperación</a:t>
                      </a:r>
                    </a:p>
                  </a:txBody>
                  <a:tcPr marL="109728" marR="109728" anchor="ctr">
                    <a:solidFill>
                      <a:srgbClr val="FCFCFB"/>
                    </a:solidFill>
                  </a:tcPr>
                </a:tc>
                <a:tc>
                  <a:txBody>
                    <a:bodyPr wrap="square"/>
                    <a:lstStyle/>
                    <a:p>
                      <a:r>
                        <a:rPr sz="1300">
                          <a:solidFill>
                            <a:srgbClr val="0B0B0B"/>
                          </a:solidFill>
                          <a:latin typeface="Segoe UI"/>
                        </a:rPr>
                        <a:t>Memoria, GC, conexiones abiertas</a:t>
                      </a:r>
                    </a:p>
                  </a:txBody>
                  <a:tcPr marL="109728" marR="109728" anchor="ctr">
                    <a:solidFill>
                      <a:srgbClr val="FCFCFB"/>
                    </a:solidFill>
                  </a:tcPr>
                </a:tc>
              </a:tr>
              <a:tr h="804672">
                <a:tc>
                  <a:txBody>
                    <a:bodyPr wrap="square"/>
                    <a:lstStyle/>
                    <a:p>
                      <a:r>
                        <a:rPr sz="1300" b="1">
                          <a:solidFill>
                            <a:srgbClr val="52514E"/>
                          </a:solidFill>
                          <a:latin typeface="Segoe UI"/>
                        </a:rPr>
                        <a:t>Alarma</a:t>
                      </a:r>
                    </a:p>
                  </a:txBody>
                  <a:tcPr marL="109728" marR="109728" anchor="ctr">
                    <a:solidFill>
                      <a:srgbClr val="FFFFFF"/>
                    </a:solidFill>
                  </a:tcPr>
                </a:tc>
                <a:tc>
                  <a:txBody>
                    <a:bodyPr wrap="square"/>
                    <a:lstStyle/>
                    <a:p>
                      <a:r>
                        <a:rPr sz="1300">
                          <a:solidFill>
                            <a:srgbClr val="0B0B0B"/>
                          </a:solidFill>
                          <a:latin typeface="Segoe UI"/>
                        </a:rPr>
                        <a:t>p95 &gt; 300 ms o errores &gt; 1 %</a:t>
                      </a:r>
                    </a:p>
                  </a:txBody>
                  <a:tcPr marL="109728" marR="109728" anchor="ctr">
                    <a:solidFill>
                      <a:srgbClr val="FFFFFF"/>
                    </a:solidFill>
                  </a:tcPr>
                </a:tc>
                <a:tc>
                  <a:txBody>
                    <a:bodyPr wrap="square"/>
                    <a:lstStyle/>
                    <a:p>
                      <a:r>
                        <a:rPr sz="1300">
                          <a:solidFill>
                            <a:srgbClr val="0B0B0B"/>
                          </a:solidFill>
                          <a:latin typeface="Segoe UI"/>
                        </a:rPr>
                        <a:t>Errores que no bajan al quitar carga</a:t>
                      </a:r>
                    </a:p>
                  </a:txBody>
                  <a:tcPr marL="109728" marR="109728" anchor="ctr">
                    <a:solidFill>
                      <a:srgbClr val="FFFFFF"/>
                    </a:solidFill>
                  </a:tcPr>
                </a:tc>
                <a:tc>
                  <a:txBody>
                    <a:bodyPr wrap="square"/>
                    <a:lstStyle/>
                    <a:p>
                      <a:r>
                        <a:rPr sz="1300">
                          <a:solidFill>
                            <a:srgbClr val="0B0B0B"/>
                          </a:solidFill>
                          <a:latin typeface="Segoe UI"/>
                        </a:rPr>
                        <a:t>Latencia que no vuelve a la base</a:t>
                      </a:r>
                    </a:p>
                  </a:txBody>
                  <a:tcPr marL="109728" marR="109728" anchor="ctr">
                    <a:solidFill>
                      <a:srgbClr val="FFFFFF"/>
                    </a:solidFill>
                  </a:tcPr>
                </a:tc>
                <a:tc>
                  <a:txBody>
                    <a:bodyPr wrap="square"/>
                    <a:lstStyle/>
                    <a:p>
                      <a:r>
                        <a:rPr sz="1300">
                          <a:solidFill>
                            <a:srgbClr val="0B0B0B"/>
                          </a:solidFill>
                          <a:latin typeface="Segoe UI"/>
                        </a:rPr>
                        <a:t>Memoria que sube y no baja</a:t>
                      </a:r>
                    </a:p>
                  </a:txBody>
                  <a:tcPr marL="109728" marR="109728"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1 · PERCENTILES</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Promedio: 78 ms. El 1 % más lento: más de 1,05 s.</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6</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graphicFrame>
        <p:nvGraphicFramePr>
          <p:cNvPr id="6" name="Chart 5"/>
          <p:cNvGraphicFramePr>
            <a:graphicFrameLocks noGrp="1"/>
          </p:cNvGraphicFramePr>
          <p:nvPr/>
        </p:nvGraphicFramePr>
        <p:xfrm>
          <a:off x="457200" y="1463040"/>
          <a:ext cx="7772400" cy="4480560"/>
        </p:xfrm>
        <a:graphic>
          <a:graphicData uri="http://schemas.openxmlformats.org/drawingml/2006/chart">
            <c:chart xmlns:c="http://schemas.openxmlformats.org/drawingml/2006/chart" r:id="rId3"/>
          </a:graphicData>
        </a:graphic>
      </p:graphicFrame>
      <p:cxnSp>
        <p:nvCxnSpPr>
          <p:cNvPr id="7" name="Connector 6"/>
          <p:cNvCxnSpPr/>
          <p:nvPr/>
        </p:nvCxnSpPr>
        <p:spPr>
          <a:xfrm>
            <a:off x="3425548" y="2007108"/>
            <a:ext cx="0" cy="3264408"/>
          </a:xfrm>
          <a:prstGeom prst="line">
            <a:avLst/>
          </a:prstGeom>
          <a:ln w="15875">
            <a:solidFill>
              <a:srgbClr val="52514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480412" y="1732788"/>
            <a:ext cx="2011680" cy="274320"/>
          </a:xfrm>
          <a:prstGeom prst="rect">
            <a:avLst/>
          </a:prstGeom>
          <a:noFill/>
        </p:spPr>
        <p:txBody>
          <a:bodyPr wrap="square" lIns="0" rIns="0" tIns="0" bIns="0" anchor="t">
            <a:spAutoFit/>
          </a:bodyPr>
          <a:lstStyle/>
          <a:p>
            <a:pPr algn="l">
              <a:lnSpc>
                <a:spcPct val="110000"/>
              </a:lnSpc>
            </a:pPr>
            <a:r>
              <a:rPr sz="1100" b="1" i="0">
                <a:solidFill>
                  <a:srgbClr val="52514E"/>
                </a:solidFill>
                <a:latin typeface="Segoe UI"/>
              </a:rPr>
              <a:t>p50 26 ms</a:t>
            </a:r>
          </a:p>
        </p:txBody>
      </p:sp>
      <p:cxnSp>
        <p:nvCxnSpPr>
          <p:cNvPr id="9" name="Connector 8"/>
          <p:cNvCxnSpPr/>
          <p:nvPr/>
        </p:nvCxnSpPr>
        <p:spPr>
          <a:xfrm>
            <a:off x="4555482" y="2318004"/>
            <a:ext cx="0" cy="2953512"/>
          </a:xfrm>
          <a:prstGeom prst="line">
            <a:avLst/>
          </a:prstGeom>
          <a:ln w="15875">
            <a:solidFill>
              <a:srgbClr val="52514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610346" y="2043684"/>
            <a:ext cx="2011680" cy="274320"/>
          </a:xfrm>
          <a:prstGeom prst="rect">
            <a:avLst/>
          </a:prstGeom>
          <a:noFill/>
        </p:spPr>
        <p:txBody>
          <a:bodyPr wrap="square" lIns="0" rIns="0" tIns="0" bIns="0" anchor="t">
            <a:spAutoFit/>
          </a:bodyPr>
          <a:lstStyle/>
          <a:p>
            <a:pPr algn="l">
              <a:lnSpc>
                <a:spcPct val="110000"/>
              </a:lnSpc>
            </a:pPr>
            <a:r>
              <a:rPr sz="1100" b="1" i="0">
                <a:solidFill>
                  <a:srgbClr val="52514E"/>
                </a:solidFill>
                <a:latin typeface="Segoe UI"/>
              </a:rPr>
              <a:t>promedio 78 ms</a:t>
            </a:r>
          </a:p>
        </p:txBody>
      </p:sp>
      <p:cxnSp>
        <p:nvCxnSpPr>
          <p:cNvPr id="11" name="Connector 10"/>
          <p:cNvCxnSpPr/>
          <p:nvPr/>
        </p:nvCxnSpPr>
        <p:spPr>
          <a:xfrm>
            <a:off x="6141595" y="2628900"/>
            <a:ext cx="0" cy="2642616"/>
          </a:xfrm>
          <a:prstGeom prst="line">
            <a:avLst/>
          </a:prstGeom>
          <a:ln w="25400">
            <a:solidFill>
              <a:srgbClr val="EB683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96459" y="2354580"/>
            <a:ext cx="2011680" cy="274320"/>
          </a:xfrm>
          <a:prstGeom prst="rect">
            <a:avLst/>
          </a:prstGeom>
          <a:noFill/>
        </p:spPr>
        <p:txBody>
          <a:bodyPr wrap="square" lIns="0" rIns="0" tIns="0" bIns="0" anchor="t">
            <a:spAutoFit/>
          </a:bodyPr>
          <a:lstStyle/>
          <a:p>
            <a:pPr algn="l">
              <a:lnSpc>
                <a:spcPct val="110000"/>
              </a:lnSpc>
            </a:pPr>
            <a:r>
              <a:rPr sz="1100" b="1" i="0">
                <a:solidFill>
                  <a:srgbClr val="EB6834"/>
                </a:solidFill>
                <a:latin typeface="Segoe UI"/>
              </a:rPr>
              <a:t>p95 377 ms</a:t>
            </a:r>
          </a:p>
        </p:txBody>
      </p:sp>
      <p:cxnSp>
        <p:nvCxnSpPr>
          <p:cNvPr id="13" name="Connector 12"/>
          <p:cNvCxnSpPr/>
          <p:nvPr/>
        </p:nvCxnSpPr>
        <p:spPr>
          <a:xfrm>
            <a:off x="7170605" y="2939796"/>
            <a:ext cx="0" cy="2331720"/>
          </a:xfrm>
          <a:prstGeom prst="line">
            <a:avLst/>
          </a:prstGeom>
          <a:ln w="25400">
            <a:solidFill>
              <a:srgbClr val="D03B3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225469" y="2665476"/>
            <a:ext cx="2011680" cy="274320"/>
          </a:xfrm>
          <a:prstGeom prst="rect">
            <a:avLst/>
          </a:prstGeom>
          <a:noFill/>
        </p:spPr>
        <p:txBody>
          <a:bodyPr wrap="square" lIns="0" rIns="0" tIns="0" bIns="0" anchor="t">
            <a:spAutoFit/>
          </a:bodyPr>
          <a:lstStyle/>
          <a:p>
            <a:pPr algn="l">
              <a:lnSpc>
                <a:spcPct val="110000"/>
              </a:lnSpc>
            </a:pPr>
            <a:r>
              <a:rPr sz="1100" b="1" i="0">
                <a:solidFill>
                  <a:srgbClr val="D03B3B"/>
                </a:solidFill>
                <a:latin typeface="Segoe UI"/>
              </a:rPr>
              <a:t>p99 1,05 s</a:t>
            </a:r>
          </a:p>
        </p:txBody>
      </p:sp>
      <p:sp>
        <p:nvSpPr>
          <p:cNvPr id="15" name="TextBox 14"/>
          <p:cNvSpPr txBox="1"/>
          <p:nvPr/>
        </p:nvSpPr>
        <p:spPr>
          <a:xfrm>
            <a:off x="8549640" y="1554480"/>
            <a:ext cx="315468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Cómo leerlo</a:t>
            </a:r>
          </a:p>
        </p:txBody>
      </p:sp>
      <p:sp>
        <p:nvSpPr>
          <p:cNvPr id="16" name="TextBox 15"/>
          <p:cNvSpPr txBox="1"/>
          <p:nvPr/>
        </p:nvSpPr>
        <p:spPr>
          <a:xfrm>
            <a:off x="8549640" y="1847088"/>
            <a:ext cx="3154680" cy="10972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Cada barra es la fracción de peticiones que tardó ese tiempo. Las barras de la derecha son los usuarios con peor suerte.</a:t>
            </a:r>
          </a:p>
        </p:txBody>
      </p:sp>
      <p:sp>
        <p:nvSpPr>
          <p:cNvPr id="17" name="TextBox 16"/>
          <p:cNvSpPr txBox="1"/>
          <p:nvPr/>
        </p:nvSpPr>
        <p:spPr>
          <a:xfrm>
            <a:off x="8549640" y="3154680"/>
            <a:ext cx="914400" cy="365760"/>
          </a:xfrm>
          <a:prstGeom prst="rect">
            <a:avLst/>
          </a:prstGeom>
          <a:noFill/>
        </p:spPr>
        <p:txBody>
          <a:bodyPr wrap="square" lIns="0" rIns="0" tIns="0" bIns="0" anchor="t">
            <a:spAutoFit/>
          </a:bodyPr>
          <a:lstStyle/>
          <a:p>
            <a:pPr algn="l">
              <a:lnSpc>
                <a:spcPct val="110000"/>
              </a:lnSpc>
            </a:pPr>
            <a:r>
              <a:rPr sz="1600" b="1" i="0">
                <a:solidFill>
                  <a:srgbClr val="52514E"/>
                </a:solidFill>
                <a:latin typeface="Segoe UI"/>
              </a:rPr>
              <a:t>p50</a:t>
            </a:r>
          </a:p>
        </p:txBody>
      </p:sp>
      <p:sp>
        <p:nvSpPr>
          <p:cNvPr id="18" name="TextBox 17"/>
          <p:cNvSpPr txBox="1"/>
          <p:nvPr/>
        </p:nvSpPr>
        <p:spPr>
          <a:xfrm>
            <a:off x="9326880" y="3154680"/>
            <a:ext cx="23774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26 ms</a:t>
            </a:r>
          </a:p>
        </p:txBody>
      </p:sp>
      <p:sp>
        <p:nvSpPr>
          <p:cNvPr id="19" name="TextBox 18"/>
          <p:cNvSpPr txBox="1"/>
          <p:nvPr/>
        </p:nvSpPr>
        <p:spPr>
          <a:xfrm>
            <a:off x="9326880" y="3474720"/>
            <a:ext cx="2377440" cy="274320"/>
          </a:xfrm>
          <a:prstGeom prst="rect">
            <a:avLst/>
          </a:prstGeom>
          <a:noFill/>
        </p:spPr>
        <p:txBody>
          <a:bodyPr wrap="square" lIns="0" rIns="0" tIns="0" bIns="0" anchor="t">
            <a:spAutoFit/>
          </a:bodyPr>
          <a:lstStyle/>
          <a:p>
            <a:pPr algn="l">
              <a:lnSpc>
                <a:spcPct val="110000"/>
              </a:lnSpc>
            </a:pPr>
            <a:r>
              <a:rPr sz="1100" b="0" i="0">
                <a:solidFill>
                  <a:srgbClr val="52514E"/>
                </a:solidFill>
                <a:latin typeface="Segoe UI"/>
              </a:rPr>
              <a:t>la mitad tardó menos</a:t>
            </a:r>
          </a:p>
        </p:txBody>
      </p:sp>
      <p:sp>
        <p:nvSpPr>
          <p:cNvPr id="20" name="TextBox 19"/>
          <p:cNvSpPr txBox="1"/>
          <p:nvPr/>
        </p:nvSpPr>
        <p:spPr>
          <a:xfrm>
            <a:off x="8549640" y="3886200"/>
            <a:ext cx="914400" cy="365760"/>
          </a:xfrm>
          <a:prstGeom prst="rect">
            <a:avLst/>
          </a:prstGeom>
          <a:noFill/>
        </p:spPr>
        <p:txBody>
          <a:bodyPr wrap="square" lIns="0" rIns="0" tIns="0" bIns="0" anchor="t">
            <a:spAutoFit/>
          </a:bodyPr>
          <a:lstStyle/>
          <a:p>
            <a:pPr algn="l">
              <a:lnSpc>
                <a:spcPct val="110000"/>
              </a:lnSpc>
            </a:pPr>
            <a:r>
              <a:rPr sz="1600" b="1" i="0">
                <a:solidFill>
                  <a:srgbClr val="EB6834"/>
                </a:solidFill>
                <a:latin typeface="Segoe UI"/>
              </a:rPr>
              <a:t>p95</a:t>
            </a:r>
          </a:p>
        </p:txBody>
      </p:sp>
      <p:sp>
        <p:nvSpPr>
          <p:cNvPr id="21" name="TextBox 20"/>
          <p:cNvSpPr txBox="1"/>
          <p:nvPr/>
        </p:nvSpPr>
        <p:spPr>
          <a:xfrm>
            <a:off x="9326880" y="3886200"/>
            <a:ext cx="23774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377 ms</a:t>
            </a:r>
          </a:p>
        </p:txBody>
      </p:sp>
      <p:sp>
        <p:nvSpPr>
          <p:cNvPr id="22" name="TextBox 21"/>
          <p:cNvSpPr txBox="1"/>
          <p:nvPr/>
        </p:nvSpPr>
        <p:spPr>
          <a:xfrm>
            <a:off x="9326880" y="4206240"/>
            <a:ext cx="2377440" cy="274320"/>
          </a:xfrm>
          <a:prstGeom prst="rect">
            <a:avLst/>
          </a:prstGeom>
          <a:noFill/>
        </p:spPr>
        <p:txBody>
          <a:bodyPr wrap="square" lIns="0" rIns="0" tIns="0" bIns="0" anchor="t">
            <a:spAutoFit/>
          </a:bodyPr>
          <a:lstStyle/>
          <a:p>
            <a:pPr algn="l">
              <a:lnSpc>
                <a:spcPct val="110000"/>
              </a:lnSpc>
            </a:pPr>
            <a:r>
              <a:rPr sz="1100" b="0" i="0">
                <a:solidFill>
                  <a:srgbClr val="52514E"/>
                </a:solidFill>
                <a:latin typeface="Segoe UI"/>
              </a:rPr>
              <a:t>95 de cada 100 tardaron menos</a:t>
            </a:r>
          </a:p>
        </p:txBody>
      </p:sp>
      <p:sp>
        <p:nvSpPr>
          <p:cNvPr id="23" name="TextBox 22"/>
          <p:cNvSpPr txBox="1"/>
          <p:nvPr/>
        </p:nvSpPr>
        <p:spPr>
          <a:xfrm>
            <a:off x="8549640" y="4617720"/>
            <a:ext cx="914400" cy="365760"/>
          </a:xfrm>
          <a:prstGeom prst="rect">
            <a:avLst/>
          </a:prstGeom>
          <a:noFill/>
        </p:spPr>
        <p:txBody>
          <a:bodyPr wrap="square" lIns="0" rIns="0" tIns="0" bIns="0" anchor="t">
            <a:spAutoFit/>
          </a:bodyPr>
          <a:lstStyle/>
          <a:p>
            <a:pPr algn="l">
              <a:lnSpc>
                <a:spcPct val="110000"/>
              </a:lnSpc>
            </a:pPr>
            <a:r>
              <a:rPr sz="1600" b="1" i="0">
                <a:solidFill>
                  <a:srgbClr val="D03B3B"/>
                </a:solidFill>
                <a:latin typeface="Segoe UI"/>
              </a:rPr>
              <a:t>p99</a:t>
            </a:r>
          </a:p>
        </p:txBody>
      </p:sp>
      <p:sp>
        <p:nvSpPr>
          <p:cNvPr id="24" name="TextBox 23"/>
          <p:cNvSpPr txBox="1"/>
          <p:nvPr/>
        </p:nvSpPr>
        <p:spPr>
          <a:xfrm>
            <a:off x="9326880" y="4617720"/>
            <a:ext cx="23774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1,05 s</a:t>
            </a:r>
          </a:p>
        </p:txBody>
      </p:sp>
      <p:sp>
        <p:nvSpPr>
          <p:cNvPr id="25" name="TextBox 24"/>
          <p:cNvSpPr txBox="1"/>
          <p:nvPr/>
        </p:nvSpPr>
        <p:spPr>
          <a:xfrm>
            <a:off x="9326880" y="4937760"/>
            <a:ext cx="2377440" cy="274320"/>
          </a:xfrm>
          <a:prstGeom prst="rect">
            <a:avLst/>
          </a:prstGeom>
          <a:noFill/>
        </p:spPr>
        <p:txBody>
          <a:bodyPr wrap="square" lIns="0" rIns="0" tIns="0" bIns="0" anchor="t">
            <a:spAutoFit/>
          </a:bodyPr>
          <a:lstStyle/>
          <a:p>
            <a:pPr algn="l">
              <a:lnSpc>
                <a:spcPct val="110000"/>
              </a:lnSpc>
            </a:pPr>
            <a:r>
              <a:rPr sz="1100" b="0" i="0">
                <a:solidFill>
                  <a:srgbClr val="52514E"/>
                </a:solidFill>
                <a:latin typeface="Segoe UI"/>
              </a:rPr>
              <a:t>99 de cada 100 tardaron menos</a:t>
            </a:r>
          </a:p>
        </p:txBody>
      </p:sp>
      <p:sp>
        <p:nvSpPr>
          <p:cNvPr id="26" name="TextBox 25"/>
          <p:cNvSpPr txBox="1"/>
          <p:nvPr/>
        </p:nvSpPr>
        <p:spPr>
          <a:xfrm>
            <a:off x="8549640" y="5394960"/>
            <a:ext cx="3154680" cy="548640"/>
          </a:xfrm>
          <a:prstGeom prst="rect">
            <a:avLst/>
          </a:prstGeom>
          <a:noFill/>
        </p:spPr>
        <p:txBody>
          <a:bodyPr wrap="square" lIns="0" rIns="0" tIns="0" bIns="0" anchor="t">
            <a:spAutoFit/>
          </a:bodyPr>
          <a:lstStyle/>
          <a:p>
            <a:pPr algn="l">
              <a:lnSpc>
                <a:spcPct val="110000"/>
              </a:lnSpc>
            </a:pPr>
            <a:r>
              <a:rPr sz="1400" b="1" i="0">
                <a:solidFill>
                  <a:srgbClr val="0B0B0B"/>
                </a:solidFill>
                <a:latin typeface="Segoe UI"/>
              </a:rPr>
              <a:t>El p99 es 13 veces el promedio.</a:t>
            </a:r>
          </a:p>
        </p:txBody>
      </p:sp>
      <p:sp>
        <p:nvSpPr>
          <p:cNvPr id="27" name="TextBox 26"/>
          <p:cNvSpPr txBox="1"/>
          <p:nvPr/>
        </p:nvSpPr>
        <p:spPr>
          <a:xfrm>
            <a:off x="548640" y="6053328"/>
            <a:ext cx="11064240" cy="365760"/>
          </a:xfrm>
          <a:prstGeom prst="rect">
            <a:avLst/>
          </a:prstGeom>
          <a:noFill/>
        </p:spPr>
        <p:txBody>
          <a:bodyPr wrap="square" lIns="0" rIns="0" tIns="0" bIns="0" anchor="t">
            <a:spAutoFit/>
          </a:bodyPr>
          <a:lstStyle/>
          <a:p>
            <a:pPr algn="l">
              <a:lnSpc>
                <a:spcPct val="105000"/>
              </a:lnSpc>
            </a:pPr>
            <a:r>
              <a:rPr sz="900" b="0" i="0">
                <a:solidFill>
                  <a:srgbClr val="898781"/>
                </a:solidFill>
                <a:latin typeface="Segoe UI"/>
              </a:rPr>
              <a:t>Fuente: 34.776 peticiones, 100 VUs, 30 s, código sin pool. k6 1.3 contra la registraduría del taller (Spring Boot 2.7 + H2 en memoria), portátil i7-13620H. Servicio fijado a 1 núcleo y k6 a otros 14 hilos, para que el cuello de botella fuera el servidor y no el inyector.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7" name="Rounded Rectangle 6"/>
          <p:cNvSpPr/>
          <p:nvPr/>
        </p:nvSpPr>
        <p:spPr>
          <a:xfrm>
            <a:off x="2781299" y="2922809"/>
            <a:ext cx="2974848" cy="1439322"/>
          </a:xfrm>
          <a:prstGeom prst="roundRect">
            <a:avLst>
              <a:gd name="adj" fmla="val 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2 · QUÉ PASA AL SATURAR</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Más usuarios no es más throughput: es más espera</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7</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graphicFrame>
        <p:nvGraphicFramePr>
          <p:cNvPr id="6" name="Chart 5"/>
          <p:cNvGraphicFramePr>
            <a:graphicFrameLocks noGrp="1"/>
          </p:cNvGraphicFramePr>
          <p:nvPr/>
        </p:nvGraphicFramePr>
        <p:xfrm>
          <a:off x="457200" y="1417320"/>
          <a:ext cx="5577840" cy="4480560"/>
        </p:xfrm>
        <a:graphic>
          <a:graphicData uri="http://schemas.openxmlformats.org/drawingml/2006/chart">
            <c:chart xmlns:c="http://schemas.openxmlformats.org/drawingml/2006/chart" r:id="rId3"/>
          </a:graphicData>
        </a:graphic>
      </p:graphicFrame>
      <p:sp>
        <p:nvSpPr>
          <p:cNvPr id="8" name="TextBox 7"/>
          <p:cNvSpPr txBox="1"/>
          <p:nvPr/>
        </p:nvSpPr>
        <p:spPr>
          <a:xfrm>
            <a:off x="548640" y="1417320"/>
            <a:ext cx="5303520" cy="32004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Throughput</a:t>
            </a:r>
          </a:p>
        </p:txBody>
      </p:sp>
      <p:sp>
        <p:nvSpPr>
          <p:cNvPr id="9" name="TextBox 8"/>
          <p:cNvSpPr txBox="1"/>
          <p:nvPr/>
        </p:nvSpPr>
        <p:spPr>
          <a:xfrm>
            <a:off x="548640" y="1719072"/>
            <a:ext cx="530352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puntos: cada corrida · franja: rango entre corridas desde 10 VUs</a:t>
            </a:r>
          </a:p>
        </p:txBody>
      </p:sp>
      <p:sp>
        <p:nvSpPr>
          <p:cNvPr id="10" name="TextBox 9"/>
          <p:cNvSpPr txBox="1"/>
          <p:nvPr/>
        </p:nvSpPr>
        <p:spPr>
          <a:xfrm>
            <a:off x="2872739" y="4407852"/>
            <a:ext cx="4206240" cy="274320"/>
          </a:xfrm>
          <a:prstGeom prst="rect">
            <a:avLst/>
          </a:prstGeom>
          <a:noFill/>
        </p:spPr>
        <p:txBody>
          <a:bodyPr wrap="square" lIns="0" rIns="0" tIns="0" bIns="0" anchor="t">
            <a:spAutoFit/>
          </a:bodyPr>
          <a:lstStyle/>
          <a:p>
            <a:pPr algn="l">
              <a:lnSpc>
                <a:spcPct val="110000"/>
              </a:lnSpc>
            </a:pPr>
            <a:r>
              <a:rPr sz="1050" b="1" i="0">
                <a:solidFill>
                  <a:srgbClr val="52514E"/>
                </a:solidFill>
                <a:latin typeface="Segoe UI"/>
              </a:rPr>
              <a:t>techo ≈ 7.000 req/s; entre 3.900 y 10.800 según la corrida</a:t>
            </a:r>
          </a:p>
        </p:txBody>
      </p:sp>
      <p:graphicFrame>
        <p:nvGraphicFramePr>
          <p:cNvPr id="11" name="Chart 10"/>
          <p:cNvGraphicFramePr>
            <a:graphicFrameLocks noGrp="1"/>
          </p:cNvGraphicFramePr>
          <p:nvPr/>
        </p:nvGraphicFramePr>
        <p:xfrm>
          <a:off x="6172200" y="1417320"/>
          <a:ext cx="5577840" cy="4480560"/>
        </p:xfrm>
        <a:graphic>
          <a:graphicData uri="http://schemas.openxmlformats.org/drawingml/2006/chart">
            <c:chart xmlns:c="http://schemas.openxmlformats.org/drawingml/2006/chart" r:id="rId4"/>
          </a:graphicData>
        </a:graphic>
      </p:graphicFrame>
      <p:sp>
        <p:nvSpPr>
          <p:cNvPr id="12" name="TextBox 11"/>
          <p:cNvSpPr txBox="1"/>
          <p:nvPr/>
        </p:nvSpPr>
        <p:spPr>
          <a:xfrm>
            <a:off x="6263640" y="1417320"/>
            <a:ext cx="5303520" cy="32004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Tiempo de respuesta (p95)</a:t>
            </a:r>
          </a:p>
        </p:txBody>
      </p:sp>
      <p:sp>
        <p:nvSpPr>
          <p:cNvPr id="13" name="TextBox 12"/>
          <p:cNvSpPr txBox="1"/>
          <p:nvPr/>
        </p:nvSpPr>
        <p:spPr>
          <a:xfrm>
            <a:off x="6263640" y="1719072"/>
            <a:ext cx="530352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línea: promedio · puntos claros: cada corrida</a:t>
            </a:r>
          </a:p>
        </p:txBody>
      </p:sp>
      <p:sp>
        <p:nvSpPr>
          <p:cNvPr id="14" name="TextBox 13"/>
          <p:cNvSpPr txBox="1"/>
          <p:nvPr/>
        </p:nvSpPr>
        <p:spPr>
          <a:xfrm>
            <a:off x="9066604" y="3485922"/>
            <a:ext cx="2011680" cy="274320"/>
          </a:xfrm>
          <a:prstGeom prst="rect">
            <a:avLst/>
          </a:prstGeom>
          <a:noFill/>
        </p:spPr>
        <p:txBody>
          <a:bodyPr wrap="square" lIns="0" rIns="0" tIns="0" bIns="0" anchor="t">
            <a:spAutoFit/>
          </a:bodyPr>
          <a:lstStyle/>
          <a:p>
            <a:pPr algn="r">
              <a:lnSpc>
                <a:spcPct val="110000"/>
              </a:lnSpc>
            </a:pPr>
            <a:r>
              <a:rPr sz="1100" b="1" i="0">
                <a:solidFill>
                  <a:srgbClr val="EB6834"/>
                </a:solidFill>
                <a:latin typeface="Segoe UI"/>
              </a:rPr>
              <a:t>p95 202 ms</a:t>
            </a:r>
          </a:p>
        </p:txBody>
      </p:sp>
      <p:sp>
        <p:nvSpPr>
          <p:cNvPr id="15" name="Rounded Rectangle 14"/>
          <p:cNvSpPr/>
          <p:nvPr/>
        </p:nvSpPr>
        <p:spPr>
          <a:xfrm>
            <a:off x="7034479" y="2090318"/>
            <a:ext cx="3063240" cy="100584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6" name="TextBox 15"/>
          <p:cNvSpPr txBox="1"/>
          <p:nvPr/>
        </p:nvSpPr>
        <p:spPr>
          <a:xfrm>
            <a:off x="7171639" y="2181758"/>
            <a:ext cx="2834640" cy="274320"/>
          </a:xfrm>
          <a:prstGeom prst="rect">
            <a:avLst/>
          </a:prstGeom>
          <a:noFill/>
        </p:spPr>
        <p:txBody>
          <a:bodyPr wrap="square" lIns="0" rIns="0" tIns="0" bIns="0" anchor="t">
            <a:spAutoFit/>
          </a:bodyPr>
          <a:lstStyle/>
          <a:p>
            <a:pPr algn="l">
              <a:lnSpc>
                <a:spcPct val="110000"/>
              </a:lnSpc>
            </a:pPr>
            <a:r>
              <a:rPr sz="1100" b="1" i="0">
                <a:solidFill>
                  <a:srgbClr val="0B0B0B"/>
                </a:solidFill>
                <a:latin typeface="Segoe UI"/>
              </a:rPr>
              <a:t>Ley de Little con 800 VUs</a:t>
            </a:r>
          </a:p>
        </p:txBody>
      </p:sp>
      <p:sp>
        <p:nvSpPr>
          <p:cNvPr id="17" name="TextBox 16"/>
          <p:cNvSpPr txBox="1"/>
          <p:nvPr/>
        </p:nvSpPr>
        <p:spPr>
          <a:xfrm>
            <a:off x="7171639" y="2456078"/>
            <a:ext cx="2834640" cy="548640"/>
          </a:xfrm>
          <a:prstGeom prst="rect">
            <a:avLst/>
          </a:prstGeom>
          <a:noFill/>
        </p:spPr>
        <p:txBody>
          <a:bodyPr wrap="square" lIns="0" rIns="0" tIns="0" bIns="0" anchor="t">
            <a:spAutoFit/>
          </a:bodyPr>
          <a:lstStyle/>
          <a:p>
            <a:pPr algn="l">
              <a:lnSpc>
                <a:spcPct val="120000"/>
              </a:lnSpc>
            </a:pPr>
            <a:r>
              <a:rPr sz="1100" b="0" i="0">
                <a:solidFill>
                  <a:srgbClr val="52514E"/>
                </a:solidFill>
                <a:latin typeface="Consolas"/>
              </a:rPr>
              <a:t>800 ÷ 7.042 req/s = 114 ms
iteración medida:  106 ms</a:t>
            </a:r>
          </a:p>
        </p:txBody>
      </p:sp>
      <p:sp>
        <p:nvSpPr>
          <p:cNvPr id="18" name="TextBox 17"/>
          <p:cNvSpPr txBox="1"/>
          <p:nvPr/>
        </p:nvSpPr>
        <p:spPr>
          <a:xfrm>
            <a:off x="548640" y="6053328"/>
            <a:ext cx="11064240" cy="365760"/>
          </a:xfrm>
          <a:prstGeom prst="rect">
            <a:avLst/>
          </a:prstGeom>
          <a:noFill/>
        </p:spPr>
        <p:txBody>
          <a:bodyPr wrap="square" lIns="0" rIns="0" tIns="0" bIns="0" anchor="t">
            <a:spAutoFit/>
          </a:bodyPr>
          <a:lstStyle/>
          <a:p>
            <a:pPr algn="l">
              <a:lnSpc>
                <a:spcPct val="105000"/>
              </a:lnSpc>
            </a:pPr>
            <a:r>
              <a:rPr sz="900" b="0" i="0">
                <a:solidFill>
                  <a:srgbClr val="898781"/>
                </a:solidFill>
                <a:latin typeface="Segoe UI"/>
              </a:rPr>
              <a:t>Fuente: Servicio con pool, 20 s por escalón, dos corridas. k6 1.3 contra la registraduría del taller (Spring Boot 2.7 + H2 en memoria), portátil i7-13620H. Servicio fijado a 1 núcleo y k6 a otros 14 hilos, para que el cuello de botella fuera el servidor y no el inyector.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2 · CLIENTE VS. SERVIDOR</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Servidor rápido, usuario esperando: los dos tienen razón</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8</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graphicFrame>
        <p:nvGraphicFramePr>
          <p:cNvPr id="6" name="Chart 5"/>
          <p:cNvGraphicFramePr>
            <a:graphicFrameLocks noGrp="1"/>
          </p:cNvGraphicFramePr>
          <p:nvPr/>
        </p:nvGraphicFramePr>
        <p:xfrm>
          <a:off x="457200" y="1417320"/>
          <a:ext cx="7589520" cy="4526280"/>
        </p:xfrm>
        <a:graphic>
          <a:graphicData uri="http://schemas.openxmlformats.org/drawingml/2006/chart">
            <c:chart xmlns:c="http://schemas.openxmlformats.org/drawingml/2006/chart" r:id="rId3"/>
          </a:graphicData>
        </a:graphic>
      </p:graphicFrame>
      <p:sp>
        <p:nvSpPr>
          <p:cNvPr id="7" name="TextBox 6"/>
          <p:cNvSpPr txBox="1"/>
          <p:nvPr/>
        </p:nvSpPr>
        <p:spPr>
          <a:xfrm>
            <a:off x="4413608" y="1906346"/>
            <a:ext cx="2743200" cy="274320"/>
          </a:xfrm>
          <a:prstGeom prst="rect">
            <a:avLst/>
          </a:prstGeom>
          <a:noFill/>
        </p:spPr>
        <p:txBody>
          <a:bodyPr wrap="square" lIns="0" rIns="0" tIns="0" bIns="0" anchor="t">
            <a:spAutoFit/>
          </a:bodyPr>
          <a:lstStyle/>
          <a:p>
            <a:pPr algn="r">
              <a:lnSpc>
                <a:spcPct val="110000"/>
              </a:lnSpc>
            </a:pPr>
            <a:r>
              <a:rPr sz="1100" b="1" i="0">
                <a:solidFill>
                  <a:srgbClr val="EB6834"/>
                </a:solidFill>
                <a:latin typeface="Segoe UI"/>
              </a:rPr>
              <a:t>k6 (cliente): 202 ms</a:t>
            </a:r>
          </a:p>
        </p:txBody>
      </p:sp>
      <p:sp>
        <p:nvSpPr>
          <p:cNvPr id="8" name="TextBox 7"/>
          <p:cNvSpPr txBox="1"/>
          <p:nvPr/>
        </p:nvSpPr>
        <p:spPr>
          <a:xfrm>
            <a:off x="4413608" y="4819661"/>
            <a:ext cx="2743200" cy="274320"/>
          </a:xfrm>
          <a:prstGeom prst="rect">
            <a:avLst/>
          </a:prstGeom>
          <a:noFill/>
        </p:spPr>
        <p:txBody>
          <a:bodyPr wrap="square" lIns="0" rIns="0" tIns="0" bIns="0" anchor="t">
            <a:spAutoFit/>
          </a:bodyPr>
          <a:lstStyle/>
          <a:p>
            <a:pPr algn="r">
              <a:lnSpc>
                <a:spcPct val="110000"/>
              </a:lnSpc>
            </a:pPr>
            <a:r>
              <a:rPr sz="1100" b="1" i="0">
                <a:solidFill>
                  <a:srgbClr val="2A78D6"/>
                </a:solidFill>
                <a:latin typeface="Segoe UI"/>
              </a:rPr>
              <a:t>Actuator (servidor): 0,12 ms</a:t>
            </a:r>
          </a:p>
        </p:txBody>
      </p:sp>
      <p:cxnSp>
        <p:nvCxnSpPr>
          <p:cNvPr id="9" name="Connector 8"/>
          <p:cNvCxnSpPr/>
          <p:nvPr/>
        </p:nvCxnSpPr>
        <p:spPr>
          <a:xfrm>
            <a:off x="7513424" y="2363546"/>
            <a:ext cx="0" cy="2748723"/>
          </a:xfrm>
          <a:prstGeom prst="line">
            <a:avLst/>
          </a:prstGeom>
          <a:ln w="19050">
            <a:solidFill>
              <a:srgbClr val="0B0B0B"/>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412480" y="1508760"/>
            <a:ext cx="3383280" cy="457200"/>
          </a:xfrm>
          <a:prstGeom prst="rect">
            <a:avLst/>
          </a:prstGeom>
          <a:noFill/>
        </p:spPr>
        <p:txBody>
          <a:bodyPr wrap="square" lIns="0" rIns="0" tIns="0" bIns="0" anchor="t">
            <a:spAutoFit/>
          </a:bodyPr>
          <a:lstStyle/>
          <a:p>
            <a:pPr algn="l">
              <a:lnSpc>
                <a:spcPct val="110000"/>
              </a:lnSpc>
            </a:pPr>
            <a:r>
              <a:rPr sz="3000" b="1" i="0">
                <a:solidFill>
                  <a:srgbClr val="EB6834"/>
                </a:solidFill>
                <a:latin typeface="Segoe UI"/>
              </a:rPr>
              <a:t>202 ms</a:t>
            </a:r>
            <a:r>
              <a:rPr sz="2000" b="1" i="0">
                <a:solidFill>
                  <a:srgbClr val="898781"/>
                </a:solidFill>
                <a:latin typeface="Segoe UI"/>
              </a:rPr>
              <a:t> vs. </a:t>
            </a:r>
            <a:r>
              <a:rPr sz="3000" b="1" i="0">
                <a:solidFill>
                  <a:srgbClr val="2A78D6"/>
                </a:solidFill>
                <a:latin typeface="Segoe UI"/>
              </a:rPr>
              <a:t>0,12 ms</a:t>
            </a:r>
          </a:p>
        </p:txBody>
      </p:sp>
      <p:sp>
        <p:nvSpPr>
          <p:cNvPr id="11" name="TextBox 10"/>
          <p:cNvSpPr txBox="1"/>
          <p:nvPr/>
        </p:nvSpPr>
        <p:spPr>
          <a:xfrm>
            <a:off x="8412480" y="2148840"/>
            <a:ext cx="3291840" cy="822960"/>
          </a:xfrm>
          <a:prstGeom prst="rect">
            <a:avLst/>
          </a:prstGeom>
          <a:noFill/>
        </p:spPr>
        <p:txBody>
          <a:bodyPr wrap="square" lIns="0" rIns="0" tIns="0" bIns="0" anchor="t">
            <a:spAutoFit/>
          </a:bodyPr>
          <a:lstStyle/>
          <a:p>
            <a:pPr algn="l">
              <a:lnSpc>
                <a:spcPct val="115000"/>
              </a:lnSpc>
            </a:pPr>
            <a:r>
              <a:rPr sz="1400" b="0" i="0">
                <a:solidFill>
                  <a:srgbClr val="52514E"/>
                </a:solidFill>
                <a:latin typeface="Segoe UI"/>
              </a:rPr>
              <a:t>Con 800 VUs, el p95 del cliente fue más de mil veces el del servidor.</a:t>
            </a:r>
          </a:p>
        </p:txBody>
      </p:sp>
      <p:sp>
        <p:nvSpPr>
          <p:cNvPr id="12" name="TextBox 11"/>
          <p:cNvSpPr txBox="1"/>
          <p:nvPr/>
        </p:nvSpPr>
        <p:spPr>
          <a:xfrm>
            <a:off x="8412480" y="3291840"/>
            <a:ext cx="329184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¿Dónde está la diferencia?</a:t>
            </a:r>
          </a:p>
        </p:txBody>
      </p:sp>
      <p:sp>
        <p:nvSpPr>
          <p:cNvPr id="13" name="TextBox 12"/>
          <p:cNvSpPr txBox="1"/>
          <p:nvPr/>
        </p:nvSpPr>
        <p:spPr>
          <a:xfrm>
            <a:off x="8412480" y="3584448"/>
            <a:ext cx="3291840" cy="10972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En la red, en el propio cliente y sobre todo en la cola: peticiones que ya llegaron y esperan un hilo libre. Actuator empieza a medir cuando salen de ahí.</a:t>
            </a:r>
          </a:p>
        </p:txBody>
      </p:sp>
      <p:sp>
        <p:nvSpPr>
          <p:cNvPr id="14" name="TextBox 13"/>
          <p:cNvSpPr txBox="1"/>
          <p:nvPr/>
        </p:nvSpPr>
        <p:spPr>
          <a:xfrm>
            <a:off x="8412480" y="4754880"/>
            <a:ext cx="329184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Qué hacer con esto</a:t>
            </a:r>
          </a:p>
        </p:txBody>
      </p:sp>
      <p:sp>
        <p:nvSpPr>
          <p:cNvPr id="15" name="TextBox 14"/>
          <p:cNvSpPr txBox="1"/>
          <p:nvPr/>
        </p:nvSpPr>
        <p:spPr>
          <a:xfrm>
            <a:off x="8412480" y="5047488"/>
            <a:ext cx="3291840" cy="10972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No tocar el código de negocio: aumentar capacidad o reducir el trabajo por petición.</a:t>
            </a:r>
          </a:p>
        </p:txBody>
      </p:sp>
      <p:sp>
        <p:nvSpPr>
          <p:cNvPr id="16" name="TextBox 15"/>
          <p:cNvSpPr txBox="1"/>
          <p:nvPr/>
        </p:nvSpPr>
        <p:spPr>
          <a:xfrm>
            <a:off x="548640" y="6053328"/>
            <a:ext cx="11064240" cy="365760"/>
          </a:xfrm>
          <a:prstGeom prst="rect">
            <a:avLst/>
          </a:prstGeom>
          <a:noFill/>
        </p:spPr>
        <p:txBody>
          <a:bodyPr wrap="square" lIns="0" rIns="0" tIns="0" bIns="0" anchor="t">
            <a:spAutoFit/>
          </a:bodyPr>
          <a:lstStyle/>
          <a:p>
            <a:pPr algn="l">
              <a:lnSpc>
                <a:spcPct val="105000"/>
              </a:lnSpc>
            </a:pPr>
            <a:r>
              <a:rPr sz="900" b="0" i="0">
                <a:solidFill>
                  <a:srgbClr val="898781"/>
                </a:solidFill>
                <a:latin typeface="Segoe UI"/>
              </a:rPr>
              <a:t>Fuente: Servicio con pool. k6 1.3 contra la registraduría del taller (Spring Boot 2.7 + H2 en memoria), portátil i7-13620H. Servicio fijado a 1 núcleo y k6 a otros 14 hilos, para que el cuello de botella fuera el servidor y no el inyector.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2 · MODELO DE CARGA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Modelo abierto: el tráfico no espera a que el servidor termine</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9</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graphicFrame>
        <p:nvGraphicFramePr>
          <p:cNvPr id="6" name="Chart 5"/>
          <p:cNvGraphicFramePr>
            <a:graphicFrameLocks noGrp="1"/>
          </p:cNvGraphicFramePr>
          <p:nvPr/>
        </p:nvGraphicFramePr>
        <p:xfrm>
          <a:off x="457200" y="1417320"/>
          <a:ext cx="5577840" cy="4206240"/>
        </p:xfrm>
        <a:graphic>
          <a:graphicData uri="http://schemas.openxmlformats.org/drawingml/2006/chart">
            <c:chart xmlns:c="http://schemas.openxmlformats.org/drawingml/2006/chart" r:id="rId3"/>
          </a:graphicData>
        </a:graphic>
      </p:graphicFrame>
      <p:sp>
        <p:nvSpPr>
          <p:cNvPr id="7" name="TextBox 6"/>
          <p:cNvSpPr txBox="1"/>
          <p:nvPr/>
        </p:nvSpPr>
        <p:spPr>
          <a:xfrm>
            <a:off x="548640" y="1417320"/>
            <a:ext cx="5303520" cy="32004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Lo que llega vs. lo que se atiende</a:t>
            </a:r>
          </a:p>
        </p:txBody>
      </p:sp>
      <p:sp>
        <p:nvSpPr>
          <p:cNvPr id="8" name="TextBox 7"/>
          <p:cNvSpPr txBox="1"/>
          <p:nvPr/>
        </p:nvSpPr>
        <p:spPr>
          <a:xfrm>
            <a:off x="1465783" y="3877787"/>
            <a:ext cx="22860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ideal: se atiende todo</a:t>
            </a:r>
          </a:p>
        </p:txBody>
      </p:sp>
      <p:sp>
        <p:nvSpPr>
          <p:cNvPr id="9" name="TextBox 8"/>
          <p:cNvSpPr txBox="1"/>
          <p:nvPr/>
        </p:nvSpPr>
        <p:spPr>
          <a:xfrm>
            <a:off x="1754123" y="2764134"/>
            <a:ext cx="2377440" cy="274320"/>
          </a:xfrm>
          <a:prstGeom prst="rect">
            <a:avLst/>
          </a:prstGeom>
          <a:noFill/>
        </p:spPr>
        <p:txBody>
          <a:bodyPr wrap="square" lIns="0" rIns="0" tIns="0" bIns="0" anchor="t">
            <a:spAutoFit/>
          </a:bodyPr>
          <a:lstStyle/>
          <a:p>
            <a:pPr algn="r">
              <a:lnSpc>
                <a:spcPct val="110000"/>
              </a:lnSpc>
            </a:pPr>
            <a:r>
              <a:rPr sz="1100" b="1" i="0">
                <a:solidFill>
                  <a:srgbClr val="2A78D6"/>
                </a:solidFill>
                <a:latin typeface="Segoe UI"/>
              </a:rPr>
              <a:t>máximo: 9.700 req/s</a:t>
            </a:r>
          </a:p>
        </p:txBody>
      </p:sp>
      <p:graphicFrame>
        <p:nvGraphicFramePr>
          <p:cNvPr id="10" name="Chart 9"/>
          <p:cNvGraphicFramePr>
            <a:graphicFrameLocks noGrp="1"/>
          </p:cNvGraphicFramePr>
          <p:nvPr/>
        </p:nvGraphicFramePr>
        <p:xfrm>
          <a:off x="6172200" y="1417320"/>
          <a:ext cx="5577840" cy="4206240"/>
        </p:xfrm>
        <a:graphic>
          <a:graphicData uri="http://schemas.openxmlformats.org/drawingml/2006/chart">
            <c:chart xmlns:c="http://schemas.openxmlformats.org/drawingml/2006/chart" r:id="rId4"/>
          </a:graphicData>
        </a:graphic>
      </p:graphicFrame>
      <p:sp>
        <p:nvSpPr>
          <p:cNvPr id="11" name="TextBox 10"/>
          <p:cNvSpPr txBox="1"/>
          <p:nvPr/>
        </p:nvSpPr>
        <p:spPr>
          <a:xfrm>
            <a:off x="6263640" y="1417320"/>
            <a:ext cx="5303520" cy="32004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La latencia al pasar el límite</a:t>
            </a:r>
          </a:p>
        </p:txBody>
      </p:sp>
      <p:sp>
        <p:nvSpPr>
          <p:cNvPr id="12" name="TextBox 11"/>
          <p:cNvSpPr txBox="1"/>
          <p:nvPr/>
        </p:nvSpPr>
        <p:spPr>
          <a:xfrm>
            <a:off x="8318296" y="2350281"/>
            <a:ext cx="2011680" cy="274320"/>
          </a:xfrm>
          <a:prstGeom prst="rect">
            <a:avLst/>
          </a:prstGeom>
          <a:noFill/>
        </p:spPr>
        <p:txBody>
          <a:bodyPr wrap="square" lIns="0" rIns="0" tIns="0" bIns="0" anchor="t">
            <a:spAutoFit/>
          </a:bodyPr>
          <a:lstStyle/>
          <a:p>
            <a:pPr algn="r">
              <a:lnSpc>
                <a:spcPct val="110000"/>
              </a:lnSpc>
            </a:pPr>
            <a:r>
              <a:rPr sz="1100" b="1" i="0">
                <a:solidFill>
                  <a:srgbClr val="EB6834"/>
                </a:solidFill>
                <a:latin typeface="Segoe UI"/>
              </a:rPr>
              <a:t>p95 428 ms</a:t>
            </a:r>
          </a:p>
        </p:txBody>
      </p:sp>
      <p:sp>
        <p:nvSpPr>
          <p:cNvPr id="13" name="TextBox 12"/>
          <p:cNvSpPr txBox="1"/>
          <p:nvPr/>
        </p:nvSpPr>
        <p:spPr>
          <a:xfrm>
            <a:off x="7034479" y="1911095"/>
            <a:ext cx="4023360" cy="274320"/>
          </a:xfrm>
          <a:prstGeom prst="rect">
            <a:avLst/>
          </a:prstGeom>
          <a:noFill/>
        </p:spPr>
        <p:txBody>
          <a:bodyPr wrap="square" lIns="0" rIns="0" tIns="0" bIns="0" anchor="t">
            <a:spAutoFit/>
          </a:bodyPr>
          <a:lstStyle/>
          <a:p>
            <a:pPr algn="l">
              <a:lnSpc>
                <a:spcPct val="110000"/>
              </a:lnSpc>
            </a:pPr>
            <a:r>
              <a:rPr sz="1100" b="1" i="0">
                <a:solidFill>
                  <a:srgbClr val="0B0B0B"/>
                </a:solidFill>
                <a:latin typeface="Segoe UI"/>
              </a:rPr>
              <a:t>Con 12.000 req/s: 63.363 iteraciones</a:t>
            </a:r>
          </a:p>
        </p:txBody>
      </p:sp>
      <p:sp>
        <p:nvSpPr>
          <p:cNvPr id="14" name="TextBox 13"/>
          <p:cNvSpPr txBox="1"/>
          <p:nvPr/>
        </p:nvSpPr>
        <p:spPr>
          <a:xfrm>
            <a:off x="7034479" y="2167127"/>
            <a:ext cx="4023360" cy="274320"/>
          </a:xfrm>
          <a:prstGeom prst="rect">
            <a:avLst/>
          </a:prstGeom>
          <a:noFill/>
        </p:spPr>
        <p:txBody>
          <a:bodyPr wrap="square" lIns="0" rIns="0" tIns="0" bIns="0" anchor="t">
            <a:spAutoFit/>
          </a:bodyPr>
          <a:lstStyle/>
          <a:p>
            <a:pPr algn="l">
              <a:lnSpc>
                <a:spcPct val="110000"/>
              </a:lnSpc>
            </a:pPr>
            <a:r>
              <a:rPr sz="1100" b="1" i="0">
                <a:solidFill>
                  <a:srgbClr val="0B0B0B"/>
                </a:solidFill>
                <a:latin typeface="Segoe UI"/>
              </a:rPr>
              <a:t>descartadas y 2.744 VUs en uso</a:t>
            </a:r>
          </a:p>
        </p:txBody>
      </p:sp>
      <p:sp>
        <p:nvSpPr>
          <p:cNvPr id="15" name="Rounded Rectangle 14"/>
          <p:cNvSpPr/>
          <p:nvPr/>
        </p:nvSpPr>
        <p:spPr>
          <a:xfrm>
            <a:off x="548640" y="5596128"/>
            <a:ext cx="11064240" cy="411480"/>
          </a:xfrm>
          <a:prstGeom prst="roundRect">
            <a:avLst>
              <a:gd name="adj" fmla="val 20000"/>
            </a:avLst>
          </a:prstGeom>
          <a:solidFill>
            <a:srgbClr val="FBE1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6" name="TextBox 15"/>
          <p:cNvSpPr txBox="1"/>
          <p:nvPr/>
        </p:nvSpPr>
        <p:spPr>
          <a:xfrm>
            <a:off x="731520" y="5669280"/>
            <a:ext cx="10789920" cy="274320"/>
          </a:xfrm>
          <a:prstGeom prst="rect">
            <a:avLst/>
          </a:prstGeom>
          <a:noFill/>
        </p:spPr>
        <p:txBody>
          <a:bodyPr wrap="square" lIns="0" rIns="0" tIns="0" bIns="0" anchor="t">
            <a:spAutoFit/>
          </a:bodyPr>
          <a:lstStyle/>
          <a:p>
            <a:pPr algn="l">
              <a:lnSpc>
                <a:spcPct val="110000"/>
              </a:lnSpc>
            </a:pPr>
            <a:r>
              <a:rPr sz="1200" b="1" i="0">
                <a:solidFill>
                  <a:srgbClr val="8A3A14"/>
                </a:solidFill>
                <a:latin typeface="Segoe UI"/>
              </a:rPr>
              <a:t>Mismo experimento con el código sin pool: con 2.000 req/s llegando atendió solo 491–1.171 y falló el 5–20 % de las peticiones.</a:t>
            </a:r>
          </a:p>
        </p:txBody>
      </p:sp>
      <p:sp>
        <p:nvSpPr>
          <p:cNvPr id="17" name="TextBox 16"/>
          <p:cNvSpPr txBox="1"/>
          <p:nvPr/>
        </p:nvSpPr>
        <p:spPr>
          <a:xfrm>
            <a:off x="548640" y="6053328"/>
            <a:ext cx="11064240" cy="365760"/>
          </a:xfrm>
          <a:prstGeom prst="rect">
            <a:avLst/>
          </a:prstGeom>
          <a:noFill/>
        </p:spPr>
        <p:txBody>
          <a:bodyPr wrap="square" lIns="0" rIns="0" tIns="0" bIns="0" anchor="t">
            <a:spAutoFit/>
          </a:bodyPr>
          <a:lstStyle/>
          <a:p>
            <a:pPr algn="l">
              <a:lnSpc>
                <a:spcPct val="105000"/>
              </a:lnSpc>
            </a:pPr>
            <a:r>
              <a:rPr sz="900" b="0" i="0">
                <a:solidFill>
                  <a:srgbClr val="898781"/>
                </a:solidFill>
                <a:latin typeface="Segoe UI"/>
              </a:rPr>
              <a:t>Fuente: constant-arrival-rate, 20 s por escalón, promedio de dos corridas. k6 1.3 contra la registraduría del taller (Spring Boot 2.7 + H2 en memoria), portátil i7-13620H. Servicio fijado a 1 núcleo y k6 a otros 14 hilos, para que el cuello de botella fuera el servidor y no el inyector.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2 · PRUEBA DE PICO</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Un pico, segundo a segundo</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10</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graphicFrame>
        <p:nvGraphicFramePr>
          <p:cNvPr id="6" name="Chart 5"/>
          <p:cNvGraphicFramePr>
            <a:graphicFrameLocks noGrp="1"/>
          </p:cNvGraphicFramePr>
          <p:nvPr/>
        </p:nvGraphicFramePr>
        <p:xfrm>
          <a:off x="457200" y="1325880"/>
          <a:ext cx="8229600" cy="1417320"/>
        </p:xfrm>
        <a:graphic>
          <a:graphicData uri="http://schemas.openxmlformats.org/drawingml/2006/chart">
            <c:chart xmlns:c="http://schemas.openxmlformats.org/drawingml/2006/chart" r:id="rId3"/>
          </a:graphicData>
        </a:graphic>
      </p:graphicFrame>
      <p:sp>
        <p:nvSpPr>
          <p:cNvPr id="7" name="TextBox 6"/>
          <p:cNvSpPr txBox="1"/>
          <p:nvPr/>
        </p:nvSpPr>
        <p:spPr>
          <a:xfrm>
            <a:off x="548640" y="1691640"/>
            <a:ext cx="1600200" cy="640080"/>
          </a:xfrm>
          <a:prstGeom prst="rect">
            <a:avLst/>
          </a:prstGeom>
          <a:noFill/>
        </p:spPr>
        <p:txBody>
          <a:bodyPr wrap="square" lIns="0" rIns="0" tIns="0" bIns="0" anchor="t">
            <a:spAutoFit/>
          </a:bodyPr>
          <a:lstStyle/>
          <a:p>
            <a:pPr algn="l">
              <a:lnSpc>
                <a:spcPct val="100000"/>
              </a:lnSpc>
            </a:pPr>
            <a:r>
              <a:rPr sz="1200" b="1" i="0">
                <a:solidFill>
                  <a:srgbClr val="0B0B0B"/>
                </a:solidFill>
                <a:latin typeface="Segoe UI"/>
              </a:rPr>
              <a:t>Usuarios virtuales</a:t>
            </a:r>
          </a:p>
        </p:txBody>
      </p:sp>
      <p:graphicFrame>
        <p:nvGraphicFramePr>
          <p:cNvPr id="8" name="Chart 7"/>
          <p:cNvGraphicFramePr>
            <a:graphicFrameLocks noGrp="1"/>
          </p:cNvGraphicFramePr>
          <p:nvPr/>
        </p:nvGraphicFramePr>
        <p:xfrm>
          <a:off x="457200" y="2834640"/>
          <a:ext cx="8229600" cy="1417320"/>
        </p:xfrm>
        <a:graphic>
          <a:graphicData uri="http://schemas.openxmlformats.org/drawingml/2006/chart">
            <c:chart xmlns:c="http://schemas.openxmlformats.org/drawingml/2006/chart" r:id="rId4"/>
          </a:graphicData>
        </a:graphic>
      </p:graphicFrame>
      <p:sp>
        <p:nvSpPr>
          <p:cNvPr id="9" name="TextBox 8"/>
          <p:cNvSpPr txBox="1"/>
          <p:nvPr/>
        </p:nvSpPr>
        <p:spPr>
          <a:xfrm>
            <a:off x="548640" y="3200400"/>
            <a:ext cx="1600200" cy="640080"/>
          </a:xfrm>
          <a:prstGeom prst="rect">
            <a:avLst/>
          </a:prstGeom>
          <a:noFill/>
        </p:spPr>
        <p:txBody>
          <a:bodyPr wrap="square" lIns="0" rIns="0" tIns="0" bIns="0" anchor="t">
            <a:spAutoFit/>
          </a:bodyPr>
          <a:lstStyle/>
          <a:p>
            <a:pPr algn="l">
              <a:lnSpc>
                <a:spcPct val="100000"/>
              </a:lnSpc>
            </a:pPr>
            <a:r>
              <a:rPr sz="1200" b="1" i="0">
                <a:solidFill>
                  <a:srgbClr val="0B0B0B"/>
                </a:solidFill>
                <a:latin typeface="Segoe UI"/>
              </a:rPr>
              <a:t>Peticiones por segundo</a:t>
            </a:r>
          </a:p>
        </p:txBody>
      </p:sp>
      <p:graphicFrame>
        <p:nvGraphicFramePr>
          <p:cNvPr id="10" name="Chart 9"/>
          <p:cNvGraphicFramePr>
            <a:graphicFrameLocks noGrp="1"/>
          </p:cNvGraphicFramePr>
          <p:nvPr/>
        </p:nvGraphicFramePr>
        <p:xfrm>
          <a:off x="457200" y="4343400"/>
          <a:ext cx="8229600" cy="1417320"/>
        </p:xfrm>
        <a:graphic>
          <a:graphicData uri="http://schemas.openxmlformats.org/drawingml/2006/chart">
            <c:chart xmlns:c="http://schemas.openxmlformats.org/drawingml/2006/chart" r:id="rId5"/>
          </a:graphicData>
        </a:graphic>
      </p:graphicFrame>
      <p:sp>
        <p:nvSpPr>
          <p:cNvPr id="11" name="TextBox 10"/>
          <p:cNvSpPr txBox="1"/>
          <p:nvPr/>
        </p:nvSpPr>
        <p:spPr>
          <a:xfrm>
            <a:off x="548640" y="4709160"/>
            <a:ext cx="1600200" cy="640080"/>
          </a:xfrm>
          <a:prstGeom prst="rect">
            <a:avLst/>
          </a:prstGeom>
          <a:noFill/>
        </p:spPr>
        <p:txBody>
          <a:bodyPr wrap="square" lIns="0" rIns="0" tIns="0" bIns="0" anchor="t">
            <a:spAutoFit/>
          </a:bodyPr>
          <a:lstStyle/>
          <a:p>
            <a:pPr algn="l">
              <a:lnSpc>
                <a:spcPct val="100000"/>
              </a:lnSpc>
            </a:pPr>
            <a:r>
              <a:rPr sz="1200" b="1" i="0">
                <a:solidFill>
                  <a:srgbClr val="0B0B0B"/>
                </a:solidFill>
                <a:latin typeface="Segoe UI"/>
              </a:rPr>
              <a:t>p95 por segundo (ms)</a:t>
            </a:r>
          </a:p>
        </p:txBody>
      </p:sp>
      <p:sp>
        <p:nvSpPr>
          <p:cNvPr id="12" name="TextBox 11"/>
          <p:cNvSpPr txBox="1"/>
          <p:nvPr/>
        </p:nvSpPr>
        <p:spPr>
          <a:xfrm>
            <a:off x="9052560" y="1371600"/>
            <a:ext cx="2743200" cy="274320"/>
          </a:xfrm>
          <a:prstGeom prst="rect">
            <a:avLst/>
          </a:prstGeom>
          <a:noFill/>
        </p:spPr>
        <p:txBody>
          <a:bodyPr wrap="square" lIns="0" rIns="0" tIns="0" bIns="0" anchor="t">
            <a:spAutoFit/>
          </a:bodyPr>
          <a:lstStyle/>
          <a:p>
            <a:pPr algn="l">
              <a:lnSpc>
                <a:spcPct val="110000"/>
              </a:lnSpc>
            </a:pPr>
            <a:r>
              <a:rPr sz="1000" b="1" i="0" spc="100">
                <a:solidFill>
                  <a:srgbClr val="898781"/>
                </a:solidFill>
                <a:latin typeface="Segoe UI"/>
              </a:rPr>
              <a:t>MEDIANA POR TRAMO</a:t>
            </a:r>
          </a:p>
        </p:txBody>
      </p:sp>
      <p:sp>
        <p:nvSpPr>
          <p:cNvPr id="13" name="TextBox 12"/>
          <p:cNvSpPr txBox="1"/>
          <p:nvPr/>
        </p:nvSpPr>
        <p:spPr>
          <a:xfrm>
            <a:off x="9052560" y="1737360"/>
            <a:ext cx="274320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antes del pico</a:t>
            </a:r>
          </a:p>
        </p:txBody>
      </p:sp>
      <p:sp>
        <p:nvSpPr>
          <p:cNvPr id="14" name="TextBox 13"/>
          <p:cNvSpPr txBox="1"/>
          <p:nvPr/>
        </p:nvSpPr>
        <p:spPr>
          <a:xfrm>
            <a:off x="9052560" y="2029967"/>
            <a:ext cx="2743200" cy="41148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p95 </a:t>
            </a:r>
            <a:r>
              <a:rPr sz="1800" b="1" i="0">
                <a:solidFill>
                  <a:srgbClr val="EB6834"/>
                </a:solidFill>
                <a:latin typeface="Segoe UI"/>
              </a:rPr>
              <a:t>4,9 ms</a:t>
            </a:r>
          </a:p>
        </p:txBody>
      </p:sp>
      <p:sp>
        <p:nvSpPr>
          <p:cNvPr id="15" name="TextBox 14"/>
          <p:cNvSpPr txBox="1"/>
          <p:nvPr/>
        </p:nvSpPr>
        <p:spPr>
          <a:xfrm>
            <a:off x="9052560" y="2450591"/>
            <a:ext cx="2743200" cy="27432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5.449 req/s</a:t>
            </a:r>
          </a:p>
        </p:txBody>
      </p:sp>
      <p:sp>
        <p:nvSpPr>
          <p:cNvPr id="16" name="TextBox 15"/>
          <p:cNvSpPr txBox="1"/>
          <p:nvPr/>
        </p:nvSpPr>
        <p:spPr>
          <a:xfrm>
            <a:off x="9052560" y="2926080"/>
            <a:ext cx="274320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durante el pico</a:t>
            </a:r>
          </a:p>
        </p:txBody>
      </p:sp>
      <p:sp>
        <p:nvSpPr>
          <p:cNvPr id="17" name="TextBox 16"/>
          <p:cNvSpPr txBox="1"/>
          <p:nvPr/>
        </p:nvSpPr>
        <p:spPr>
          <a:xfrm>
            <a:off x="9052560" y="3218688"/>
            <a:ext cx="2743200" cy="41148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p95 </a:t>
            </a:r>
            <a:r>
              <a:rPr sz="1800" b="1" i="0">
                <a:solidFill>
                  <a:srgbClr val="EB6834"/>
                </a:solidFill>
                <a:latin typeface="Segoe UI"/>
              </a:rPr>
              <a:t>91 ms</a:t>
            </a:r>
          </a:p>
        </p:txBody>
      </p:sp>
      <p:sp>
        <p:nvSpPr>
          <p:cNvPr id="18" name="TextBox 17"/>
          <p:cNvSpPr txBox="1"/>
          <p:nvPr/>
        </p:nvSpPr>
        <p:spPr>
          <a:xfrm>
            <a:off x="9052560" y="3639312"/>
            <a:ext cx="2743200" cy="27432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6.675 req/s</a:t>
            </a:r>
          </a:p>
        </p:txBody>
      </p:sp>
      <p:sp>
        <p:nvSpPr>
          <p:cNvPr id="19" name="TextBox 18"/>
          <p:cNvSpPr txBox="1"/>
          <p:nvPr/>
        </p:nvSpPr>
        <p:spPr>
          <a:xfrm>
            <a:off x="9052560" y="4114800"/>
            <a:ext cx="274320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después</a:t>
            </a:r>
          </a:p>
        </p:txBody>
      </p:sp>
      <p:sp>
        <p:nvSpPr>
          <p:cNvPr id="20" name="TextBox 19"/>
          <p:cNvSpPr txBox="1"/>
          <p:nvPr/>
        </p:nvSpPr>
        <p:spPr>
          <a:xfrm>
            <a:off x="9052560" y="4407408"/>
            <a:ext cx="2743200" cy="41148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p95 </a:t>
            </a:r>
            <a:r>
              <a:rPr sz="1800" b="1" i="0">
                <a:solidFill>
                  <a:srgbClr val="EB6834"/>
                </a:solidFill>
                <a:latin typeface="Segoe UI"/>
              </a:rPr>
              <a:t>4,0 ms</a:t>
            </a:r>
          </a:p>
        </p:txBody>
      </p:sp>
      <p:sp>
        <p:nvSpPr>
          <p:cNvPr id="21" name="TextBox 20"/>
          <p:cNvSpPr txBox="1"/>
          <p:nvPr/>
        </p:nvSpPr>
        <p:spPr>
          <a:xfrm>
            <a:off x="9052560" y="4828032"/>
            <a:ext cx="2743200" cy="27432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6.551 req/s</a:t>
            </a:r>
          </a:p>
        </p:txBody>
      </p:sp>
      <p:sp>
        <p:nvSpPr>
          <p:cNvPr id="22" name="TextBox 21"/>
          <p:cNvSpPr txBox="1"/>
          <p:nvPr/>
        </p:nvSpPr>
        <p:spPr>
          <a:xfrm>
            <a:off x="548640" y="6053328"/>
            <a:ext cx="11064240" cy="365760"/>
          </a:xfrm>
          <a:prstGeom prst="rect">
            <a:avLst/>
          </a:prstGeom>
          <a:noFill/>
        </p:spPr>
        <p:txBody>
          <a:bodyPr wrap="square" lIns="0" rIns="0" tIns="0" bIns="0" anchor="t">
            <a:spAutoFit/>
          </a:bodyPr>
          <a:lstStyle/>
          <a:p>
            <a:pPr algn="l">
              <a:lnSpc>
                <a:spcPct val="105000"/>
              </a:lnSpc>
            </a:pPr>
            <a:r>
              <a:rPr sz="900" b="0" i="0">
                <a:solidFill>
                  <a:srgbClr val="898781"/>
                </a:solidFill>
                <a:latin typeface="Segoe UI"/>
              </a:rPr>
              <a:t>Fuente: ramping-vus con --out csv, agregado por segundo, código sin pool. k6 1.3 contra la registraduría del taller (Spring Boot 2.7 + H2 en memoria), portátil i7-13620H. Servicio fijado a 1 núcleo y k6 a otros 14 hilos, para que el cuello de botella fuera el servidor y no el inyector.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3 · ESCRIBIR LA PRUEBA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Cuatro reglas para que el script se parezca a la realidad</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11</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6" name="Rounded Rectangle 5"/>
          <p:cNvSpPr/>
          <p:nvPr/>
        </p:nvSpPr>
        <p:spPr>
          <a:xfrm>
            <a:off x="548640" y="1417320"/>
            <a:ext cx="5440680" cy="233172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822959" y="1618488"/>
            <a:ext cx="822960" cy="548640"/>
          </a:xfrm>
          <a:prstGeom prst="rect">
            <a:avLst/>
          </a:prstGeom>
          <a:noFill/>
        </p:spPr>
        <p:txBody>
          <a:bodyPr wrap="square" lIns="0" rIns="0" tIns="0" bIns="0" anchor="t">
            <a:spAutoFit/>
          </a:bodyPr>
          <a:lstStyle/>
          <a:p>
            <a:pPr algn="l">
              <a:lnSpc>
                <a:spcPct val="110000"/>
              </a:lnSpc>
            </a:pPr>
            <a:r>
              <a:rPr sz="2600" b="1" i="0">
                <a:solidFill>
                  <a:srgbClr val="EB6834"/>
                </a:solidFill>
                <a:latin typeface="Segoe UI"/>
              </a:rPr>
              <a:t>01</a:t>
            </a:r>
          </a:p>
        </p:txBody>
      </p:sp>
      <p:sp>
        <p:nvSpPr>
          <p:cNvPr id="8" name="TextBox 7"/>
          <p:cNvSpPr txBox="1"/>
          <p:nvPr/>
        </p:nvSpPr>
        <p:spPr>
          <a:xfrm>
            <a:off x="1600200" y="1691640"/>
            <a:ext cx="4206240" cy="41148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Validar el contenido, no solo el código</a:t>
            </a:r>
          </a:p>
        </p:txBody>
      </p:sp>
      <p:sp>
        <p:nvSpPr>
          <p:cNvPr id="9" name="TextBox 8"/>
          <p:cNvSpPr txBox="1"/>
          <p:nvPr/>
        </p:nvSpPr>
        <p:spPr>
          <a:xfrm>
            <a:off x="1600200" y="2130552"/>
            <a:ext cx="4160520" cy="868680"/>
          </a:xfrm>
          <a:prstGeom prst="rect">
            <a:avLst/>
          </a:prstGeom>
          <a:noFill/>
        </p:spPr>
        <p:txBody>
          <a:bodyPr wrap="square" lIns="0" rIns="0" tIns="0" bIns="0" anchor="t">
            <a:spAutoFit/>
          </a:bodyPr>
          <a:lstStyle/>
          <a:p>
            <a:pPr algn="l">
              <a:lnSpc>
                <a:spcPct val="115000"/>
              </a:lnSpc>
            </a:pPr>
            <a:r>
              <a:rPr sz="1250" b="0" i="0">
                <a:solidFill>
                  <a:srgbClr val="52514E"/>
                </a:solidFill>
                <a:latin typeface="Segoe UI"/>
              </a:rPr>
              <a:t>Un 200 puede traer un rechazo de negocio. Compare el cuerpo con el resultado esperado.</a:t>
            </a:r>
          </a:p>
        </p:txBody>
      </p:sp>
      <p:sp>
        <p:nvSpPr>
          <p:cNvPr id="10" name="Rounded Rectangle 9"/>
          <p:cNvSpPr/>
          <p:nvPr/>
        </p:nvSpPr>
        <p:spPr>
          <a:xfrm>
            <a:off x="1600200" y="3063240"/>
            <a:ext cx="4160520" cy="45720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1783080" y="3200400"/>
            <a:ext cx="3794759" cy="182880"/>
          </a:xfrm>
          <a:prstGeom prst="rect">
            <a:avLst/>
          </a:prstGeom>
          <a:noFill/>
        </p:spPr>
        <p:txBody>
          <a:bodyPr wrap="square" lIns="0" rIns="0" tIns="0" bIns="0">
            <a:spAutoFit/>
          </a:bodyPr>
          <a:lstStyle/>
          <a:p>
            <a:pPr>
              <a:lnSpc>
                <a:spcPct val="105000"/>
              </a:lnSpc>
            </a:pPr>
            <a:r>
              <a:rPr sz="1100" b="0">
                <a:solidFill>
                  <a:srgbClr val="0B0B0B"/>
                </a:solidFill>
                <a:latin typeface="Consolas"/>
              </a:rPr>
              <a:t>outcome === v.expected</a:t>
            </a:r>
          </a:p>
        </p:txBody>
      </p:sp>
      <p:sp>
        <p:nvSpPr>
          <p:cNvPr id="12" name="Rounded Rectangle 11"/>
          <p:cNvSpPr/>
          <p:nvPr/>
        </p:nvSpPr>
        <p:spPr>
          <a:xfrm>
            <a:off x="6172200" y="1417320"/>
            <a:ext cx="5440680" cy="233172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3" name="TextBox 12"/>
          <p:cNvSpPr txBox="1"/>
          <p:nvPr/>
        </p:nvSpPr>
        <p:spPr>
          <a:xfrm>
            <a:off x="6446520" y="1618488"/>
            <a:ext cx="822960" cy="548640"/>
          </a:xfrm>
          <a:prstGeom prst="rect">
            <a:avLst/>
          </a:prstGeom>
          <a:noFill/>
        </p:spPr>
        <p:txBody>
          <a:bodyPr wrap="square" lIns="0" rIns="0" tIns="0" bIns="0" anchor="t">
            <a:spAutoFit/>
          </a:bodyPr>
          <a:lstStyle/>
          <a:p>
            <a:pPr algn="l">
              <a:lnSpc>
                <a:spcPct val="110000"/>
              </a:lnSpc>
            </a:pPr>
            <a:r>
              <a:rPr sz="2600" b="1" i="0">
                <a:solidFill>
                  <a:srgbClr val="EB6834"/>
                </a:solidFill>
                <a:latin typeface="Segoe UI"/>
              </a:rPr>
              <a:t>02</a:t>
            </a:r>
          </a:p>
        </p:txBody>
      </p:sp>
      <p:sp>
        <p:nvSpPr>
          <p:cNvPr id="14" name="TextBox 13"/>
          <p:cNvSpPr txBox="1"/>
          <p:nvPr/>
        </p:nvSpPr>
        <p:spPr>
          <a:xfrm>
            <a:off x="7223760" y="1691640"/>
            <a:ext cx="4206240" cy="41148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Datos variados desde un CSV</a:t>
            </a:r>
          </a:p>
        </p:txBody>
      </p:sp>
      <p:sp>
        <p:nvSpPr>
          <p:cNvPr id="15" name="TextBox 14"/>
          <p:cNvSpPr txBox="1"/>
          <p:nvPr/>
        </p:nvSpPr>
        <p:spPr>
          <a:xfrm>
            <a:off x="7223760" y="2130552"/>
            <a:ext cx="4160520" cy="868680"/>
          </a:xfrm>
          <a:prstGeom prst="rect">
            <a:avLst/>
          </a:prstGeom>
          <a:noFill/>
        </p:spPr>
        <p:txBody>
          <a:bodyPr wrap="square" lIns="0" rIns="0" tIns="0" bIns="0" anchor="t">
            <a:spAutoFit/>
          </a:bodyPr>
          <a:lstStyle/>
          <a:p>
            <a:pPr algn="l">
              <a:lnSpc>
                <a:spcPct val="115000"/>
              </a:lnSpc>
            </a:pPr>
            <a:r>
              <a:rPr sz="1250" b="0" i="0">
                <a:solidFill>
                  <a:srgbClr val="52514E"/>
                </a:solidFill>
                <a:latin typeface="Segoe UI"/>
              </a:rPr>
              <a:t>Repetir el mismo registro calienta cachés y dispara reglas de duplicado. SharedArray carga el CSV una vez para todos los VUs.</a:t>
            </a:r>
          </a:p>
        </p:txBody>
      </p:sp>
      <p:sp>
        <p:nvSpPr>
          <p:cNvPr id="16" name="Rounded Rectangle 15"/>
          <p:cNvSpPr/>
          <p:nvPr/>
        </p:nvSpPr>
        <p:spPr>
          <a:xfrm>
            <a:off x="7223760" y="3063240"/>
            <a:ext cx="4160520" cy="45720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7" name="TextBox 16"/>
          <p:cNvSpPr txBox="1"/>
          <p:nvPr/>
        </p:nvSpPr>
        <p:spPr>
          <a:xfrm>
            <a:off x="7406640" y="3200400"/>
            <a:ext cx="3794759" cy="182880"/>
          </a:xfrm>
          <a:prstGeom prst="rect">
            <a:avLst/>
          </a:prstGeom>
          <a:noFill/>
        </p:spPr>
        <p:txBody>
          <a:bodyPr wrap="square" lIns="0" rIns="0" tIns="0" bIns="0">
            <a:spAutoFit/>
          </a:bodyPr>
          <a:lstStyle/>
          <a:p>
            <a:pPr>
              <a:lnSpc>
                <a:spcPct val="105000"/>
              </a:lnSpc>
            </a:pPr>
            <a:r>
              <a:rPr sz="1100" b="0">
                <a:solidFill>
                  <a:srgbClr val="0B0B0B"/>
                </a:solidFill>
                <a:latin typeface="Consolas"/>
              </a:rPr>
              <a:t>new SharedArray('voters', () =&gt; parse(open(csv)))</a:t>
            </a:r>
          </a:p>
        </p:txBody>
      </p:sp>
      <p:sp>
        <p:nvSpPr>
          <p:cNvPr id="18" name="Rounded Rectangle 17"/>
          <p:cNvSpPr/>
          <p:nvPr/>
        </p:nvSpPr>
        <p:spPr>
          <a:xfrm>
            <a:off x="548640" y="3904488"/>
            <a:ext cx="5440680" cy="233172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9" name="TextBox 18"/>
          <p:cNvSpPr txBox="1"/>
          <p:nvPr/>
        </p:nvSpPr>
        <p:spPr>
          <a:xfrm>
            <a:off x="822959" y="4105656"/>
            <a:ext cx="822960" cy="548640"/>
          </a:xfrm>
          <a:prstGeom prst="rect">
            <a:avLst/>
          </a:prstGeom>
          <a:noFill/>
        </p:spPr>
        <p:txBody>
          <a:bodyPr wrap="square" lIns="0" rIns="0" tIns="0" bIns="0" anchor="t">
            <a:spAutoFit/>
          </a:bodyPr>
          <a:lstStyle/>
          <a:p>
            <a:pPr algn="l">
              <a:lnSpc>
                <a:spcPct val="110000"/>
              </a:lnSpc>
            </a:pPr>
            <a:r>
              <a:rPr sz="2600" b="1" i="0">
                <a:solidFill>
                  <a:srgbClr val="EB6834"/>
                </a:solidFill>
                <a:latin typeface="Segoe UI"/>
              </a:rPr>
              <a:t>03</a:t>
            </a:r>
          </a:p>
        </p:txBody>
      </p:sp>
      <p:sp>
        <p:nvSpPr>
          <p:cNvPr id="20" name="TextBox 19"/>
          <p:cNvSpPr txBox="1"/>
          <p:nvPr/>
        </p:nvSpPr>
        <p:spPr>
          <a:xfrm>
            <a:off x="1600200" y="4178808"/>
            <a:ext cx="4206240" cy="41148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Pausas de usuario (think time)</a:t>
            </a:r>
          </a:p>
        </p:txBody>
      </p:sp>
      <p:sp>
        <p:nvSpPr>
          <p:cNvPr id="21" name="TextBox 20"/>
          <p:cNvSpPr txBox="1"/>
          <p:nvPr/>
        </p:nvSpPr>
        <p:spPr>
          <a:xfrm>
            <a:off x="1600200" y="4617720"/>
            <a:ext cx="4160520" cy="868680"/>
          </a:xfrm>
          <a:prstGeom prst="rect">
            <a:avLst/>
          </a:prstGeom>
          <a:noFill/>
        </p:spPr>
        <p:txBody>
          <a:bodyPr wrap="square" lIns="0" rIns="0" tIns="0" bIns="0" anchor="t">
            <a:spAutoFit/>
          </a:bodyPr>
          <a:lstStyle/>
          <a:p>
            <a:pPr algn="l">
              <a:lnSpc>
                <a:spcPct val="115000"/>
              </a:lnSpc>
            </a:pPr>
            <a:r>
              <a:rPr sz="1250" b="0" i="0">
                <a:solidFill>
                  <a:srgbClr val="52514E"/>
                </a:solidFill>
                <a:latin typeface="Segoe UI"/>
              </a:rPr>
              <a:t>Un usuario lee antes de hacer clic. Sin pausas, pocos VUs generan una carga que nadie produciría.</a:t>
            </a:r>
          </a:p>
        </p:txBody>
      </p:sp>
      <p:sp>
        <p:nvSpPr>
          <p:cNvPr id="22" name="Rounded Rectangle 21"/>
          <p:cNvSpPr/>
          <p:nvPr/>
        </p:nvSpPr>
        <p:spPr>
          <a:xfrm>
            <a:off x="1600200" y="5550408"/>
            <a:ext cx="4160520" cy="45720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3" name="TextBox 22"/>
          <p:cNvSpPr txBox="1"/>
          <p:nvPr/>
        </p:nvSpPr>
        <p:spPr>
          <a:xfrm>
            <a:off x="1783080" y="5687568"/>
            <a:ext cx="3794759" cy="182880"/>
          </a:xfrm>
          <a:prstGeom prst="rect">
            <a:avLst/>
          </a:prstGeom>
          <a:noFill/>
        </p:spPr>
        <p:txBody>
          <a:bodyPr wrap="square" lIns="0" rIns="0" tIns="0" bIns="0">
            <a:spAutoFit/>
          </a:bodyPr>
          <a:lstStyle/>
          <a:p>
            <a:pPr>
              <a:lnSpc>
                <a:spcPct val="105000"/>
              </a:lnSpc>
            </a:pPr>
            <a:r>
              <a:rPr sz="1100" b="0">
                <a:solidFill>
                  <a:srgbClr val="0B0B0B"/>
                </a:solidFill>
                <a:latin typeface="Consolas"/>
              </a:rPr>
              <a:t>sleep(SLEEP_MS / 1000)   // 100 ms por defecto</a:t>
            </a:r>
          </a:p>
        </p:txBody>
      </p:sp>
      <p:sp>
        <p:nvSpPr>
          <p:cNvPr id="24" name="Rounded Rectangle 23"/>
          <p:cNvSpPr/>
          <p:nvPr/>
        </p:nvSpPr>
        <p:spPr>
          <a:xfrm>
            <a:off x="6172200" y="3904488"/>
            <a:ext cx="5440680" cy="233172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5" name="TextBox 24"/>
          <p:cNvSpPr txBox="1"/>
          <p:nvPr/>
        </p:nvSpPr>
        <p:spPr>
          <a:xfrm>
            <a:off x="6446520" y="4105656"/>
            <a:ext cx="822960" cy="548640"/>
          </a:xfrm>
          <a:prstGeom prst="rect">
            <a:avLst/>
          </a:prstGeom>
          <a:noFill/>
        </p:spPr>
        <p:txBody>
          <a:bodyPr wrap="square" lIns="0" rIns="0" tIns="0" bIns="0" anchor="t">
            <a:spAutoFit/>
          </a:bodyPr>
          <a:lstStyle/>
          <a:p>
            <a:pPr algn="l">
              <a:lnSpc>
                <a:spcPct val="110000"/>
              </a:lnSpc>
            </a:pPr>
            <a:r>
              <a:rPr sz="2600" b="1" i="0">
                <a:solidFill>
                  <a:srgbClr val="EB6834"/>
                </a:solidFill>
                <a:latin typeface="Segoe UI"/>
              </a:rPr>
              <a:t>04</a:t>
            </a:r>
          </a:p>
        </p:txBody>
      </p:sp>
      <p:sp>
        <p:nvSpPr>
          <p:cNvPr id="26" name="TextBox 25"/>
          <p:cNvSpPr txBox="1"/>
          <p:nvPr/>
        </p:nvSpPr>
        <p:spPr>
          <a:xfrm>
            <a:off x="7223760" y="4178808"/>
            <a:ext cx="4206240" cy="41148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Gestionar el estado de la prueba</a:t>
            </a:r>
          </a:p>
        </p:txBody>
      </p:sp>
      <p:sp>
        <p:nvSpPr>
          <p:cNvPr id="27" name="TextBox 26"/>
          <p:cNvSpPr txBox="1"/>
          <p:nvPr/>
        </p:nvSpPr>
        <p:spPr>
          <a:xfrm>
            <a:off x="7223760" y="4617720"/>
            <a:ext cx="4160520" cy="868680"/>
          </a:xfrm>
          <a:prstGeom prst="rect">
            <a:avLst/>
          </a:prstGeom>
          <a:noFill/>
        </p:spPr>
        <p:txBody>
          <a:bodyPr wrap="square" lIns="0" rIns="0" tIns="0" bIns="0" anchor="t">
            <a:spAutoFit/>
          </a:bodyPr>
          <a:lstStyle/>
          <a:p>
            <a:pPr algn="l">
              <a:lnSpc>
                <a:spcPct val="115000"/>
              </a:lnSpc>
            </a:pPr>
            <a:r>
              <a:rPr sz="1250" b="0" i="0">
                <a:solidFill>
                  <a:srgbClr val="52514E"/>
                </a:solidFill>
                <a:latin typeface="Segoe UI"/>
              </a:rPr>
              <a:t>Ids únicos por VU e iteración. Entre corridas, reinicie el servicio o desplace el rango.</a:t>
            </a:r>
          </a:p>
        </p:txBody>
      </p:sp>
      <p:sp>
        <p:nvSpPr>
          <p:cNvPr id="28" name="Rounded Rectangle 27"/>
          <p:cNvSpPr/>
          <p:nvPr/>
        </p:nvSpPr>
        <p:spPr>
          <a:xfrm>
            <a:off x="7223760" y="5550408"/>
            <a:ext cx="4160520" cy="45720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9" name="TextBox 28"/>
          <p:cNvSpPr txBox="1"/>
          <p:nvPr/>
        </p:nvSpPr>
        <p:spPr>
          <a:xfrm>
            <a:off x="7406640" y="5687568"/>
            <a:ext cx="3794759" cy="182880"/>
          </a:xfrm>
          <a:prstGeom prst="rect">
            <a:avLst/>
          </a:prstGeom>
          <a:noFill/>
        </p:spPr>
        <p:txBody>
          <a:bodyPr wrap="square" lIns="0" rIns="0" tIns="0" bIns="0">
            <a:spAutoFit/>
          </a:bodyPr>
          <a:lstStyle/>
          <a:p>
            <a:pPr>
              <a:lnSpc>
                <a:spcPct val="105000"/>
              </a:lnSpc>
            </a:pPr>
            <a:r>
              <a:rPr sz="1100" b="0">
                <a:solidFill>
                  <a:srgbClr val="0B0B0B"/>
                </a:solidFill>
                <a:latin typeface="Consolas"/>
              </a:rPr>
              <a:t>ID_BASE + __VU * 1000000 + (__ITER % 1000000)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3 · ESCRIBIR LA PRUEBA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Un 200 OK no significa que funcionó</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12</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6" name="TextBox 5"/>
          <p:cNvSpPr txBox="1"/>
          <p:nvPr/>
        </p:nvSpPr>
        <p:spPr>
          <a:xfrm>
            <a:off x="548640" y="1371600"/>
            <a:ext cx="5120640"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Respuestas reales de POST /register</a:t>
            </a:r>
          </a:p>
        </p:txBody>
      </p:sp>
      <p:sp>
        <p:nvSpPr>
          <p:cNvPr id="7" name="Rounded Rectangle 6"/>
          <p:cNvSpPr/>
          <p:nvPr/>
        </p:nvSpPr>
        <p:spPr>
          <a:xfrm>
            <a:off x="548640" y="1874519"/>
            <a:ext cx="5120640" cy="54864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8" name="TextBox 7"/>
          <p:cNvSpPr txBox="1"/>
          <p:nvPr/>
        </p:nvSpPr>
        <p:spPr>
          <a:xfrm>
            <a:off x="731520" y="2011679"/>
            <a:ext cx="914400" cy="274320"/>
          </a:xfrm>
          <a:prstGeom prst="rect">
            <a:avLst/>
          </a:prstGeom>
          <a:noFill/>
        </p:spPr>
        <p:txBody>
          <a:bodyPr wrap="square" lIns="0" rIns="0" tIns="0" bIns="0" anchor="t">
            <a:spAutoFit/>
          </a:bodyPr>
          <a:lstStyle/>
          <a:p>
            <a:pPr algn="l">
              <a:lnSpc>
                <a:spcPct val="110000"/>
              </a:lnSpc>
            </a:pPr>
            <a:r>
              <a:rPr sz="1200" b="1" i="0">
                <a:solidFill>
                  <a:srgbClr val="006300"/>
                </a:solidFill>
                <a:latin typeface="Consolas"/>
              </a:rPr>
              <a:t>200 OK</a:t>
            </a:r>
          </a:p>
        </p:txBody>
      </p:sp>
      <p:sp>
        <p:nvSpPr>
          <p:cNvPr id="9" name="TextBox 8"/>
          <p:cNvSpPr txBox="1"/>
          <p:nvPr/>
        </p:nvSpPr>
        <p:spPr>
          <a:xfrm>
            <a:off x="1691640" y="2011679"/>
            <a:ext cx="155448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Consolas"/>
              </a:rPr>
              <a:t>VALID</a:t>
            </a:r>
          </a:p>
        </p:txBody>
      </p:sp>
      <p:sp>
        <p:nvSpPr>
          <p:cNvPr id="10" name="TextBox 9"/>
          <p:cNvSpPr txBox="1"/>
          <p:nvPr/>
        </p:nvSpPr>
        <p:spPr>
          <a:xfrm>
            <a:off x="3291840" y="2020824"/>
            <a:ext cx="2286000" cy="274320"/>
          </a:xfrm>
          <a:prstGeom prst="rect">
            <a:avLst/>
          </a:prstGeom>
          <a:noFill/>
        </p:spPr>
        <p:txBody>
          <a:bodyPr wrap="square" lIns="0" rIns="0" tIns="0" bIns="0" anchor="t">
            <a:spAutoFit/>
          </a:bodyPr>
          <a:lstStyle/>
          <a:p>
            <a:pPr algn="l">
              <a:lnSpc>
                <a:spcPct val="110000"/>
              </a:lnSpc>
            </a:pPr>
            <a:r>
              <a:rPr sz="1150" b="0" i="0">
                <a:solidFill>
                  <a:srgbClr val="52514E"/>
                </a:solidFill>
                <a:latin typeface="Segoe UI"/>
              </a:rPr>
              <a:t>persona viva, mayor de edad, id nuevo</a:t>
            </a:r>
          </a:p>
        </p:txBody>
      </p:sp>
      <p:sp>
        <p:nvSpPr>
          <p:cNvPr id="11" name="Rounded Rectangle 10"/>
          <p:cNvSpPr/>
          <p:nvPr/>
        </p:nvSpPr>
        <p:spPr>
          <a:xfrm>
            <a:off x="548640" y="2532887"/>
            <a:ext cx="5120640" cy="54864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2" name="TextBox 11"/>
          <p:cNvSpPr txBox="1"/>
          <p:nvPr/>
        </p:nvSpPr>
        <p:spPr>
          <a:xfrm>
            <a:off x="731520" y="2670047"/>
            <a:ext cx="914400" cy="274320"/>
          </a:xfrm>
          <a:prstGeom prst="rect">
            <a:avLst/>
          </a:prstGeom>
          <a:noFill/>
        </p:spPr>
        <p:txBody>
          <a:bodyPr wrap="square" lIns="0" rIns="0" tIns="0" bIns="0" anchor="t">
            <a:spAutoFit/>
          </a:bodyPr>
          <a:lstStyle/>
          <a:p>
            <a:pPr algn="l">
              <a:lnSpc>
                <a:spcPct val="110000"/>
              </a:lnSpc>
            </a:pPr>
            <a:r>
              <a:rPr sz="1200" b="1" i="0">
                <a:solidFill>
                  <a:srgbClr val="006300"/>
                </a:solidFill>
                <a:latin typeface="Consolas"/>
              </a:rPr>
              <a:t>200 OK</a:t>
            </a:r>
          </a:p>
        </p:txBody>
      </p:sp>
      <p:sp>
        <p:nvSpPr>
          <p:cNvPr id="13" name="TextBox 12"/>
          <p:cNvSpPr txBox="1"/>
          <p:nvPr/>
        </p:nvSpPr>
        <p:spPr>
          <a:xfrm>
            <a:off x="1691640" y="2670047"/>
            <a:ext cx="155448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Consolas"/>
              </a:rPr>
              <a:t>UNDERAGE</a:t>
            </a:r>
          </a:p>
        </p:txBody>
      </p:sp>
      <p:sp>
        <p:nvSpPr>
          <p:cNvPr id="14" name="TextBox 13"/>
          <p:cNvSpPr txBox="1"/>
          <p:nvPr/>
        </p:nvSpPr>
        <p:spPr>
          <a:xfrm>
            <a:off x="3291840" y="2679191"/>
            <a:ext cx="2286000" cy="274320"/>
          </a:xfrm>
          <a:prstGeom prst="rect">
            <a:avLst/>
          </a:prstGeom>
          <a:noFill/>
        </p:spPr>
        <p:txBody>
          <a:bodyPr wrap="square" lIns="0" rIns="0" tIns="0" bIns="0" anchor="t">
            <a:spAutoFit/>
          </a:bodyPr>
          <a:lstStyle/>
          <a:p>
            <a:pPr algn="l">
              <a:lnSpc>
                <a:spcPct val="110000"/>
              </a:lnSpc>
            </a:pPr>
            <a:r>
              <a:rPr sz="1150" b="0" i="0">
                <a:solidFill>
                  <a:srgbClr val="52514E"/>
                </a:solidFill>
                <a:latin typeface="Segoe UI"/>
              </a:rPr>
              <a:t>edad de 0 a 17</a:t>
            </a:r>
          </a:p>
        </p:txBody>
      </p:sp>
      <p:sp>
        <p:nvSpPr>
          <p:cNvPr id="15" name="Rounded Rectangle 14"/>
          <p:cNvSpPr/>
          <p:nvPr/>
        </p:nvSpPr>
        <p:spPr>
          <a:xfrm>
            <a:off x="548640" y="3191256"/>
            <a:ext cx="5120640" cy="54864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6" name="TextBox 15"/>
          <p:cNvSpPr txBox="1"/>
          <p:nvPr/>
        </p:nvSpPr>
        <p:spPr>
          <a:xfrm>
            <a:off x="731520" y="3328415"/>
            <a:ext cx="914400" cy="274320"/>
          </a:xfrm>
          <a:prstGeom prst="rect">
            <a:avLst/>
          </a:prstGeom>
          <a:noFill/>
        </p:spPr>
        <p:txBody>
          <a:bodyPr wrap="square" lIns="0" rIns="0" tIns="0" bIns="0" anchor="t">
            <a:spAutoFit/>
          </a:bodyPr>
          <a:lstStyle/>
          <a:p>
            <a:pPr algn="l">
              <a:lnSpc>
                <a:spcPct val="110000"/>
              </a:lnSpc>
            </a:pPr>
            <a:r>
              <a:rPr sz="1200" b="1" i="0">
                <a:solidFill>
                  <a:srgbClr val="006300"/>
                </a:solidFill>
                <a:latin typeface="Consolas"/>
              </a:rPr>
              <a:t>200 OK</a:t>
            </a:r>
          </a:p>
        </p:txBody>
      </p:sp>
      <p:sp>
        <p:nvSpPr>
          <p:cNvPr id="17" name="TextBox 16"/>
          <p:cNvSpPr txBox="1"/>
          <p:nvPr/>
        </p:nvSpPr>
        <p:spPr>
          <a:xfrm>
            <a:off x="1691640" y="3328415"/>
            <a:ext cx="155448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Consolas"/>
              </a:rPr>
              <a:t>DEAD</a:t>
            </a:r>
          </a:p>
        </p:txBody>
      </p:sp>
      <p:sp>
        <p:nvSpPr>
          <p:cNvPr id="18" name="TextBox 17"/>
          <p:cNvSpPr txBox="1"/>
          <p:nvPr/>
        </p:nvSpPr>
        <p:spPr>
          <a:xfrm>
            <a:off x="3291840" y="3337560"/>
            <a:ext cx="2286000" cy="274320"/>
          </a:xfrm>
          <a:prstGeom prst="rect">
            <a:avLst/>
          </a:prstGeom>
          <a:noFill/>
        </p:spPr>
        <p:txBody>
          <a:bodyPr wrap="square" lIns="0" rIns="0" tIns="0" bIns="0" anchor="t">
            <a:spAutoFit/>
          </a:bodyPr>
          <a:lstStyle/>
          <a:p>
            <a:pPr algn="l">
              <a:lnSpc>
                <a:spcPct val="110000"/>
              </a:lnSpc>
            </a:pPr>
            <a:r>
              <a:rPr sz="1150" b="0" i="0">
                <a:solidFill>
                  <a:srgbClr val="52514E"/>
                </a:solidFill>
                <a:latin typeface="Segoe UI"/>
              </a:rPr>
              <a:t>alive = false</a:t>
            </a:r>
          </a:p>
        </p:txBody>
      </p:sp>
      <p:sp>
        <p:nvSpPr>
          <p:cNvPr id="19" name="Rounded Rectangle 18"/>
          <p:cNvSpPr/>
          <p:nvPr/>
        </p:nvSpPr>
        <p:spPr>
          <a:xfrm>
            <a:off x="548640" y="3849624"/>
            <a:ext cx="5120640" cy="54864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0" name="TextBox 19"/>
          <p:cNvSpPr txBox="1"/>
          <p:nvPr/>
        </p:nvSpPr>
        <p:spPr>
          <a:xfrm>
            <a:off x="731520" y="3986784"/>
            <a:ext cx="914400" cy="274320"/>
          </a:xfrm>
          <a:prstGeom prst="rect">
            <a:avLst/>
          </a:prstGeom>
          <a:noFill/>
        </p:spPr>
        <p:txBody>
          <a:bodyPr wrap="square" lIns="0" rIns="0" tIns="0" bIns="0" anchor="t">
            <a:spAutoFit/>
          </a:bodyPr>
          <a:lstStyle/>
          <a:p>
            <a:pPr algn="l">
              <a:lnSpc>
                <a:spcPct val="110000"/>
              </a:lnSpc>
            </a:pPr>
            <a:r>
              <a:rPr sz="1200" b="1" i="0">
                <a:solidFill>
                  <a:srgbClr val="006300"/>
                </a:solidFill>
                <a:latin typeface="Consolas"/>
              </a:rPr>
              <a:t>200 OK</a:t>
            </a:r>
          </a:p>
        </p:txBody>
      </p:sp>
      <p:sp>
        <p:nvSpPr>
          <p:cNvPr id="21" name="TextBox 20"/>
          <p:cNvSpPr txBox="1"/>
          <p:nvPr/>
        </p:nvSpPr>
        <p:spPr>
          <a:xfrm>
            <a:off x="1691640" y="3986784"/>
            <a:ext cx="155448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Consolas"/>
              </a:rPr>
              <a:t>INVALID_AGE</a:t>
            </a:r>
          </a:p>
        </p:txBody>
      </p:sp>
      <p:sp>
        <p:nvSpPr>
          <p:cNvPr id="22" name="TextBox 21"/>
          <p:cNvSpPr txBox="1"/>
          <p:nvPr/>
        </p:nvSpPr>
        <p:spPr>
          <a:xfrm>
            <a:off x="3291840" y="3995928"/>
            <a:ext cx="2286000" cy="274320"/>
          </a:xfrm>
          <a:prstGeom prst="rect">
            <a:avLst/>
          </a:prstGeom>
          <a:noFill/>
        </p:spPr>
        <p:txBody>
          <a:bodyPr wrap="square" lIns="0" rIns="0" tIns="0" bIns="0" anchor="t">
            <a:spAutoFit/>
          </a:bodyPr>
          <a:lstStyle/>
          <a:p>
            <a:pPr algn="l">
              <a:lnSpc>
                <a:spcPct val="110000"/>
              </a:lnSpc>
            </a:pPr>
            <a:r>
              <a:rPr sz="1150" b="0" i="0">
                <a:solidFill>
                  <a:srgbClr val="52514E"/>
                </a:solidFill>
                <a:latin typeface="Segoe UI"/>
              </a:rPr>
              <a:t>edad negativa o mayor de 120</a:t>
            </a:r>
          </a:p>
        </p:txBody>
      </p:sp>
      <p:sp>
        <p:nvSpPr>
          <p:cNvPr id="23" name="Rounded Rectangle 22"/>
          <p:cNvSpPr/>
          <p:nvPr/>
        </p:nvSpPr>
        <p:spPr>
          <a:xfrm>
            <a:off x="548640" y="4507992"/>
            <a:ext cx="5120640" cy="54864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4" name="TextBox 23"/>
          <p:cNvSpPr txBox="1"/>
          <p:nvPr/>
        </p:nvSpPr>
        <p:spPr>
          <a:xfrm>
            <a:off x="731520" y="4645152"/>
            <a:ext cx="914400" cy="274320"/>
          </a:xfrm>
          <a:prstGeom prst="rect">
            <a:avLst/>
          </a:prstGeom>
          <a:noFill/>
        </p:spPr>
        <p:txBody>
          <a:bodyPr wrap="square" lIns="0" rIns="0" tIns="0" bIns="0" anchor="t">
            <a:spAutoFit/>
          </a:bodyPr>
          <a:lstStyle/>
          <a:p>
            <a:pPr algn="l">
              <a:lnSpc>
                <a:spcPct val="110000"/>
              </a:lnSpc>
            </a:pPr>
            <a:r>
              <a:rPr sz="1200" b="1" i="0">
                <a:solidFill>
                  <a:srgbClr val="006300"/>
                </a:solidFill>
                <a:latin typeface="Consolas"/>
              </a:rPr>
              <a:t>200 OK</a:t>
            </a:r>
          </a:p>
        </p:txBody>
      </p:sp>
      <p:sp>
        <p:nvSpPr>
          <p:cNvPr id="25" name="TextBox 24"/>
          <p:cNvSpPr txBox="1"/>
          <p:nvPr/>
        </p:nvSpPr>
        <p:spPr>
          <a:xfrm>
            <a:off x="1691640" y="4645152"/>
            <a:ext cx="155448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Consolas"/>
              </a:rPr>
              <a:t>DUPLICATED</a:t>
            </a:r>
          </a:p>
        </p:txBody>
      </p:sp>
      <p:sp>
        <p:nvSpPr>
          <p:cNvPr id="26" name="TextBox 25"/>
          <p:cNvSpPr txBox="1"/>
          <p:nvPr/>
        </p:nvSpPr>
        <p:spPr>
          <a:xfrm>
            <a:off x="3291840" y="4654296"/>
            <a:ext cx="2286000" cy="274320"/>
          </a:xfrm>
          <a:prstGeom prst="rect">
            <a:avLst/>
          </a:prstGeom>
          <a:noFill/>
        </p:spPr>
        <p:txBody>
          <a:bodyPr wrap="square" lIns="0" rIns="0" tIns="0" bIns="0" anchor="t">
            <a:spAutoFit/>
          </a:bodyPr>
          <a:lstStyle/>
          <a:p>
            <a:pPr algn="l">
              <a:lnSpc>
                <a:spcPct val="110000"/>
              </a:lnSpc>
            </a:pPr>
            <a:r>
              <a:rPr sz="1150" b="0" i="0">
                <a:solidFill>
                  <a:srgbClr val="52514E"/>
                </a:solidFill>
                <a:latin typeface="Segoe UI"/>
              </a:rPr>
              <a:t>el id ya existe</a:t>
            </a:r>
          </a:p>
        </p:txBody>
      </p:sp>
      <p:sp>
        <p:nvSpPr>
          <p:cNvPr id="27" name="TextBox 26"/>
          <p:cNvSpPr txBox="1"/>
          <p:nvPr/>
        </p:nvSpPr>
        <p:spPr>
          <a:xfrm>
            <a:off x="548640" y="5257800"/>
            <a:ext cx="5120640" cy="822960"/>
          </a:xfrm>
          <a:prstGeom prst="rect">
            <a:avLst/>
          </a:prstGeom>
          <a:noFill/>
        </p:spPr>
        <p:txBody>
          <a:bodyPr wrap="square" lIns="0" rIns="0" tIns="0" bIns="0" anchor="t">
            <a:spAutoFit/>
          </a:bodyPr>
          <a:lstStyle/>
          <a:p>
            <a:pPr algn="l">
              <a:lnSpc>
                <a:spcPct val="120000"/>
              </a:lnSpc>
            </a:pPr>
            <a:r>
              <a:rPr sz="1300" b="0" i="0">
                <a:solidFill>
                  <a:srgbClr val="52514E"/>
                </a:solidFill>
                <a:latin typeface="Segoe UI"/>
              </a:rPr>
              <a:t>Mismo código HTTP, cinco resultados de negocio distintos. Solo uno es un registro exitoso.</a:t>
            </a:r>
          </a:p>
        </p:txBody>
      </p:sp>
      <p:sp>
        <p:nvSpPr>
          <p:cNvPr id="28" name="TextBox 27"/>
          <p:cNvSpPr txBox="1"/>
          <p:nvPr/>
        </p:nvSpPr>
        <p:spPr>
          <a:xfrm>
            <a:off x="6126480" y="1371600"/>
            <a:ext cx="5486400"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Tres formas de validar, de peor a mejor</a:t>
            </a:r>
          </a:p>
        </p:txBody>
      </p:sp>
      <p:sp>
        <p:nvSpPr>
          <p:cNvPr id="29" name="Rounded Rectangle 28"/>
          <p:cNvSpPr/>
          <p:nvPr/>
        </p:nvSpPr>
        <p:spPr>
          <a:xfrm>
            <a:off x="6126480" y="1874519"/>
            <a:ext cx="1527048" cy="292608"/>
          </a:xfrm>
          <a:prstGeom prst="roundRect">
            <a:avLst>
              <a:gd name="adj" fmla="val 50000"/>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D03B3B"/>
                </a:solidFill>
                <a:latin typeface="Segoe UI"/>
              </a:rPr>
              <a:t>Falso verde</a:t>
            </a:r>
          </a:p>
        </p:txBody>
      </p:sp>
      <p:sp>
        <p:nvSpPr>
          <p:cNvPr id="30" name="Rounded Rectangle 29"/>
          <p:cNvSpPr/>
          <p:nvPr/>
        </p:nvSpPr>
        <p:spPr>
          <a:xfrm>
            <a:off x="6126480" y="2240280"/>
            <a:ext cx="5486400" cy="50292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1" name="TextBox 30"/>
          <p:cNvSpPr txBox="1"/>
          <p:nvPr/>
        </p:nvSpPr>
        <p:spPr>
          <a:xfrm>
            <a:off x="6309360" y="2377440"/>
            <a:ext cx="5120640" cy="228600"/>
          </a:xfrm>
          <a:prstGeom prst="rect">
            <a:avLst/>
          </a:prstGeom>
          <a:noFill/>
        </p:spPr>
        <p:txBody>
          <a:bodyPr wrap="square" lIns="0" rIns="0" tIns="0" bIns="0">
            <a:spAutoFit/>
          </a:bodyPr>
          <a:lstStyle/>
          <a:p>
            <a:pPr>
              <a:lnSpc>
                <a:spcPct val="105000"/>
              </a:lnSpc>
            </a:pPr>
            <a:r>
              <a:rPr sz="1200" b="0">
                <a:solidFill>
                  <a:srgbClr val="0B0B0B"/>
                </a:solidFill>
                <a:latin typeface="Consolas"/>
              </a:rPr>
              <a:t>check(res, { 'ok': (r) =&gt; r.status === 200 });</a:t>
            </a:r>
          </a:p>
        </p:txBody>
      </p:sp>
      <p:sp>
        <p:nvSpPr>
          <p:cNvPr id="32" name="Rounded Rectangle 31"/>
          <p:cNvSpPr/>
          <p:nvPr/>
        </p:nvSpPr>
        <p:spPr>
          <a:xfrm>
            <a:off x="6126480" y="2926080"/>
            <a:ext cx="1636776" cy="292608"/>
          </a:xfrm>
          <a:prstGeom prst="roundRect">
            <a:avLst>
              <a:gd name="adj" fmla="val 50000"/>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D03B3B"/>
                </a:solidFill>
                <a:latin typeface="Segoe UI"/>
              </a:rPr>
              <a:t>Trampa sutil</a:t>
            </a:r>
          </a:p>
        </p:txBody>
      </p:sp>
      <p:sp>
        <p:nvSpPr>
          <p:cNvPr id="33" name="Rounded Rectangle 32"/>
          <p:cNvSpPr/>
          <p:nvPr/>
        </p:nvSpPr>
        <p:spPr>
          <a:xfrm>
            <a:off x="6126480" y="3291840"/>
            <a:ext cx="5486400" cy="77724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4" name="TextBox 33"/>
          <p:cNvSpPr txBox="1"/>
          <p:nvPr/>
        </p:nvSpPr>
        <p:spPr>
          <a:xfrm>
            <a:off x="6309360" y="3429000"/>
            <a:ext cx="5120640" cy="502920"/>
          </a:xfrm>
          <a:prstGeom prst="rect">
            <a:avLst/>
          </a:prstGeom>
          <a:noFill/>
        </p:spPr>
        <p:txBody>
          <a:bodyPr wrap="square" lIns="0" rIns="0" tIns="0" bIns="0">
            <a:spAutoFit/>
          </a:bodyPr>
          <a:lstStyle/>
          <a:p>
            <a:pPr>
              <a:lnSpc>
                <a:spcPct val="105000"/>
              </a:lnSpc>
            </a:pPr>
            <a:r>
              <a:rPr sz="1200" b="0">
                <a:solidFill>
                  <a:srgbClr val="0B0B0B"/>
                </a:solidFill>
                <a:latin typeface="Consolas"/>
              </a:rPr>
              <a:t>'body VALID': () =&gt; body.includes('VALID')</a:t>
            </a:r>
          </a:p>
          <a:p>
            <a:pPr>
              <a:lnSpc>
                <a:spcPct val="105000"/>
              </a:lnSpc>
            </a:pPr>
            <a:r>
              <a:rPr sz="1200" b="1">
                <a:solidFill>
                  <a:srgbClr val="D03B3B"/>
                </a:solidFill>
                <a:latin typeface="Consolas"/>
              </a:rPr>
              <a:t>// 'INVALID_AGE'.includes('VALID') === true</a:t>
            </a:r>
          </a:p>
        </p:txBody>
      </p:sp>
      <p:sp>
        <p:nvSpPr>
          <p:cNvPr id="35" name="Rounded Rectangle 34"/>
          <p:cNvSpPr/>
          <p:nvPr/>
        </p:nvSpPr>
        <p:spPr>
          <a:xfrm>
            <a:off x="6126480" y="4251960"/>
            <a:ext cx="1197863" cy="292608"/>
          </a:xfrm>
          <a:prstGeom prst="roundRect">
            <a:avLst>
              <a:gd name="adj" fmla="val 50000"/>
            </a:avLst>
          </a:prstGeom>
          <a:solidFill>
            <a:srgbClr val="DFF3D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006300"/>
                </a:solidFill>
                <a:latin typeface="Segoe UI"/>
              </a:rPr>
              <a:t>Correcto</a:t>
            </a:r>
          </a:p>
        </p:txBody>
      </p:sp>
      <p:sp>
        <p:nvSpPr>
          <p:cNvPr id="36" name="Rounded Rectangle 35"/>
          <p:cNvSpPr/>
          <p:nvPr/>
        </p:nvSpPr>
        <p:spPr>
          <a:xfrm>
            <a:off x="6126480" y="4617720"/>
            <a:ext cx="5486400" cy="105156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7" name="TextBox 36"/>
          <p:cNvSpPr txBox="1"/>
          <p:nvPr/>
        </p:nvSpPr>
        <p:spPr>
          <a:xfrm>
            <a:off x="6309360" y="4754880"/>
            <a:ext cx="5120640" cy="777239"/>
          </a:xfrm>
          <a:prstGeom prst="rect">
            <a:avLst/>
          </a:prstGeom>
          <a:noFill/>
        </p:spPr>
        <p:txBody>
          <a:bodyPr wrap="square" lIns="0" rIns="0" tIns="0" bIns="0">
            <a:spAutoFit/>
          </a:bodyPr>
          <a:lstStyle/>
          <a:p>
            <a:pPr>
              <a:lnSpc>
                <a:spcPct val="105000"/>
              </a:lnSpc>
            </a:pPr>
            <a:r>
              <a:rPr sz="1200" b="0">
                <a:solidFill>
                  <a:srgbClr val="0B0B0B"/>
                </a:solidFill>
                <a:latin typeface="Consolas"/>
              </a:rPr>
              <a:t>'resultado de negocio esperado': () =&gt;</a:t>
            </a:r>
          </a:p>
          <a:p>
            <a:pPr>
              <a:lnSpc>
                <a:spcPct val="105000"/>
              </a:lnSpc>
            </a:pPr>
            <a:r>
              <a:rPr sz="1200" b="1">
                <a:solidFill>
                  <a:srgbClr val="006300"/>
                </a:solidFill>
                <a:latin typeface="Consolas"/>
              </a:rPr>
              <a:t>    outcome === v.expected</a:t>
            </a:r>
          </a:p>
          <a:p>
            <a:pPr>
              <a:lnSpc>
                <a:spcPct val="105000"/>
              </a:lnSpc>
            </a:pPr>
            <a:r>
              <a:rPr sz="1200" b="0">
                <a:solidFill>
                  <a:srgbClr val="0B0B0B"/>
                </a:solidFill>
                <a:latin typeface="Consolas"/>
              </a:rPr>
              <a:t>// expected viene de voters.csv</a:t>
            </a:r>
          </a:p>
        </p:txBody>
      </p:sp>
      <p:sp>
        <p:nvSpPr>
          <p:cNvPr id="38" name="TextBox 37"/>
          <p:cNvSpPr txBox="1"/>
          <p:nvPr/>
        </p:nvSpPr>
        <p:spPr>
          <a:xfrm>
            <a:off x="6126480" y="5806440"/>
            <a:ext cx="5486400" cy="457200"/>
          </a:xfrm>
          <a:prstGeom prst="rect">
            <a:avLst/>
          </a:prstGeom>
          <a:noFill/>
        </p:spPr>
        <p:txBody>
          <a:bodyPr wrap="square" lIns="0" rIns="0" tIns="0" bIns="0" anchor="t">
            <a:spAutoFit/>
          </a:bodyPr>
          <a:lstStyle/>
          <a:p>
            <a:pPr algn="l">
              <a:lnSpc>
                <a:spcPct val="110000"/>
              </a:lnSpc>
            </a:pPr>
            <a:r>
              <a:rPr sz="1150" b="0" i="0">
                <a:solidFill>
                  <a:srgbClr val="898781"/>
                </a:solidFill>
                <a:latin typeface="Segoe UI"/>
              </a:rPr>
              <a:t>register_voter_k6.js ya usa la tercera forma, con la métrica register_failed.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3 · ESCRIBIR LA PRUEBA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Errores comunes y cómo reconocerlos</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13</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6" name="TextBox 5"/>
          <p:cNvSpPr txBox="1"/>
          <p:nvPr/>
        </p:nvSpPr>
        <p:spPr>
          <a:xfrm>
            <a:off x="548640" y="1371600"/>
            <a:ext cx="2743200" cy="274320"/>
          </a:xfrm>
          <a:prstGeom prst="rect">
            <a:avLst/>
          </a:prstGeom>
          <a:noFill/>
        </p:spPr>
        <p:txBody>
          <a:bodyPr wrap="square" lIns="0" rIns="0" tIns="0" bIns="0" anchor="t">
            <a:spAutoFit/>
          </a:bodyPr>
          <a:lstStyle/>
          <a:p>
            <a:pPr algn="l">
              <a:lnSpc>
                <a:spcPct val="110000"/>
              </a:lnSpc>
            </a:pPr>
            <a:r>
              <a:rPr sz="1100" b="1" i="0" spc="100">
                <a:solidFill>
                  <a:srgbClr val="898781"/>
                </a:solidFill>
                <a:latin typeface="Segoe UI"/>
              </a:rPr>
              <a:t>ERROR</a:t>
            </a:r>
          </a:p>
        </p:txBody>
      </p:sp>
      <p:sp>
        <p:nvSpPr>
          <p:cNvPr id="7" name="TextBox 6"/>
          <p:cNvSpPr txBox="1"/>
          <p:nvPr/>
        </p:nvSpPr>
        <p:spPr>
          <a:xfrm>
            <a:off x="3200400" y="1371600"/>
            <a:ext cx="4572000" cy="274320"/>
          </a:xfrm>
          <a:prstGeom prst="rect">
            <a:avLst/>
          </a:prstGeom>
          <a:noFill/>
        </p:spPr>
        <p:txBody>
          <a:bodyPr wrap="square" lIns="0" rIns="0" tIns="0" bIns="0" anchor="t">
            <a:spAutoFit/>
          </a:bodyPr>
          <a:lstStyle/>
          <a:p>
            <a:pPr algn="l">
              <a:lnSpc>
                <a:spcPct val="110000"/>
              </a:lnSpc>
            </a:pPr>
            <a:r>
              <a:rPr sz="1100" b="1" i="0" spc="100">
                <a:solidFill>
                  <a:srgbClr val="898781"/>
                </a:solidFill>
                <a:latin typeface="Segoe UI"/>
              </a:rPr>
              <a:t>CÓMO SE VE</a:t>
            </a:r>
          </a:p>
        </p:txBody>
      </p:sp>
      <p:sp>
        <p:nvSpPr>
          <p:cNvPr id="8" name="TextBox 7"/>
          <p:cNvSpPr txBox="1"/>
          <p:nvPr/>
        </p:nvSpPr>
        <p:spPr>
          <a:xfrm>
            <a:off x="7955279" y="1371600"/>
            <a:ext cx="3657600" cy="274320"/>
          </a:xfrm>
          <a:prstGeom prst="rect">
            <a:avLst/>
          </a:prstGeom>
          <a:noFill/>
        </p:spPr>
        <p:txBody>
          <a:bodyPr wrap="square" lIns="0" rIns="0" tIns="0" bIns="0" anchor="t">
            <a:spAutoFit/>
          </a:bodyPr>
          <a:lstStyle/>
          <a:p>
            <a:pPr algn="l">
              <a:lnSpc>
                <a:spcPct val="110000"/>
              </a:lnSpc>
            </a:pPr>
            <a:r>
              <a:rPr sz="1100" b="1" i="0" spc="100">
                <a:solidFill>
                  <a:srgbClr val="898781"/>
                </a:solidFill>
                <a:latin typeface="Segoe UI"/>
              </a:rPr>
              <a:t>CÓMO EVITARLO</a:t>
            </a:r>
          </a:p>
        </p:txBody>
      </p:sp>
      <p:cxnSp>
        <p:nvCxnSpPr>
          <p:cNvPr id="9" name="Connector 8"/>
          <p:cNvCxnSpPr/>
          <p:nvPr/>
        </p:nvCxnSpPr>
        <p:spPr>
          <a:xfrm>
            <a:off x="548640" y="1664207"/>
            <a:ext cx="11064240"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783080"/>
            <a:ext cx="2560320" cy="548640"/>
          </a:xfrm>
          <a:prstGeom prst="rect">
            <a:avLst/>
          </a:prstGeom>
          <a:noFill/>
        </p:spPr>
        <p:txBody>
          <a:bodyPr wrap="square" lIns="0" rIns="0" tIns="0" bIns="0" anchor="t">
            <a:spAutoFit/>
          </a:bodyPr>
          <a:lstStyle/>
          <a:p>
            <a:pPr algn="l">
              <a:lnSpc>
                <a:spcPct val="105000"/>
              </a:lnSpc>
            </a:pPr>
            <a:r>
              <a:rPr sz="1450" b="1" i="0">
                <a:solidFill>
                  <a:srgbClr val="0B0B0B"/>
                </a:solidFill>
                <a:latin typeface="Segoe UI"/>
              </a:rPr>
              <a:t>Inyector sobrecargado</a:t>
            </a:r>
          </a:p>
        </p:txBody>
      </p:sp>
      <p:sp>
        <p:nvSpPr>
          <p:cNvPr id="11" name="TextBox 10"/>
          <p:cNvSpPr txBox="1"/>
          <p:nvPr/>
        </p:nvSpPr>
        <p:spPr>
          <a:xfrm>
            <a:off x="3200400" y="1783080"/>
            <a:ext cx="4572000" cy="731520"/>
          </a:xfrm>
          <a:prstGeom prst="rect">
            <a:avLst/>
          </a:prstGeom>
          <a:noFill/>
        </p:spPr>
        <p:txBody>
          <a:bodyPr wrap="square" lIns="0" rIns="0" tIns="0" bIns="0" anchor="t">
            <a:spAutoFit/>
          </a:bodyPr>
          <a:lstStyle/>
          <a:p>
            <a:pPr algn="l">
              <a:lnSpc>
                <a:spcPct val="112000"/>
              </a:lnSpc>
            </a:pPr>
            <a:r>
              <a:rPr sz="1250" b="0" i="0">
                <a:solidFill>
                  <a:srgbClr val="52514E"/>
                </a:solidFill>
                <a:latin typeface="Segoe UI"/>
              </a:rPr>
              <a:t>La máquina que genera la carga se queda sin CPU o red y los tiempos salen inflados.</a:t>
            </a:r>
          </a:p>
        </p:txBody>
      </p:sp>
      <p:sp>
        <p:nvSpPr>
          <p:cNvPr id="12" name="TextBox 11"/>
          <p:cNvSpPr txBox="1"/>
          <p:nvPr/>
        </p:nvSpPr>
        <p:spPr>
          <a:xfrm>
            <a:off x="3200400" y="2304288"/>
            <a:ext cx="4572000" cy="502920"/>
          </a:xfrm>
          <a:prstGeom prst="rect">
            <a:avLst/>
          </a:prstGeom>
          <a:noFill/>
        </p:spPr>
        <p:txBody>
          <a:bodyPr wrap="square" lIns="0" rIns="0" tIns="0" bIns="0" anchor="t">
            <a:spAutoFit/>
          </a:bodyPr>
          <a:lstStyle/>
          <a:p>
            <a:pPr algn="l">
              <a:lnSpc>
                <a:spcPct val="110000"/>
              </a:lnSpc>
            </a:pPr>
            <a:r>
              <a:rPr sz="1150" b="1" i="0">
                <a:solidFill>
                  <a:srgbClr val="EB6834"/>
                </a:solidFill>
                <a:latin typeface="Segoe UI"/>
              </a:rPr>
              <a:t>Visto al preparar esta clase: CPU del portátil al 99 %; k6 reportaba p95 de 8,3 ms y el servidor menos de 1 ms.</a:t>
            </a:r>
          </a:p>
        </p:txBody>
      </p:sp>
      <p:sp>
        <p:nvSpPr>
          <p:cNvPr id="13" name="TextBox 12"/>
          <p:cNvSpPr txBox="1"/>
          <p:nvPr/>
        </p:nvSpPr>
        <p:spPr>
          <a:xfrm>
            <a:off x="7955279" y="1783080"/>
            <a:ext cx="3657600" cy="731520"/>
          </a:xfrm>
          <a:prstGeom prst="rect">
            <a:avLst/>
          </a:prstGeom>
          <a:noFill/>
        </p:spPr>
        <p:txBody>
          <a:bodyPr wrap="square" lIns="0" rIns="0" tIns="0" bIns="0" anchor="t">
            <a:spAutoFit/>
          </a:bodyPr>
          <a:lstStyle/>
          <a:p>
            <a:pPr algn="l">
              <a:lnSpc>
                <a:spcPct val="112000"/>
              </a:lnSpc>
            </a:pPr>
            <a:r>
              <a:rPr sz="1250" b="0" i="0">
                <a:solidFill>
                  <a:srgbClr val="0B0B0B"/>
                </a:solidFill>
                <a:latin typeface="Segoe UI"/>
              </a:rPr>
              <a:t>Monitorear también el inyector; separar CPUs o máquinas.</a:t>
            </a:r>
          </a:p>
        </p:txBody>
      </p:sp>
      <p:cxnSp>
        <p:nvCxnSpPr>
          <p:cNvPr id="14" name="Connector 13"/>
          <p:cNvCxnSpPr/>
          <p:nvPr/>
        </p:nvCxnSpPr>
        <p:spPr>
          <a:xfrm>
            <a:off x="548640" y="2807208"/>
            <a:ext cx="11064240"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2926079"/>
            <a:ext cx="2560320" cy="548640"/>
          </a:xfrm>
          <a:prstGeom prst="rect">
            <a:avLst/>
          </a:prstGeom>
          <a:noFill/>
        </p:spPr>
        <p:txBody>
          <a:bodyPr wrap="square" lIns="0" rIns="0" tIns="0" bIns="0" anchor="t">
            <a:spAutoFit/>
          </a:bodyPr>
          <a:lstStyle/>
          <a:p>
            <a:pPr algn="l">
              <a:lnSpc>
                <a:spcPct val="105000"/>
              </a:lnSpc>
            </a:pPr>
            <a:r>
              <a:rPr sz="1450" b="1" i="0">
                <a:solidFill>
                  <a:srgbClr val="0B0B0B"/>
                </a:solidFill>
                <a:latin typeface="Segoe UI"/>
              </a:rPr>
              <a:t>Estado de prueba sucio</a:t>
            </a:r>
          </a:p>
        </p:txBody>
      </p:sp>
      <p:sp>
        <p:nvSpPr>
          <p:cNvPr id="16" name="TextBox 15"/>
          <p:cNvSpPr txBox="1"/>
          <p:nvPr/>
        </p:nvSpPr>
        <p:spPr>
          <a:xfrm>
            <a:off x="3200400" y="2926079"/>
            <a:ext cx="4572000" cy="731520"/>
          </a:xfrm>
          <a:prstGeom prst="rect">
            <a:avLst/>
          </a:prstGeom>
          <a:noFill/>
        </p:spPr>
        <p:txBody>
          <a:bodyPr wrap="square" lIns="0" rIns="0" tIns="0" bIns="0" anchor="t">
            <a:spAutoFit/>
          </a:bodyPr>
          <a:lstStyle/>
          <a:p>
            <a:pPr algn="l">
              <a:lnSpc>
                <a:spcPct val="112000"/>
              </a:lnSpc>
            </a:pPr>
            <a:r>
              <a:rPr sz="1250" b="0" i="0">
                <a:solidFill>
                  <a:srgbClr val="52514E"/>
                </a:solidFill>
                <a:latin typeface="Segoe UI"/>
              </a:rPr>
              <a:t>Una segunda corrida reusa ids ya registrados y todo sale DUPLICATED.</a:t>
            </a:r>
          </a:p>
        </p:txBody>
      </p:sp>
      <p:sp>
        <p:nvSpPr>
          <p:cNvPr id="17" name="TextBox 16"/>
          <p:cNvSpPr txBox="1"/>
          <p:nvPr/>
        </p:nvSpPr>
        <p:spPr>
          <a:xfrm>
            <a:off x="7955279" y="2926079"/>
            <a:ext cx="3657600" cy="731520"/>
          </a:xfrm>
          <a:prstGeom prst="rect">
            <a:avLst/>
          </a:prstGeom>
          <a:noFill/>
        </p:spPr>
        <p:txBody>
          <a:bodyPr wrap="square" lIns="0" rIns="0" tIns="0" bIns="0" anchor="t">
            <a:spAutoFit/>
          </a:bodyPr>
          <a:lstStyle/>
          <a:p>
            <a:pPr algn="l">
              <a:lnSpc>
                <a:spcPct val="112000"/>
              </a:lnSpc>
            </a:pPr>
            <a:r>
              <a:rPr sz="1250" b="0" i="0">
                <a:solidFill>
                  <a:srgbClr val="0B0B0B"/>
                </a:solidFill>
                <a:latin typeface="Segoe UI"/>
              </a:rPr>
              <a:t>Reiniciar el servicio o usar ID_BASE entre corridas.</a:t>
            </a:r>
          </a:p>
        </p:txBody>
      </p:sp>
      <p:cxnSp>
        <p:nvCxnSpPr>
          <p:cNvPr id="18" name="Connector 17"/>
          <p:cNvCxnSpPr/>
          <p:nvPr/>
        </p:nvCxnSpPr>
        <p:spPr>
          <a:xfrm>
            <a:off x="548640" y="3630168"/>
            <a:ext cx="11064240"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3749039"/>
            <a:ext cx="2560320" cy="548640"/>
          </a:xfrm>
          <a:prstGeom prst="rect">
            <a:avLst/>
          </a:prstGeom>
          <a:noFill/>
        </p:spPr>
        <p:txBody>
          <a:bodyPr wrap="square" lIns="0" rIns="0" tIns="0" bIns="0" anchor="t">
            <a:spAutoFit/>
          </a:bodyPr>
          <a:lstStyle/>
          <a:p>
            <a:pPr algn="l">
              <a:lnSpc>
                <a:spcPct val="105000"/>
              </a:lnSpc>
            </a:pPr>
            <a:r>
              <a:rPr sz="1450" b="1" i="0">
                <a:solidFill>
                  <a:srgbClr val="0B0B0B"/>
                </a:solidFill>
                <a:latin typeface="Segoe UI"/>
              </a:rPr>
              <a:t>Probar solo al final</a:t>
            </a:r>
          </a:p>
        </p:txBody>
      </p:sp>
      <p:sp>
        <p:nvSpPr>
          <p:cNvPr id="20" name="TextBox 19"/>
          <p:cNvSpPr txBox="1"/>
          <p:nvPr/>
        </p:nvSpPr>
        <p:spPr>
          <a:xfrm>
            <a:off x="3200400" y="3749039"/>
            <a:ext cx="4572000" cy="731520"/>
          </a:xfrm>
          <a:prstGeom prst="rect">
            <a:avLst/>
          </a:prstGeom>
          <a:noFill/>
        </p:spPr>
        <p:txBody>
          <a:bodyPr wrap="square" lIns="0" rIns="0" tIns="0" bIns="0" anchor="t">
            <a:spAutoFit/>
          </a:bodyPr>
          <a:lstStyle/>
          <a:p>
            <a:pPr algn="l">
              <a:lnSpc>
                <a:spcPct val="112000"/>
              </a:lnSpc>
            </a:pPr>
            <a:r>
              <a:rPr sz="1250" b="0" i="0">
                <a:solidFill>
                  <a:srgbClr val="52514E"/>
                </a:solidFill>
                <a:latin typeface="Segoe UI"/>
              </a:rPr>
              <a:t>El cuello de botella aparece en preproducción, cuando cambiar el diseño es caro.</a:t>
            </a:r>
          </a:p>
        </p:txBody>
      </p:sp>
      <p:sp>
        <p:nvSpPr>
          <p:cNvPr id="21" name="TextBox 20"/>
          <p:cNvSpPr txBox="1"/>
          <p:nvPr/>
        </p:nvSpPr>
        <p:spPr>
          <a:xfrm>
            <a:off x="7955279" y="3749039"/>
            <a:ext cx="3657600" cy="731520"/>
          </a:xfrm>
          <a:prstGeom prst="rect">
            <a:avLst/>
          </a:prstGeom>
          <a:noFill/>
        </p:spPr>
        <p:txBody>
          <a:bodyPr wrap="square" lIns="0" rIns="0" tIns="0" bIns="0" anchor="t">
            <a:spAutoFit/>
          </a:bodyPr>
          <a:lstStyle/>
          <a:p>
            <a:pPr algn="l">
              <a:lnSpc>
                <a:spcPct val="112000"/>
              </a:lnSpc>
            </a:pPr>
            <a:r>
              <a:rPr sz="1250" b="0" i="0">
                <a:solidFill>
                  <a:srgbClr val="0B0B0B"/>
                </a:solidFill>
                <a:latin typeface="Segoe UI"/>
              </a:rPr>
              <a:t>Escenario corto en cada PR (shift-left).</a:t>
            </a:r>
          </a:p>
        </p:txBody>
      </p:sp>
      <p:cxnSp>
        <p:nvCxnSpPr>
          <p:cNvPr id="22" name="Connector 21"/>
          <p:cNvCxnSpPr/>
          <p:nvPr/>
        </p:nvCxnSpPr>
        <p:spPr>
          <a:xfrm>
            <a:off x="548640" y="4453128"/>
            <a:ext cx="11064240"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4572000"/>
            <a:ext cx="2560320" cy="548640"/>
          </a:xfrm>
          <a:prstGeom prst="rect">
            <a:avLst/>
          </a:prstGeom>
          <a:noFill/>
        </p:spPr>
        <p:txBody>
          <a:bodyPr wrap="square" lIns="0" rIns="0" tIns="0" bIns="0" anchor="t">
            <a:spAutoFit/>
          </a:bodyPr>
          <a:lstStyle/>
          <a:p>
            <a:pPr algn="l">
              <a:lnSpc>
                <a:spcPct val="105000"/>
              </a:lnSpc>
            </a:pPr>
            <a:r>
              <a:rPr sz="1450" b="1" i="0">
                <a:solidFill>
                  <a:srgbClr val="0B0B0B"/>
                </a:solidFill>
                <a:latin typeface="Segoe UI"/>
              </a:rPr>
              <a:t>Ignorar errores intermitentes</a:t>
            </a:r>
          </a:p>
        </p:txBody>
      </p:sp>
      <p:sp>
        <p:nvSpPr>
          <p:cNvPr id="24" name="TextBox 23"/>
          <p:cNvSpPr txBox="1"/>
          <p:nvPr/>
        </p:nvSpPr>
        <p:spPr>
          <a:xfrm>
            <a:off x="3200400" y="4572000"/>
            <a:ext cx="4572000" cy="731520"/>
          </a:xfrm>
          <a:prstGeom prst="rect">
            <a:avLst/>
          </a:prstGeom>
          <a:noFill/>
        </p:spPr>
        <p:txBody>
          <a:bodyPr wrap="square" lIns="0" rIns="0" tIns="0" bIns="0" anchor="t">
            <a:spAutoFit/>
          </a:bodyPr>
          <a:lstStyle/>
          <a:p>
            <a:pPr algn="l">
              <a:lnSpc>
                <a:spcPct val="112000"/>
              </a:lnSpc>
            </a:pPr>
            <a:r>
              <a:rPr sz="1250" b="0" i="0">
                <a:solidFill>
                  <a:srgbClr val="52514E"/>
                </a:solidFill>
                <a:latin typeface="Segoe UI"/>
              </a:rPr>
              <a:t>Un 0,2 % de fallos "de vez en cuando" suele ser un pool agotado o un timeout.</a:t>
            </a:r>
          </a:p>
        </p:txBody>
      </p:sp>
      <p:sp>
        <p:nvSpPr>
          <p:cNvPr id="25" name="TextBox 24"/>
          <p:cNvSpPr txBox="1"/>
          <p:nvPr/>
        </p:nvSpPr>
        <p:spPr>
          <a:xfrm>
            <a:off x="7955279" y="4572000"/>
            <a:ext cx="3657600" cy="731520"/>
          </a:xfrm>
          <a:prstGeom prst="rect">
            <a:avLst/>
          </a:prstGeom>
          <a:noFill/>
        </p:spPr>
        <p:txBody>
          <a:bodyPr wrap="square" lIns="0" rIns="0" tIns="0" bIns="0" anchor="t">
            <a:spAutoFit/>
          </a:bodyPr>
          <a:lstStyle/>
          <a:p>
            <a:pPr algn="l">
              <a:lnSpc>
                <a:spcPct val="112000"/>
              </a:lnSpc>
            </a:pPr>
            <a:r>
              <a:rPr sz="1250" b="0" i="0">
                <a:solidFill>
                  <a:srgbClr val="0B0B0B"/>
                </a:solidFill>
                <a:latin typeface="Segoe UI"/>
              </a:rPr>
              <a:t>Leer el tipo de error en k6 y el log del servidor, no solo la tasa.</a:t>
            </a:r>
          </a:p>
        </p:txBody>
      </p:sp>
      <p:cxnSp>
        <p:nvCxnSpPr>
          <p:cNvPr id="26" name="Connector 25"/>
          <p:cNvCxnSpPr/>
          <p:nvPr/>
        </p:nvCxnSpPr>
        <p:spPr>
          <a:xfrm>
            <a:off x="548640" y="5276088"/>
            <a:ext cx="11064240"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5394960"/>
            <a:ext cx="2560320" cy="548640"/>
          </a:xfrm>
          <a:prstGeom prst="rect">
            <a:avLst/>
          </a:prstGeom>
          <a:noFill/>
        </p:spPr>
        <p:txBody>
          <a:bodyPr wrap="square" lIns="0" rIns="0" tIns="0" bIns="0" anchor="t">
            <a:spAutoFit/>
          </a:bodyPr>
          <a:lstStyle/>
          <a:p>
            <a:pPr algn="l">
              <a:lnSpc>
                <a:spcPct val="105000"/>
              </a:lnSpc>
            </a:pPr>
            <a:r>
              <a:rPr sz="1450" b="1" i="0">
                <a:solidFill>
                  <a:srgbClr val="0B0B0B"/>
                </a:solidFill>
                <a:latin typeface="Segoe UI"/>
              </a:rPr>
              <a:t>Aleatoriedad pura</a:t>
            </a:r>
          </a:p>
        </p:txBody>
      </p:sp>
      <p:sp>
        <p:nvSpPr>
          <p:cNvPr id="28" name="TextBox 27"/>
          <p:cNvSpPr txBox="1"/>
          <p:nvPr/>
        </p:nvSpPr>
        <p:spPr>
          <a:xfrm>
            <a:off x="3200400" y="5394960"/>
            <a:ext cx="4572000" cy="731520"/>
          </a:xfrm>
          <a:prstGeom prst="rect">
            <a:avLst/>
          </a:prstGeom>
          <a:noFill/>
        </p:spPr>
        <p:txBody>
          <a:bodyPr wrap="square" lIns="0" rIns="0" tIns="0" bIns="0" anchor="t">
            <a:spAutoFit/>
          </a:bodyPr>
          <a:lstStyle/>
          <a:p>
            <a:pPr algn="l">
              <a:lnSpc>
                <a:spcPct val="112000"/>
              </a:lnSpc>
            </a:pPr>
            <a:r>
              <a:rPr sz="1250" b="0" i="0">
                <a:solidFill>
                  <a:srgbClr val="52514E"/>
                </a:solidFill>
                <a:latin typeface="Segoe UI"/>
              </a:rPr>
              <a:t>Con pocas iteraciones, el azar no reparte bien los casos y dos corridas no se comparan.</a:t>
            </a:r>
          </a:p>
        </p:txBody>
      </p:sp>
      <p:sp>
        <p:nvSpPr>
          <p:cNvPr id="29" name="TextBox 28"/>
          <p:cNvSpPr txBox="1"/>
          <p:nvPr/>
        </p:nvSpPr>
        <p:spPr>
          <a:xfrm>
            <a:off x="7955279" y="5394960"/>
            <a:ext cx="3657600" cy="731520"/>
          </a:xfrm>
          <a:prstGeom prst="rect">
            <a:avLst/>
          </a:prstGeom>
          <a:noFill/>
        </p:spPr>
        <p:txBody>
          <a:bodyPr wrap="square" lIns="0" rIns="0" tIns="0" bIns="0" anchor="t">
            <a:spAutoFit/>
          </a:bodyPr>
          <a:lstStyle/>
          <a:p>
            <a:pPr algn="l">
              <a:lnSpc>
                <a:spcPct val="112000"/>
              </a:lnSpc>
            </a:pPr>
            <a:r>
              <a:rPr sz="1250" b="0" i="0">
                <a:solidFill>
                  <a:srgbClr val="0B0B0B"/>
                </a:solidFill>
                <a:latin typeface="Segoe UI"/>
              </a:rPr>
              <a:t>Recorrer los datos barajados en orden, como un mazo de cartas.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3 · ERRORES REALES</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Lo que salió mal al medir para esta clase</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14</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6" name="Rounded Rectangle 5"/>
          <p:cNvSpPr/>
          <p:nvPr/>
        </p:nvSpPr>
        <p:spPr>
          <a:xfrm>
            <a:off x="548640" y="1417320"/>
            <a:ext cx="5440680" cy="2212848"/>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822959" y="1600200"/>
            <a:ext cx="4937760" cy="32004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El inyector compitiendo con el servicio</a:t>
            </a:r>
          </a:p>
        </p:txBody>
      </p:sp>
      <p:sp>
        <p:nvSpPr>
          <p:cNvPr id="8" name="TextBox 7"/>
          <p:cNvSpPr txBox="1"/>
          <p:nvPr/>
        </p:nvSpPr>
        <p:spPr>
          <a:xfrm>
            <a:off x="822959" y="2011680"/>
            <a:ext cx="4937760" cy="274320"/>
          </a:xfrm>
          <a:prstGeom prst="rect">
            <a:avLst/>
          </a:prstGeom>
          <a:noFill/>
        </p:spPr>
        <p:txBody>
          <a:bodyPr wrap="square" lIns="0" rIns="0" tIns="0" bIns="0" anchor="t">
            <a:spAutoFit/>
          </a:bodyPr>
          <a:lstStyle/>
          <a:p>
            <a:pPr algn="l">
              <a:lnSpc>
                <a:spcPct val="110000"/>
              </a:lnSpc>
            </a:pPr>
            <a:r>
              <a:rPr sz="1250" b="1" i="0">
                <a:solidFill>
                  <a:srgbClr val="D03B3B"/>
                </a:solidFill>
                <a:latin typeface="Segoe UI"/>
              </a:rPr>
              <a:t>Antes: </a:t>
            </a:r>
            <a:r>
              <a:rPr sz="1250" b="0" i="0">
                <a:solidFill>
                  <a:srgbClr val="0B0B0B"/>
                </a:solidFill>
                <a:latin typeface="Segoe UI"/>
              </a:rPr>
              <a:t>k6 y el servicio en los mismos 16 hilos: CPU al 99 %.</a:t>
            </a:r>
          </a:p>
        </p:txBody>
      </p:sp>
      <p:sp>
        <p:nvSpPr>
          <p:cNvPr id="9" name="TextBox 8"/>
          <p:cNvSpPr txBox="1"/>
          <p:nvPr/>
        </p:nvSpPr>
        <p:spPr>
          <a:xfrm>
            <a:off x="822959" y="2377440"/>
            <a:ext cx="4937760" cy="274320"/>
          </a:xfrm>
          <a:prstGeom prst="rect">
            <a:avLst/>
          </a:prstGeom>
          <a:noFill/>
        </p:spPr>
        <p:txBody>
          <a:bodyPr wrap="square" lIns="0" rIns="0" tIns="0" bIns="0" anchor="t">
            <a:spAutoFit/>
          </a:bodyPr>
          <a:lstStyle/>
          <a:p>
            <a:pPr algn="l">
              <a:lnSpc>
                <a:spcPct val="110000"/>
              </a:lnSpc>
            </a:pPr>
            <a:r>
              <a:rPr sz="1250" b="1" i="0">
                <a:solidFill>
                  <a:srgbClr val="006300"/>
                </a:solidFill>
                <a:latin typeface="Segoe UI"/>
              </a:rPr>
              <a:t>Después: </a:t>
            </a:r>
            <a:r>
              <a:rPr sz="1250" b="0" i="0">
                <a:solidFill>
                  <a:srgbClr val="0B0B0B"/>
                </a:solidFill>
                <a:latin typeface="Segoe UI"/>
              </a:rPr>
              <a:t>servicio en 1 núcleo, k6 en otros 14 hilos.</a:t>
            </a:r>
          </a:p>
        </p:txBody>
      </p:sp>
      <p:sp>
        <p:nvSpPr>
          <p:cNvPr id="10" name="TextBox 9"/>
          <p:cNvSpPr txBox="1"/>
          <p:nvPr/>
        </p:nvSpPr>
        <p:spPr>
          <a:xfrm>
            <a:off x="822959" y="2788920"/>
            <a:ext cx="4937760" cy="73152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Sin separarlos, parte del tiempo que reporta k6 es k6 esperando CPU.</a:t>
            </a:r>
          </a:p>
        </p:txBody>
      </p:sp>
      <p:sp>
        <p:nvSpPr>
          <p:cNvPr id="11" name="Rounded Rectangle 10"/>
          <p:cNvSpPr/>
          <p:nvPr/>
        </p:nvSpPr>
        <p:spPr>
          <a:xfrm>
            <a:off x="6172200" y="1417320"/>
            <a:ext cx="5440680" cy="2212848"/>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2" name="TextBox 11"/>
          <p:cNvSpPr txBox="1"/>
          <p:nvPr/>
        </p:nvSpPr>
        <p:spPr>
          <a:xfrm>
            <a:off x="6446520" y="1600200"/>
            <a:ext cx="4937760" cy="32004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La JVM no sabía cuántos núcleos tenía</a:t>
            </a:r>
          </a:p>
        </p:txBody>
      </p:sp>
      <p:sp>
        <p:nvSpPr>
          <p:cNvPr id="13" name="TextBox 12"/>
          <p:cNvSpPr txBox="1"/>
          <p:nvPr/>
        </p:nvSpPr>
        <p:spPr>
          <a:xfrm>
            <a:off x="6446520" y="2011680"/>
            <a:ext cx="4937760" cy="274320"/>
          </a:xfrm>
          <a:prstGeom prst="rect">
            <a:avLst/>
          </a:prstGeom>
          <a:noFill/>
        </p:spPr>
        <p:txBody>
          <a:bodyPr wrap="square" lIns="0" rIns="0" tIns="0" bIns="0" anchor="t">
            <a:spAutoFit/>
          </a:bodyPr>
          <a:lstStyle/>
          <a:p>
            <a:pPr algn="l">
              <a:lnSpc>
                <a:spcPct val="110000"/>
              </a:lnSpc>
            </a:pPr>
            <a:r>
              <a:rPr sz="1250" b="1" i="0">
                <a:solidFill>
                  <a:srgbClr val="D03B3B"/>
                </a:solidFill>
                <a:latin typeface="Segoe UI"/>
              </a:rPr>
              <a:t>Antes: </a:t>
            </a:r>
            <a:r>
              <a:rPr sz="1250" b="0" i="0">
                <a:solidFill>
                  <a:srgbClr val="0B0B0B"/>
                </a:solidFill>
                <a:latin typeface="Segoe UI"/>
              </a:rPr>
              <a:t>p99 del servidor de hasta 476 ms con 100 VUs.</a:t>
            </a:r>
          </a:p>
        </p:txBody>
      </p:sp>
      <p:sp>
        <p:nvSpPr>
          <p:cNvPr id="14" name="TextBox 13"/>
          <p:cNvSpPr txBox="1"/>
          <p:nvPr/>
        </p:nvSpPr>
        <p:spPr>
          <a:xfrm>
            <a:off x="6446520" y="2377440"/>
            <a:ext cx="4937760" cy="274320"/>
          </a:xfrm>
          <a:prstGeom prst="rect">
            <a:avLst/>
          </a:prstGeom>
          <a:noFill/>
        </p:spPr>
        <p:txBody>
          <a:bodyPr wrap="square" lIns="0" rIns="0" tIns="0" bIns="0" anchor="t">
            <a:spAutoFit/>
          </a:bodyPr>
          <a:lstStyle/>
          <a:p>
            <a:pPr algn="l">
              <a:lnSpc>
                <a:spcPct val="110000"/>
              </a:lnSpc>
            </a:pPr>
            <a:r>
              <a:rPr sz="1250" b="1" i="0">
                <a:solidFill>
                  <a:srgbClr val="006300"/>
                </a:solidFill>
                <a:latin typeface="Segoe UI"/>
              </a:rPr>
              <a:t>Después: </a:t>
            </a:r>
            <a:r>
              <a:rPr sz="1250" b="0" i="0">
                <a:solidFill>
                  <a:srgbClr val="0B0B0B"/>
                </a:solidFill>
                <a:latin typeface="Segoe UI"/>
              </a:rPr>
              <a:t>menos de 1 ms con -XX:ActiveProcessorCount.</a:t>
            </a:r>
          </a:p>
        </p:txBody>
      </p:sp>
      <p:sp>
        <p:nvSpPr>
          <p:cNvPr id="15" name="TextBox 14"/>
          <p:cNvSpPr txBox="1"/>
          <p:nvPr/>
        </p:nvSpPr>
        <p:spPr>
          <a:xfrm>
            <a:off x="6446520" y="2788920"/>
            <a:ext cx="4937760" cy="73152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Una JVM que cree tener 16 CPUs pero corre en 2 dimensiona mal sus hilos de GC. Además no compartía núcleo con k6.</a:t>
            </a:r>
          </a:p>
        </p:txBody>
      </p:sp>
      <p:sp>
        <p:nvSpPr>
          <p:cNvPr id="16" name="Rounded Rectangle 15"/>
          <p:cNvSpPr/>
          <p:nvPr/>
        </p:nvSpPr>
        <p:spPr>
          <a:xfrm>
            <a:off x="548640" y="3794760"/>
            <a:ext cx="5440680" cy="2212848"/>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7" name="TextBox 16"/>
          <p:cNvSpPr txBox="1"/>
          <p:nvPr/>
        </p:nvSpPr>
        <p:spPr>
          <a:xfrm>
            <a:off x="822959" y="3977640"/>
            <a:ext cx="4937760" cy="32004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Medir sin calentar</a:t>
            </a:r>
          </a:p>
        </p:txBody>
      </p:sp>
      <p:sp>
        <p:nvSpPr>
          <p:cNvPr id="18" name="TextBox 17"/>
          <p:cNvSpPr txBox="1"/>
          <p:nvPr/>
        </p:nvSpPr>
        <p:spPr>
          <a:xfrm>
            <a:off x="822959" y="4389120"/>
            <a:ext cx="4937760" cy="274320"/>
          </a:xfrm>
          <a:prstGeom prst="rect">
            <a:avLst/>
          </a:prstGeom>
          <a:noFill/>
        </p:spPr>
        <p:txBody>
          <a:bodyPr wrap="square" lIns="0" rIns="0" tIns="0" bIns="0" anchor="t">
            <a:spAutoFit/>
          </a:bodyPr>
          <a:lstStyle/>
          <a:p>
            <a:pPr algn="l">
              <a:lnSpc>
                <a:spcPct val="110000"/>
              </a:lnSpc>
            </a:pPr>
            <a:r>
              <a:rPr sz="1250" b="1" i="0">
                <a:solidFill>
                  <a:srgbClr val="D03B3B"/>
                </a:solidFill>
                <a:latin typeface="Segoe UI"/>
              </a:rPr>
              <a:t>Antes: </a:t>
            </a:r>
            <a:r>
              <a:rPr sz="1250" b="0" i="0">
                <a:solidFill>
                  <a:srgbClr val="0B0B0B"/>
                </a:solidFill>
                <a:latin typeface="Segoe UI"/>
              </a:rPr>
              <a:t>3.370 req/s en la primera corrida tras arrancar.</a:t>
            </a:r>
          </a:p>
        </p:txBody>
      </p:sp>
      <p:sp>
        <p:nvSpPr>
          <p:cNvPr id="19" name="TextBox 18"/>
          <p:cNvSpPr txBox="1"/>
          <p:nvPr/>
        </p:nvSpPr>
        <p:spPr>
          <a:xfrm>
            <a:off x="822959" y="4754880"/>
            <a:ext cx="4937760" cy="274320"/>
          </a:xfrm>
          <a:prstGeom prst="rect">
            <a:avLst/>
          </a:prstGeom>
          <a:noFill/>
        </p:spPr>
        <p:txBody>
          <a:bodyPr wrap="square" lIns="0" rIns="0" tIns="0" bIns="0" anchor="t">
            <a:spAutoFit/>
          </a:bodyPr>
          <a:lstStyle/>
          <a:p>
            <a:pPr algn="l">
              <a:lnSpc>
                <a:spcPct val="110000"/>
              </a:lnSpc>
            </a:pPr>
            <a:r>
              <a:rPr sz="1250" b="1" i="0">
                <a:solidFill>
                  <a:srgbClr val="006300"/>
                </a:solidFill>
                <a:latin typeface="Segoe UI"/>
              </a:rPr>
              <a:t>Después: </a:t>
            </a:r>
            <a:r>
              <a:rPr sz="1250" b="0" i="0">
                <a:solidFill>
                  <a:srgbClr val="0B0B0B"/>
                </a:solidFill>
                <a:latin typeface="Segoe UI"/>
              </a:rPr>
              <a:t>6.420 req/s en la siguiente, idéntica.</a:t>
            </a:r>
          </a:p>
        </p:txBody>
      </p:sp>
      <p:sp>
        <p:nvSpPr>
          <p:cNvPr id="20" name="TextBox 19"/>
          <p:cNvSpPr txBox="1"/>
          <p:nvPr/>
        </p:nvSpPr>
        <p:spPr>
          <a:xfrm>
            <a:off x="822959" y="5166360"/>
            <a:ext cx="4937760" cy="73152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El compilador JIT todavía estaba trabajando. Siempre hay un calentamiento que no se mide.</a:t>
            </a:r>
          </a:p>
        </p:txBody>
      </p:sp>
      <p:sp>
        <p:nvSpPr>
          <p:cNvPr id="21" name="Rounded Rectangle 20"/>
          <p:cNvSpPr/>
          <p:nvPr/>
        </p:nvSpPr>
        <p:spPr>
          <a:xfrm>
            <a:off x="6172200" y="3794760"/>
            <a:ext cx="5440680" cy="2212848"/>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2" name="TextBox 21"/>
          <p:cNvSpPr txBox="1"/>
          <p:nvPr/>
        </p:nvSpPr>
        <p:spPr>
          <a:xfrm>
            <a:off x="6446520" y="3977640"/>
            <a:ext cx="4937760" cy="32004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Buscar el error solo en el log</a:t>
            </a:r>
          </a:p>
        </p:txBody>
      </p:sp>
      <p:sp>
        <p:nvSpPr>
          <p:cNvPr id="23" name="TextBox 22"/>
          <p:cNvSpPr txBox="1"/>
          <p:nvPr/>
        </p:nvSpPr>
        <p:spPr>
          <a:xfrm>
            <a:off x="6446520" y="4389120"/>
            <a:ext cx="4937760" cy="274320"/>
          </a:xfrm>
          <a:prstGeom prst="rect">
            <a:avLst/>
          </a:prstGeom>
          <a:noFill/>
        </p:spPr>
        <p:txBody>
          <a:bodyPr wrap="square" lIns="0" rIns="0" tIns="0" bIns="0" anchor="t">
            <a:spAutoFit/>
          </a:bodyPr>
          <a:lstStyle/>
          <a:p>
            <a:pPr algn="l">
              <a:lnSpc>
                <a:spcPct val="110000"/>
              </a:lnSpc>
            </a:pPr>
            <a:r>
              <a:rPr sz="1250" b="1" i="0">
                <a:solidFill>
                  <a:srgbClr val="D03B3B"/>
                </a:solidFill>
                <a:latin typeface="Segoe UI"/>
              </a:rPr>
              <a:t>Síntoma: </a:t>
            </a:r>
            <a:r>
              <a:rPr sz="1250" b="0" i="0">
                <a:solidFill>
                  <a:srgbClr val="0B0B0B"/>
                </a:solidFill>
                <a:latin typeface="Segoe UI"/>
              </a:rPr>
              <a:t>10 % de peticiones fallidas con 400 VUs.</a:t>
            </a:r>
          </a:p>
        </p:txBody>
      </p:sp>
      <p:sp>
        <p:nvSpPr>
          <p:cNvPr id="24" name="TextBox 23"/>
          <p:cNvSpPr txBox="1"/>
          <p:nvPr/>
        </p:nvSpPr>
        <p:spPr>
          <a:xfrm>
            <a:off x="6446520" y="4754880"/>
            <a:ext cx="4937760" cy="274320"/>
          </a:xfrm>
          <a:prstGeom prst="rect">
            <a:avLst/>
          </a:prstGeom>
          <a:noFill/>
        </p:spPr>
        <p:txBody>
          <a:bodyPr wrap="square" lIns="0" rIns="0" tIns="0" bIns="0" anchor="t">
            <a:spAutoFit/>
          </a:bodyPr>
          <a:lstStyle/>
          <a:p>
            <a:pPr algn="l">
              <a:lnSpc>
                <a:spcPct val="110000"/>
              </a:lnSpc>
            </a:pPr>
            <a:r>
              <a:rPr sz="1250" b="1" i="0">
                <a:solidFill>
                  <a:srgbClr val="52514E"/>
                </a:solidFill>
                <a:latin typeface="Segoe UI"/>
              </a:rPr>
              <a:t>En el log: </a:t>
            </a:r>
            <a:r>
              <a:rPr sz="1250" b="0" i="0">
                <a:solidFill>
                  <a:srgbClr val="0B0B0B"/>
                </a:solidFill>
                <a:latin typeface="Segoe UI"/>
              </a:rPr>
              <a:t>ni una sola excepción en el log del servidor.</a:t>
            </a:r>
          </a:p>
        </p:txBody>
      </p:sp>
      <p:sp>
        <p:nvSpPr>
          <p:cNvPr id="25" name="TextBox 24"/>
          <p:cNvSpPr txBox="1"/>
          <p:nvPr/>
        </p:nvSpPr>
        <p:spPr>
          <a:xfrm>
            <a:off x="6446520" y="5166360"/>
            <a:ext cx="4937760" cy="73152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Bajo saturación, muchos fallos ocurren antes de llegar a la aplicación: conexiones y timeouts. Hay que leer los errores en k6.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3 · ARQUITECTURA DE LA PRUEBA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Cuando un solo inyector no alcanza</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15</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6" name="Rounded Rectangle 5"/>
          <p:cNvSpPr/>
          <p:nvPr/>
        </p:nvSpPr>
        <p:spPr>
          <a:xfrm>
            <a:off x="548640" y="1554480"/>
            <a:ext cx="2743200" cy="301752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731520" y="1691640"/>
            <a:ext cx="2377440" cy="32004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Inyectores de carga</a:t>
            </a:r>
          </a:p>
        </p:txBody>
      </p:sp>
      <p:sp>
        <p:nvSpPr>
          <p:cNvPr id="8" name="Rounded Rectangle 7"/>
          <p:cNvSpPr/>
          <p:nvPr/>
        </p:nvSpPr>
        <p:spPr>
          <a:xfrm>
            <a:off x="822960" y="2194560"/>
            <a:ext cx="2194560" cy="548640"/>
          </a:xfrm>
          <a:prstGeom prst="roundRect">
            <a:avLst>
              <a:gd name="adj" fmla="val 12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0">
                <a:solidFill>
                  <a:srgbClr val="52514E"/>
                </a:solidFill>
                <a:latin typeface="Consolas"/>
              </a:rPr>
              <a:t>k6 · nodo 1</a:t>
            </a:r>
          </a:p>
        </p:txBody>
      </p:sp>
      <p:sp>
        <p:nvSpPr>
          <p:cNvPr id="9" name="Rounded Rectangle 8"/>
          <p:cNvSpPr/>
          <p:nvPr/>
        </p:nvSpPr>
        <p:spPr>
          <a:xfrm>
            <a:off x="822960" y="2926080"/>
            <a:ext cx="2194560" cy="548640"/>
          </a:xfrm>
          <a:prstGeom prst="roundRect">
            <a:avLst>
              <a:gd name="adj" fmla="val 12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0">
                <a:solidFill>
                  <a:srgbClr val="52514E"/>
                </a:solidFill>
                <a:latin typeface="Consolas"/>
              </a:rPr>
              <a:t>k6 · nodo 2</a:t>
            </a:r>
          </a:p>
        </p:txBody>
      </p:sp>
      <p:sp>
        <p:nvSpPr>
          <p:cNvPr id="10" name="Rounded Rectangle 9"/>
          <p:cNvSpPr/>
          <p:nvPr/>
        </p:nvSpPr>
        <p:spPr>
          <a:xfrm>
            <a:off x="822960" y="3657600"/>
            <a:ext cx="2194560" cy="548640"/>
          </a:xfrm>
          <a:prstGeom prst="roundRect">
            <a:avLst>
              <a:gd name="adj" fmla="val 12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0">
                <a:solidFill>
                  <a:srgbClr val="52514E"/>
                </a:solidFill>
                <a:latin typeface="Consolas"/>
              </a:rPr>
              <a:t>k6 · nodo 3</a:t>
            </a:r>
          </a:p>
        </p:txBody>
      </p:sp>
      <p:sp>
        <p:nvSpPr>
          <p:cNvPr id="11" name="Rounded Rectangle 10"/>
          <p:cNvSpPr/>
          <p:nvPr/>
        </p:nvSpPr>
        <p:spPr>
          <a:xfrm>
            <a:off x="4434840" y="2651760"/>
            <a:ext cx="2011680" cy="822960"/>
          </a:xfrm>
          <a:prstGeom prst="roundRect">
            <a:avLst>
              <a:gd name="adj" fmla="val 50000"/>
            </a:avLst>
          </a:prstGeom>
          <a:solidFill>
            <a:srgbClr val="FFFFFF"/>
          </a:solidFill>
          <a:ln w="12700">
            <a:solidFill>
              <a:srgbClr val="52514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0B0B0B"/>
                </a:solidFill>
                <a:latin typeface="Segoe UI"/>
              </a:rPr>
              <a:t>Balanceador</a:t>
            </a:r>
          </a:p>
        </p:txBody>
      </p:sp>
      <p:sp>
        <p:nvSpPr>
          <p:cNvPr id="12" name="Rounded Rectangle 11"/>
          <p:cNvSpPr/>
          <p:nvPr/>
        </p:nvSpPr>
        <p:spPr>
          <a:xfrm>
            <a:off x="7589520" y="1554480"/>
            <a:ext cx="2103120" cy="301752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3" name="TextBox 12"/>
          <p:cNvSpPr txBox="1"/>
          <p:nvPr/>
        </p:nvSpPr>
        <p:spPr>
          <a:xfrm>
            <a:off x="7772400" y="1691640"/>
            <a:ext cx="1828800" cy="32004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Sistema bajo prueba</a:t>
            </a:r>
          </a:p>
        </p:txBody>
      </p:sp>
      <p:sp>
        <p:nvSpPr>
          <p:cNvPr id="14" name="Rounded Rectangle 13"/>
          <p:cNvSpPr/>
          <p:nvPr/>
        </p:nvSpPr>
        <p:spPr>
          <a:xfrm>
            <a:off x="7818120" y="2194560"/>
            <a:ext cx="1645920" cy="548640"/>
          </a:xfrm>
          <a:prstGeom prst="roundRect">
            <a:avLst>
              <a:gd name="adj" fmla="val 12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1">
                <a:solidFill>
                  <a:srgbClr val="FFFFFF"/>
                </a:solidFill>
                <a:latin typeface="Segoe UI"/>
              </a:rPr>
              <a:t>instancia 1</a:t>
            </a:r>
          </a:p>
        </p:txBody>
      </p:sp>
      <p:sp>
        <p:nvSpPr>
          <p:cNvPr id="15" name="Rounded Rectangle 14"/>
          <p:cNvSpPr/>
          <p:nvPr/>
        </p:nvSpPr>
        <p:spPr>
          <a:xfrm>
            <a:off x="7818120" y="2926080"/>
            <a:ext cx="1645920" cy="548640"/>
          </a:xfrm>
          <a:prstGeom prst="roundRect">
            <a:avLst>
              <a:gd name="adj" fmla="val 12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1">
                <a:solidFill>
                  <a:srgbClr val="FFFFFF"/>
                </a:solidFill>
                <a:latin typeface="Segoe UI"/>
              </a:rPr>
              <a:t>instancia 2</a:t>
            </a:r>
          </a:p>
        </p:txBody>
      </p:sp>
      <p:sp>
        <p:nvSpPr>
          <p:cNvPr id="16" name="Rounded Rectangle 15"/>
          <p:cNvSpPr/>
          <p:nvPr/>
        </p:nvSpPr>
        <p:spPr>
          <a:xfrm>
            <a:off x="7818120" y="3657600"/>
            <a:ext cx="1645920" cy="548640"/>
          </a:xfrm>
          <a:prstGeom prst="roundRect">
            <a:avLst>
              <a:gd name="adj" fmla="val 12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1">
                <a:solidFill>
                  <a:srgbClr val="FFFFFF"/>
                </a:solidFill>
                <a:latin typeface="Segoe UI"/>
              </a:rPr>
              <a:t>instancia 3</a:t>
            </a:r>
          </a:p>
        </p:txBody>
      </p:sp>
      <p:sp>
        <p:nvSpPr>
          <p:cNvPr id="17" name="Rounded Rectangle 16"/>
          <p:cNvSpPr/>
          <p:nvPr/>
        </p:nvSpPr>
        <p:spPr>
          <a:xfrm>
            <a:off x="10332720" y="2651760"/>
            <a:ext cx="1280160" cy="822960"/>
          </a:xfrm>
          <a:prstGeom prst="roundRect">
            <a:avLst>
              <a:gd name="adj" fmla="val 12000"/>
            </a:avLst>
          </a:prstGeom>
          <a:solidFill>
            <a:srgbClr val="F3F2EE"/>
          </a:solidFill>
          <a:ln w="12700">
            <a:solidFill>
              <a:srgbClr val="C3C2B7"/>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300" b="1">
                <a:solidFill>
                  <a:srgbClr val="52514E"/>
                </a:solidFill>
                <a:latin typeface="Segoe UI"/>
              </a:rPr>
              <a:t>Base de
datos</a:t>
            </a:r>
          </a:p>
        </p:txBody>
      </p:sp>
      <p:cxnSp>
        <p:nvCxnSpPr>
          <p:cNvPr id="18" name="Connector 17"/>
          <p:cNvCxnSpPr/>
          <p:nvPr/>
        </p:nvCxnSpPr>
        <p:spPr>
          <a:xfrm>
            <a:off x="3017520" y="2468880"/>
            <a:ext cx="1417320" cy="594360"/>
          </a:xfrm>
          <a:prstGeom prst="line">
            <a:avLst/>
          </a:prstGeom>
          <a:ln w="1587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446520" y="2468880"/>
            <a:ext cx="1371600" cy="594360"/>
          </a:xfrm>
          <a:prstGeom prst="line">
            <a:avLst/>
          </a:prstGeom>
          <a:ln w="1587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017520" y="3063240"/>
            <a:ext cx="1417320" cy="137160"/>
          </a:xfrm>
          <a:prstGeom prst="line">
            <a:avLst/>
          </a:prstGeom>
          <a:ln w="1587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46520" y="3063240"/>
            <a:ext cx="1371600" cy="137160"/>
          </a:xfrm>
          <a:prstGeom prst="line">
            <a:avLst/>
          </a:prstGeom>
          <a:ln w="1587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017520" y="3063240"/>
            <a:ext cx="1417320" cy="868680"/>
          </a:xfrm>
          <a:prstGeom prst="line">
            <a:avLst/>
          </a:prstGeom>
          <a:ln w="1587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446520" y="3063240"/>
            <a:ext cx="1371600" cy="868680"/>
          </a:xfrm>
          <a:prstGeom prst="line">
            <a:avLst/>
          </a:prstGeom>
          <a:ln w="1587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464040" y="3063240"/>
            <a:ext cx="868680" cy="0"/>
          </a:xfrm>
          <a:prstGeom prst="line">
            <a:avLst/>
          </a:prstGeom>
          <a:ln w="1587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48640" y="4846320"/>
            <a:ext cx="11064240" cy="502920"/>
          </a:xfrm>
          <a:prstGeom prst="roundRect">
            <a:avLst>
              <a:gd name="adj" fmla="val 20000"/>
            </a:avLst>
          </a:prstGeom>
          <a:solidFill>
            <a:srgbClr val="FBE1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300" b="1">
                <a:solidFill>
                  <a:srgbClr val="8A3A14"/>
                </a:solidFill>
                <a:latin typeface="Segoe UI"/>
              </a:rPr>
              <a:t>Observabilidad de TODOS los nodos: CPU y red de los inyectores, métricas del servicio, base de datos</a:t>
            </a:r>
          </a:p>
        </p:txBody>
      </p:sp>
      <p:sp>
        <p:nvSpPr>
          <p:cNvPr id="26" name="TextBox 25"/>
          <p:cNvSpPr txBox="1"/>
          <p:nvPr/>
        </p:nvSpPr>
        <p:spPr>
          <a:xfrm>
            <a:off x="548640" y="5532120"/>
            <a:ext cx="356616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El inyector nunca es el cuello de botella</a:t>
            </a:r>
          </a:p>
        </p:txBody>
      </p:sp>
      <p:sp>
        <p:nvSpPr>
          <p:cNvPr id="27" name="TextBox 26"/>
          <p:cNvSpPr txBox="1"/>
          <p:nvPr/>
        </p:nvSpPr>
        <p:spPr>
          <a:xfrm>
            <a:off x="548640" y="5824728"/>
            <a:ext cx="3566160" cy="548640"/>
          </a:xfrm>
          <a:prstGeom prst="rect">
            <a:avLst/>
          </a:prstGeom>
          <a:noFill/>
        </p:spPr>
        <p:txBody>
          <a:bodyPr wrap="square" lIns="0" rIns="0" tIns="0" bIns="0" anchor="t">
            <a:spAutoFit/>
          </a:bodyPr>
          <a:lstStyle/>
          <a:p>
            <a:pPr algn="l">
              <a:lnSpc>
                <a:spcPct val="110000"/>
              </a:lnSpc>
            </a:pPr>
            <a:r>
              <a:rPr sz="1150" b="0" i="0">
                <a:solidFill>
                  <a:srgbClr val="52514E"/>
                </a:solidFill>
                <a:latin typeface="Segoe UI"/>
              </a:rPr>
              <a:t>Si su CPU pasa del ~80 %, los tiempos que reporta ya no son del servicio.</a:t>
            </a:r>
          </a:p>
        </p:txBody>
      </p:sp>
      <p:sp>
        <p:nvSpPr>
          <p:cNvPr id="28" name="TextBox 27"/>
          <p:cNvSpPr txBox="1"/>
          <p:nvPr/>
        </p:nvSpPr>
        <p:spPr>
          <a:xfrm>
            <a:off x="4297679" y="5532120"/>
            <a:ext cx="356616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Pocas IPs de origen</a:t>
            </a:r>
          </a:p>
        </p:txBody>
      </p:sp>
      <p:sp>
        <p:nvSpPr>
          <p:cNvPr id="29" name="TextBox 28"/>
          <p:cNvSpPr txBox="1"/>
          <p:nvPr/>
        </p:nvSpPr>
        <p:spPr>
          <a:xfrm>
            <a:off x="4297679" y="5824728"/>
            <a:ext cx="3566160" cy="548640"/>
          </a:xfrm>
          <a:prstGeom prst="rect">
            <a:avLst/>
          </a:prstGeom>
          <a:noFill/>
        </p:spPr>
        <p:txBody>
          <a:bodyPr wrap="square" lIns="0" rIns="0" tIns="0" bIns="0" anchor="t">
            <a:spAutoFit/>
          </a:bodyPr>
          <a:lstStyle/>
          <a:p>
            <a:pPr algn="l">
              <a:lnSpc>
                <a:spcPct val="110000"/>
              </a:lnSpc>
            </a:pPr>
            <a:r>
              <a:rPr sz="1150" b="0" i="0">
                <a:solidFill>
                  <a:srgbClr val="52514E"/>
                </a:solidFill>
                <a:latin typeface="Segoe UI"/>
              </a:rPr>
              <a:t>Un balanceo por IP puede mandar toda la carga a una sola instancia.</a:t>
            </a:r>
          </a:p>
        </p:txBody>
      </p:sp>
      <p:sp>
        <p:nvSpPr>
          <p:cNvPr id="30" name="TextBox 29"/>
          <p:cNvSpPr txBox="1"/>
          <p:nvPr/>
        </p:nvSpPr>
        <p:spPr>
          <a:xfrm>
            <a:off x="8046719" y="5532120"/>
            <a:ext cx="356616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Rampa con tiempo para escalar</a:t>
            </a:r>
          </a:p>
        </p:txBody>
      </p:sp>
      <p:sp>
        <p:nvSpPr>
          <p:cNvPr id="31" name="TextBox 30"/>
          <p:cNvSpPr txBox="1"/>
          <p:nvPr/>
        </p:nvSpPr>
        <p:spPr>
          <a:xfrm>
            <a:off x="8046719" y="5824728"/>
            <a:ext cx="3566160" cy="548640"/>
          </a:xfrm>
          <a:prstGeom prst="rect">
            <a:avLst/>
          </a:prstGeom>
          <a:noFill/>
        </p:spPr>
        <p:txBody>
          <a:bodyPr wrap="square" lIns="0" rIns="0" tIns="0" bIns="0" anchor="t">
            <a:spAutoFit/>
          </a:bodyPr>
          <a:lstStyle/>
          <a:p>
            <a:pPr algn="l">
              <a:lnSpc>
                <a:spcPct val="110000"/>
              </a:lnSpc>
            </a:pPr>
            <a:r>
              <a:rPr sz="1150" b="0" i="0">
                <a:solidFill>
                  <a:srgbClr val="52514E"/>
                </a:solidFill>
                <a:latin typeface="Segoe UI"/>
              </a:rPr>
              <a:t>El autoescalado reacciona en minutos; una rampa de segundos lo prueba mal.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3 · HERRAMIENTAS</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Herramientas: se elige por el equipo, no por moda</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16</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graphicFrame>
        <p:nvGraphicFramePr>
          <p:cNvPr id="6" name="Table 5"/>
          <p:cNvGraphicFramePr>
            <a:graphicFrameLocks noGrp="1"/>
          </p:cNvGraphicFramePr>
          <p:nvPr/>
        </p:nvGraphicFramePr>
        <p:xfrm>
          <a:off x="548640" y="1463040"/>
          <a:ext cx="11064240" cy="4480560"/>
        </p:xfrm>
        <a:graphic>
          <a:graphicData uri="http://schemas.openxmlformats.org/drawingml/2006/table">
            <a:tbl>
              <a:tblPr firstRow="1" bandRow="1">
                <a:tableStyleId>{2D5ABB26-0587-4C30-8999-92F81FD0307C}</a:tableStyleId>
              </a:tblPr>
              <a:tblGrid>
                <a:gridCol w="1828800"/>
                <a:gridCol w="2834640"/>
                <a:gridCol w="3291840"/>
                <a:gridCol w="3108960"/>
              </a:tblGrid>
              <a:tr h="502920">
                <a:tc>
                  <a:txBody>
                    <a:bodyPr wrap="square"/>
                    <a:lstStyle/>
                    <a:p>
                      <a:r>
                        <a:rPr sz="1200" b="1">
                          <a:solidFill>
                            <a:srgbClr val="52514E"/>
                          </a:solidFill>
                          <a:latin typeface="Segoe UI"/>
                        </a:rPr>
                        <a:t>Herramienta</a:t>
                      </a:r>
                    </a:p>
                  </a:txBody>
                  <a:tcPr anchor="ctr" marL="128016">
                    <a:solidFill>
                      <a:srgbClr val="FFFFFF"/>
                    </a:solidFill>
                  </a:tcPr>
                </a:tc>
                <a:tc>
                  <a:txBody>
                    <a:bodyPr wrap="square"/>
                    <a:lstStyle/>
                    <a:p>
                      <a:r>
                        <a:rPr sz="1200" b="1">
                          <a:solidFill>
                            <a:srgbClr val="52514E"/>
                          </a:solidFill>
                          <a:latin typeface="Segoe UI"/>
                        </a:rPr>
                        <a:t>Cómo se escribe la prueba</a:t>
                      </a:r>
                    </a:p>
                  </a:txBody>
                  <a:tcPr anchor="ctr" marL="128016">
                    <a:solidFill>
                      <a:srgbClr val="FFFFFF"/>
                    </a:solidFill>
                  </a:tcPr>
                </a:tc>
                <a:tc>
                  <a:txBody>
                    <a:bodyPr wrap="square"/>
                    <a:lstStyle/>
                    <a:p>
                      <a:r>
                        <a:rPr sz="1200" b="1">
                          <a:solidFill>
                            <a:srgbClr val="52514E"/>
                          </a:solidFill>
                          <a:latin typeface="Segoe UI"/>
                        </a:rPr>
                        <a:t>Fortaleza</a:t>
                      </a:r>
                    </a:p>
                  </a:txBody>
                  <a:tcPr anchor="ctr" marL="128016">
                    <a:solidFill>
                      <a:srgbClr val="FFFFFF"/>
                    </a:solidFill>
                  </a:tcPr>
                </a:tc>
                <a:tc>
                  <a:txBody>
                    <a:bodyPr wrap="square"/>
                    <a:lstStyle/>
                    <a:p>
                      <a:r>
                        <a:rPr sz="1200" b="1">
                          <a:solidFill>
                            <a:srgbClr val="52514E"/>
                          </a:solidFill>
                          <a:latin typeface="Segoe UI"/>
                        </a:rPr>
                        <a:t>Buena elección cuando…</a:t>
                      </a:r>
                    </a:p>
                  </a:txBody>
                  <a:tcPr anchor="ctr" marL="128016">
                    <a:solidFill>
                      <a:srgbClr val="FFFFFF"/>
                    </a:solidFill>
                  </a:tcPr>
                </a:tc>
              </a:tr>
              <a:tr h="795528">
                <a:tc>
                  <a:txBody>
                    <a:bodyPr wrap="square"/>
                    <a:lstStyle/>
                    <a:p>
                      <a:r>
                        <a:rPr sz="1300" b="1">
                          <a:solidFill>
                            <a:srgbClr val="0B0B0B"/>
                          </a:solidFill>
                          <a:latin typeface="Segoe UI"/>
                        </a:rPr>
                        <a:t>k6</a:t>
                      </a:r>
                    </a:p>
                  </a:txBody>
                  <a:tcPr anchor="ctr" marL="128016">
                    <a:solidFill>
                      <a:srgbClr val="CDE2FB"/>
                    </a:solidFill>
                  </a:tcPr>
                </a:tc>
                <a:tc>
                  <a:txBody>
                    <a:bodyPr wrap="square"/>
                    <a:lstStyle/>
                    <a:p>
                      <a:r>
                        <a:rPr sz="1300" b="0">
                          <a:solidFill>
                            <a:srgbClr val="0B0B0B"/>
                          </a:solidFill>
                          <a:latin typeface="Segoe UI"/>
                        </a:rPr>
                        <a:t>JavaScript; motor en Go</a:t>
                      </a:r>
                    </a:p>
                  </a:txBody>
                  <a:tcPr anchor="ctr" marL="128016">
                    <a:solidFill>
                      <a:srgbClr val="CDE2FB"/>
                    </a:solidFill>
                  </a:tcPr>
                </a:tc>
                <a:tc>
                  <a:txBody>
                    <a:bodyPr wrap="square"/>
                    <a:lstStyle/>
                    <a:p>
                      <a:r>
                        <a:rPr sz="1300" b="0">
                          <a:solidFill>
                            <a:srgbClr val="0B0B0B"/>
                          </a:solidFill>
                          <a:latin typeface="Segoe UI"/>
                        </a:rPr>
                        <a:t>Scripts versionables, thresholds como gate de CI</a:t>
                      </a:r>
                    </a:p>
                  </a:txBody>
                  <a:tcPr anchor="ctr" marL="128016">
                    <a:solidFill>
                      <a:srgbClr val="CDE2FB"/>
                    </a:solidFill>
                  </a:tcPr>
                </a:tc>
                <a:tc>
                  <a:txBody>
                    <a:bodyPr wrap="square"/>
                    <a:lstStyle/>
                    <a:p>
                      <a:r>
                        <a:rPr sz="1300" b="0">
                          <a:solidFill>
                            <a:srgbClr val="0B0B0B"/>
                          </a:solidFill>
                          <a:latin typeface="Segoe UI"/>
                        </a:rPr>
                        <a:t>el equipo vive en el repositorio y en CI</a:t>
                      </a:r>
                    </a:p>
                  </a:txBody>
                  <a:tcPr anchor="ctr" marL="128016">
                    <a:solidFill>
                      <a:srgbClr val="CDE2FB"/>
                    </a:solidFill>
                  </a:tcPr>
                </a:tc>
              </a:tr>
              <a:tr h="795528">
                <a:tc>
                  <a:txBody>
                    <a:bodyPr wrap="square"/>
                    <a:lstStyle/>
                    <a:p>
                      <a:r>
                        <a:rPr sz="1300" b="1">
                          <a:solidFill>
                            <a:srgbClr val="0B0B0B"/>
                          </a:solidFill>
                          <a:latin typeface="Segoe UI"/>
                        </a:rPr>
                        <a:t>Apache JMeter</a:t>
                      </a:r>
                    </a:p>
                  </a:txBody>
                  <a:tcPr anchor="ctr" marL="128016">
                    <a:solidFill>
                      <a:srgbClr val="FFFFFF"/>
                    </a:solidFill>
                  </a:tcPr>
                </a:tc>
                <a:tc>
                  <a:txBody>
                    <a:bodyPr wrap="square"/>
                    <a:lstStyle/>
                    <a:p>
                      <a:r>
                        <a:rPr sz="1300" b="0">
                          <a:solidFill>
                            <a:srgbClr val="0B0B0B"/>
                          </a:solidFill>
                          <a:latin typeface="Segoe UI"/>
                        </a:rPr>
                        <a:t>Plan .jmx con interfaz gráfica</a:t>
                      </a:r>
                    </a:p>
                  </a:txBody>
                  <a:tcPr anchor="ctr" marL="128016">
                    <a:solidFill>
                      <a:srgbClr val="FFFFFF"/>
                    </a:solidFill>
                  </a:tcPr>
                </a:tc>
                <a:tc>
                  <a:txBody>
                    <a:bodyPr wrap="square"/>
                    <a:lstStyle/>
                    <a:p>
                      <a:r>
                        <a:rPr sz="1300" b="0">
                          <a:solidFill>
                            <a:srgbClr val="0B0B0B"/>
                          </a:solidFill>
                          <a:latin typeface="Segoe UI"/>
                        </a:rPr>
                        <a:t>Muchos protocolos y plugins; muy conocido</a:t>
                      </a:r>
                    </a:p>
                  </a:txBody>
                  <a:tcPr anchor="ctr" marL="128016">
                    <a:solidFill>
                      <a:srgbClr val="FFFFFF"/>
                    </a:solidFill>
                  </a:tcPr>
                </a:tc>
                <a:tc>
                  <a:txBody>
                    <a:bodyPr wrap="square"/>
                    <a:lstStyle/>
                    <a:p>
                      <a:r>
                        <a:rPr sz="1300" b="0">
                          <a:solidFill>
                            <a:srgbClr val="0B0B0B"/>
                          </a:solidFill>
                          <a:latin typeface="Segoe UI"/>
                        </a:rPr>
                        <a:t>se prueban protocolos variados o hay equipos QA sin código</a:t>
                      </a:r>
                    </a:p>
                  </a:txBody>
                  <a:tcPr anchor="ctr" marL="128016">
                    <a:solidFill>
                      <a:srgbClr val="FFFFFF"/>
                    </a:solidFill>
                  </a:tcPr>
                </a:tc>
              </a:tr>
              <a:tr h="795528">
                <a:tc>
                  <a:txBody>
                    <a:bodyPr wrap="square"/>
                    <a:lstStyle/>
                    <a:p>
                      <a:r>
                        <a:rPr sz="1300" b="1">
                          <a:solidFill>
                            <a:srgbClr val="0B0B0B"/>
                          </a:solidFill>
                          <a:latin typeface="Segoe UI"/>
                        </a:rPr>
                        <a:t>Gatling</a:t>
                      </a:r>
                    </a:p>
                  </a:txBody>
                  <a:tcPr anchor="ctr" marL="128016">
                    <a:solidFill>
                      <a:srgbClr val="FCFCFB"/>
                    </a:solidFill>
                  </a:tcPr>
                </a:tc>
                <a:tc>
                  <a:txBody>
                    <a:bodyPr wrap="square"/>
                    <a:lstStyle/>
                    <a:p>
                      <a:r>
                        <a:rPr sz="1300" b="0">
                          <a:solidFill>
                            <a:srgbClr val="0B0B0B"/>
                          </a:solidFill>
                          <a:latin typeface="Segoe UI"/>
                        </a:rPr>
                        <a:t>DSL en Java, Kotlin o Scala</a:t>
                      </a:r>
                    </a:p>
                  </a:txBody>
                  <a:tcPr anchor="ctr" marL="128016">
                    <a:solidFill>
                      <a:srgbClr val="FCFCFB"/>
                    </a:solidFill>
                  </a:tcPr>
                </a:tc>
                <a:tc>
                  <a:txBody>
                    <a:bodyPr wrap="square"/>
                    <a:lstStyle/>
                    <a:p>
                      <a:r>
                        <a:rPr sz="1300" b="0">
                          <a:solidFill>
                            <a:srgbClr val="0B0B0B"/>
                          </a:solidFill>
                          <a:latin typeface="Segoe UI"/>
                        </a:rPr>
                        <a:t>Alta concurrencia por nodo; reporte HTML</a:t>
                      </a:r>
                    </a:p>
                  </a:txBody>
                  <a:tcPr anchor="ctr" marL="128016">
                    <a:solidFill>
                      <a:srgbClr val="FCFCFB"/>
                    </a:solidFill>
                  </a:tcPr>
                </a:tc>
                <a:tc>
                  <a:txBody>
                    <a:bodyPr wrap="square"/>
                    <a:lstStyle/>
                    <a:p>
                      <a:r>
                        <a:rPr sz="1300" b="0">
                          <a:solidFill>
                            <a:srgbClr val="0B0B0B"/>
                          </a:solidFill>
                          <a:latin typeface="Segoe UI"/>
                        </a:rPr>
                        <a:t>el equipo es JVM y necesita mucho volumen</a:t>
                      </a:r>
                    </a:p>
                  </a:txBody>
                  <a:tcPr anchor="ctr" marL="128016">
                    <a:solidFill>
                      <a:srgbClr val="FCFCFB"/>
                    </a:solidFill>
                  </a:tcPr>
                </a:tc>
              </a:tr>
              <a:tr h="795528">
                <a:tc>
                  <a:txBody>
                    <a:bodyPr wrap="square"/>
                    <a:lstStyle/>
                    <a:p>
                      <a:r>
                        <a:rPr sz="1300" b="1">
                          <a:solidFill>
                            <a:srgbClr val="0B0B0B"/>
                          </a:solidFill>
                          <a:latin typeface="Segoe UI"/>
                        </a:rPr>
                        <a:t>Locust</a:t>
                      </a:r>
                    </a:p>
                  </a:txBody>
                  <a:tcPr anchor="ctr" marL="128016">
                    <a:solidFill>
                      <a:srgbClr val="FFFFFF"/>
                    </a:solidFill>
                  </a:tcPr>
                </a:tc>
                <a:tc>
                  <a:txBody>
                    <a:bodyPr wrap="square"/>
                    <a:lstStyle/>
                    <a:p>
                      <a:r>
                        <a:rPr sz="1300" b="0">
                          <a:solidFill>
                            <a:srgbClr val="0B0B0B"/>
                          </a:solidFill>
                          <a:latin typeface="Segoe UI"/>
                        </a:rPr>
                        <a:t>Python</a:t>
                      </a:r>
                    </a:p>
                  </a:txBody>
                  <a:tcPr anchor="ctr" marL="128016">
                    <a:solidFill>
                      <a:srgbClr val="FFFFFF"/>
                    </a:solidFill>
                  </a:tcPr>
                </a:tc>
                <a:tc>
                  <a:txBody>
                    <a:bodyPr wrap="square"/>
                    <a:lstStyle/>
                    <a:p>
                      <a:r>
                        <a:rPr sz="1300" b="0">
                          <a:solidFill>
                            <a:srgbClr val="0B0B0B"/>
                          </a:solidFill>
                          <a:latin typeface="Segoe UI"/>
                        </a:rPr>
                        <a:t>Usuarios modelados como clases; UI web en vivo</a:t>
                      </a:r>
                    </a:p>
                  </a:txBody>
                  <a:tcPr anchor="ctr" marL="128016">
                    <a:solidFill>
                      <a:srgbClr val="FFFFFF"/>
                    </a:solidFill>
                  </a:tcPr>
                </a:tc>
                <a:tc>
                  <a:txBody>
                    <a:bodyPr wrap="square"/>
                    <a:lstStyle/>
                    <a:p>
                      <a:r>
                        <a:rPr sz="1300" b="0">
                          <a:solidFill>
                            <a:srgbClr val="0B0B0B"/>
                          </a:solidFill>
                          <a:latin typeface="Segoe UI"/>
                        </a:rPr>
                        <a:t>el comportamiento del usuario es complejo</a:t>
                      </a:r>
                    </a:p>
                  </a:txBody>
                  <a:tcPr anchor="ctr" marL="128016">
                    <a:solidFill>
                      <a:srgbClr val="FFFFFF"/>
                    </a:solidFill>
                  </a:tcPr>
                </a:tc>
              </a:tr>
              <a:tr h="795528">
                <a:tc>
                  <a:txBody>
                    <a:bodyPr wrap="square"/>
                    <a:lstStyle/>
                    <a:p>
                      <a:r>
                        <a:rPr sz="1300" b="1">
                          <a:solidFill>
                            <a:srgbClr val="0B0B0B"/>
                          </a:solidFill>
                          <a:latin typeface="Segoe UI"/>
                        </a:rPr>
                        <a:t>Artillery</a:t>
                      </a:r>
                    </a:p>
                  </a:txBody>
                  <a:tcPr anchor="ctr" marL="128016">
                    <a:solidFill>
                      <a:srgbClr val="FCFCFB"/>
                    </a:solidFill>
                  </a:tcPr>
                </a:tc>
                <a:tc>
                  <a:txBody>
                    <a:bodyPr wrap="square"/>
                    <a:lstStyle/>
                    <a:p>
                      <a:r>
                        <a:rPr sz="1300" b="0">
                          <a:solidFill>
                            <a:srgbClr val="0B0B0B"/>
                          </a:solidFill>
                          <a:latin typeface="Segoe UI"/>
                        </a:rPr>
                        <a:t>YAML + JavaScript (Node.js)</a:t>
                      </a:r>
                    </a:p>
                  </a:txBody>
                  <a:tcPr anchor="ctr" marL="128016">
                    <a:solidFill>
                      <a:srgbClr val="FCFCFB"/>
                    </a:solidFill>
                  </a:tcPr>
                </a:tc>
                <a:tc>
                  <a:txBody>
                    <a:bodyPr wrap="square"/>
                    <a:lstStyle/>
                    <a:p>
                      <a:r>
                        <a:rPr sz="1300" b="0">
                          <a:solidFill>
                            <a:srgbClr val="0B0B0B"/>
                          </a:solidFill>
                          <a:latin typeface="Segoe UI"/>
                        </a:rPr>
                        <a:t>Configuración corta; HTTP, WebSocket</a:t>
                      </a:r>
                    </a:p>
                  </a:txBody>
                  <a:tcPr anchor="ctr" marL="128016">
                    <a:solidFill>
                      <a:srgbClr val="FCFCFB"/>
                    </a:solidFill>
                  </a:tcPr>
                </a:tc>
                <a:tc>
                  <a:txBody>
                    <a:bodyPr wrap="square"/>
                    <a:lstStyle/>
                    <a:p>
                      <a:r>
                        <a:rPr sz="1300" b="0">
                          <a:solidFill>
                            <a:srgbClr val="0B0B0B"/>
                          </a:solidFill>
                          <a:latin typeface="Segoe UI"/>
                        </a:rPr>
                        <a:t>se quiere algo liviano en un proyecto Node</a:t>
                      </a:r>
                    </a:p>
                  </a:txBody>
                  <a:tcPr anchor="ctr" marL="128016">
                    <a:solidFill>
                      <a:srgbClr val="FCFCFB"/>
                    </a:solidFill>
                  </a:tcPr>
                </a:tc>
              </a:tr>
            </a:tbl>
          </a:graphicData>
        </a:graphic>
      </p:graphicFrame>
      <p:sp>
        <p:nvSpPr>
          <p:cNvPr id="7" name="TextBox 6"/>
          <p:cNvSpPr txBox="1"/>
          <p:nvPr/>
        </p:nvSpPr>
        <p:spPr>
          <a:xfrm>
            <a:off x="548640" y="6035040"/>
            <a:ext cx="10972800" cy="274320"/>
          </a:xfrm>
          <a:prstGeom prst="rect">
            <a:avLst/>
          </a:prstGeom>
          <a:noFill/>
        </p:spPr>
        <p:txBody>
          <a:bodyPr wrap="square" lIns="0" rIns="0" tIns="0" bIns="0" anchor="t">
            <a:spAutoFit/>
          </a:bodyPr>
          <a:lstStyle/>
          <a:p>
            <a:pPr algn="l">
              <a:lnSpc>
                <a:spcPct val="110000"/>
              </a:lnSpc>
            </a:pPr>
            <a:r>
              <a:rPr sz="1100" b="0" i="0">
                <a:solidFill>
                  <a:srgbClr val="898781"/>
                </a:solidFill>
                <a:latin typeface="Segoe UI"/>
              </a:rPr>
              <a:t>Resaltada: la herramienta del taller. Los conceptos (VUs, rampas, percentiles, umbrales) son los mismos en todas.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4 · DIAGNÓSTICO</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Del síntoma a la causa en tres niveles</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17</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6" name="Rounded Rectangle 5"/>
          <p:cNvSpPr/>
          <p:nvPr/>
        </p:nvSpPr>
        <p:spPr>
          <a:xfrm>
            <a:off x="548640" y="1463040"/>
            <a:ext cx="11064240" cy="1417320"/>
          </a:xfrm>
          <a:prstGeom prst="roundRect">
            <a:avLst>
              <a:gd name="adj" fmla="val 8000"/>
            </a:avLst>
          </a:prstGeom>
          <a:solidFill>
            <a:srgbClr val="86B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868680" y="1645920"/>
            <a:ext cx="548640" cy="731520"/>
          </a:xfrm>
          <a:prstGeom prst="rect">
            <a:avLst/>
          </a:prstGeom>
          <a:noFill/>
        </p:spPr>
        <p:txBody>
          <a:bodyPr wrap="square" lIns="0" rIns="0" tIns="0" bIns="0" anchor="t">
            <a:spAutoFit/>
          </a:bodyPr>
          <a:lstStyle/>
          <a:p>
            <a:pPr algn="l">
              <a:lnSpc>
                <a:spcPct val="110000"/>
              </a:lnSpc>
            </a:pPr>
            <a:r>
              <a:rPr sz="3600" b="1" i="0">
                <a:solidFill>
                  <a:srgbClr val="0B0B0B"/>
                </a:solidFill>
                <a:latin typeface="Segoe UI"/>
              </a:rPr>
              <a:t>1</a:t>
            </a:r>
          </a:p>
        </p:txBody>
      </p:sp>
      <p:sp>
        <p:nvSpPr>
          <p:cNvPr id="8" name="TextBox 7"/>
          <p:cNvSpPr txBox="1"/>
          <p:nvPr/>
        </p:nvSpPr>
        <p:spPr>
          <a:xfrm>
            <a:off x="1554480" y="1645920"/>
            <a:ext cx="3017520" cy="365760"/>
          </a:xfrm>
          <a:prstGeom prst="rect">
            <a:avLst/>
          </a:prstGeom>
          <a:noFill/>
        </p:spPr>
        <p:txBody>
          <a:bodyPr wrap="square" lIns="0" rIns="0" tIns="0" bIns="0" anchor="t">
            <a:spAutoFit/>
          </a:bodyPr>
          <a:lstStyle/>
          <a:p>
            <a:pPr algn="l">
              <a:lnSpc>
                <a:spcPct val="110000"/>
              </a:lnSpc>
            </a:pPr>
            <a:r>
              <a:rPr sz="1700" b="1" i="0">
                <a:solidFill>
                  <a:srgbClr val="0B0B0B"/>
                </a:solidFill>
                <a:latin typeface="Segoe UI"/>
              </a:rPr>
              <a:t>¿Qué ve el usuario?</a:t>
            </a:r>
          </a:p>
        </p:txBody>
      </p:sp>
      <p:sp>
        <p:nvSpPr>
          <p:cNvPr id="9" name="TextBox 8"/>
          <p:cNvSpPr txBox="1"/>
          <p:nvPr/>
        </p:nvSpPr>
        <p:spPr>
          <a:xfrm>
            <a:off x="1554480" y="2029968"/>
            <a:ext cx="2743200" cy="274320"/>
          </a:xfrm>
          <a:prstGeom prst="rect">
            <a:avLst/>
          </a:prstGeom>
          <a:noFill/>
        </p:spPr>
        <p:txBody>
          <a:bodyPr wrap="square" lIns="0" rIns="0" tIns="0" bIns="0" anchor="t">
            <a:spAutoFit/>
          </a:bodyPr>
          <a:lstStyle/>
          <a:p>
            <a:pPr algn="l">
              <a:lnSpc>
                <a:spcPct val="110000"/>
              </a:lnSpc>
            </a:pPr>
            <a:r>
              <a:rPr sz="1200" b="0" i="0">
                <a:solidFill>
                  <a:srgbClr val="0B0B0B"/>
                </a:solidFill>
                <a:latin typeface="Segoe UI"/>
              </a:rPr>
              <a:t>El síntoma</a:t>
            </a:r>
          </a:p>
        </p:txBody>
      </p:sp>
      <p:sp>
        <p:nvSpPr>
          <p:cNvPr id="10" name="TextBox 9"/>
          <p:cNvSpPr txBox="1"/>
          <p:nvPr/>
        </p:nvSpPr>
        <p:spPr>
          <a:xfrm>
            <a:off x="4480559" y="1645920"/>
            <a:ext cx="6858000" cy="1097280"/>
          </a:xfrm>
          <a:prstGeom prst="rect">
            <a:avLst/>
          </a:prstGeom>
          <a:noFill/>
        </p:spPr>
        <p:txBody>
          <a:bodyPr wrap="square" lIns="0" rIns="0" tIns="0" bIns="0" anchor="ctr">
            <a:spAutoFit/>
          </a:bodyPr>
          <a:lstStyle/>
          <a:p>
            <a:pPr algn="l">
              <a:lnSpc>
                <a:spcPct val="115000"/>
              </a:lnSpc>
            </a:pPr>
            <a:r>
              <a:rPr sz="1250" b="0" i="0">
                <a:solidFill>
                  <a:srgbClr val="0B0B0B"/>
                </a:solidFill>
                <a:latin typeface="Segoe UI"/>
              </a:rPr>
              <a:t>k6: p95 / p99, http_req_failed, register_failed, peticiones por segundo</a:t>
            </a:r>
          </a:p>
        </p:txBody>
      </p:sp>
      <p:sp>
        <p:nvSpPr>
          <p:cNvPr id="11" name="Rounded Rectangle 10"/>
          <p:cNvSpPr/>
          <p:nvPr/>
        </p:nvSpPr>
        <p:spPr>
          <a:xfrm>
            <a:off x="1280160" y="3035808"/>
            <a:ext cx="9601200" cy="141732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2" name="TextBox 11"/>
          <p:cNvSpPr txBox="1"/>
          <p:nvPr/>
        </p:nvSpPr>
        <p:spPr>
          <a:xfrm>
            <a:off x="1600200" y="3218688"/>
            <a:ext cx="548640" cy="731520"/>
          </a:xfrm>
          <a:prstGeom prst="rect">
            <a:avLst/>
          </a:prstGeom>
          <a:noFill/>
        </p:spPr>
        <p:txBody>
          <a:bodyPr wrap="square" lIns="0" rIns="0" tIns="0" bIns="0" anchor="t">
            <a:spAutoFit/>
          </a:bodyPr>
          <a:lstStyle/>
          <a:p>
            <a:pPr algn="l">
              <a:lnSpc>
                <a:spcPct val="110000"/>
              </a:lnSpc>
            </a:pPr>
            <a:r>
              <a:rPr sz="3600" b="1" i="0">
                <a:solidFill>
                  <a:srgbClr val="FFFFFF"/>
                </a:solidFill>
                <a:latin typeface="Segoe UI"/>
              </a:rPr>
              <a:t>2</a:t>
            </a:r>
          </a:p>
        </p:txBody>
      </p:sp>
      <p:sp>
        <p:nvSpPr>
          <p:cNvPr id="13" name="TextBox 12"/>
          <p:cNvSpPr txBox="1"/>
          <p:nvPr/>
        </p:nvSpPr>
        <p:spPr>
          <a:xfrm>
            <a:off x="2286000" y="3218688"/>
            <a:ext cx="3017520" cy="365760"/>
          </a:xfrm>
          <a:prstGeom prst="rect">
            <a:avLst/>
          </a:prstGeom>
          <a:noFill/>
        </p:spPr>
        <p:txBody>
          <a:bodyPr wrap="square" lIns="0" rIns="0" tIns="0" bIns="0" anchor="t">
            <a:spAutoFit/>
          </a:bodyPr>
          <a:lstStyle/>
          <a:p>
            <a:pPr algn="l">
              <a:lnSpc>
                <a:spcPct val="110000"/>
              </a:lnSpc>
            </a:pPr>
            <a:r>
              <a:rPr sz="1700" b="1" i="0">
                <a:solidFill>
                  <a:srgbClr val="FFFFFF"/>
                </a:solidFill>
                <a:latin typeface="Segoe UI"/>
              </a:rPr>
              <a:t>¿Dónde se va el tiempo?</a:t>
            </a:r>
          </a:p>
        </p:txBody>
      </p:sp>
      <p:sp>
        <p:nvSpPr>
          <p:cNvPr id="14" name="TextBox 13"/>
          <p:cNvSpPr txBox="1"/>
          <p:nvPr/>
        </p:nvSpPr>
        <p:spPr>
          <a:xfrm>
            <a:off x="2286000" y="3602736"/>
            <a:ext cx="2743200" cy="274320"/>
          </a:xfrm>
          <a:prstGeom prst="rect">
            <a:avLst/>
          </a:prstGeom>
          <a:noFill/>
        </p:spPr>
        <p:txBody>
          <a:bodyPr wrap="square" lIns="0" rIns="0" tIns="0" bIns="0" anchor="t">
            <a:spAutoFit/>
          </a:bodyPr>
          <a:lstStyle/>
          <a:p>
            <a:pPr algn="l">
              <a:lnSpc>
                <a:spcPct val="110000"/>
              </a:lnSpc>
            </a:pPr>
            <a:r>
              <a:rPr sz="1200" b="0" i="0">
                <a:solidFill>
                  <a:srgbClr val="FFFFFF"/>
                </a:solidFill>
                <a:latin typeface="Segoe UI"/>
              </a:rPr>
              <a:t>La ubicación</a:t>
            </a:r>
          </a:p>
        </p:txBody>
      </p:sp>
      <p:sp>
        <p:nvSpPr>
          <p:cNvPr id="15" name="TextBox 14"/>
          <p:cNvSpPr txBox="1"/>
          <p:nvPr/>
        </p:nvSpPr>
        <p:spPr>
          <a:xfrm>
            <a:off x="5212079" y="3218688"/>
            <a:ext cx="5394960" cy="1097280"/>
          </a:xfrm>
          <a:prstGeom prst="rect">
            <a:avLst/>
          </a:prstGeom>
          <a:noFill/>
        </p:spPr>
        <p:txBody>
          <a:bodyPr wrap="square" lIns="0" rIns="0" tIns="0" bIns="0" anchor="ctr">
            <a:spAutoFit/>
          </a:bodyPr>
          <a:lstStyle/>
          <a:p>
            <a:pPr algn="l">
              <a:lnSpc>
                <a:spcPct val="115000"/>
              </a:lnSpc>
            </a:pPr>
            <a:r>
              <a:rPr sz="1250" b="0" i="0">
                <a:solidFill>
                  <a:srgbClr val="FFFFFF"/>
                </a:solidFill>
                <a:latin typeface="Segoe UI"/>
              </a:rPr>
              <a:t>Actuator: http.server.requests. Si el servidor dice 1 ms y k6 dice 90 ms, el tiempo está en la cola, no en el código. Con varios servicios: trazas distribuidas (OpenTelemetry).</a:t>
            </a:r>
          </a:p>
        </p:txBody>
      </p:sp>
      <p:sp>
        <p:nvSpPr>
          <p:cNvPr id="16" name="Rounded Rectangle 15"/>
          <p:cNvSpPr/>
          <p:nvPr/>
        </p:nvSpPr>
        <p:spPr>
          <a:xfrm>
            <a:off x="2011679" y="4608576"/>
            <a:ext cx="8138160" cy="1417320"/>
          </a:xfrm>
          <a:prstGeom prst="roundRect">
            <a:avLst>
              <a:gd name="adj" fmla="val 8000"/>
            </a:avLst>
          </a:prstGeom>
          <a:solidFill>
            <a:srgbClr val="184F9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7" name="TextBox 16"/>
          <p:cNvSpPr txBox="1"/>
          <p:nvPr/>
        </p:nvSpPr>
        <p:spPr>
          <a:xfrm>
            <a:off x="2331720" y="4791456"/>
            <a:ext cx="548640" cy="731520"/>
          </a:xfrm>
          <a:prstGeom prst="rect">
            <a:avLst/>
          </a:prstGeom>
          <a:noFill/>
        </p:spPr>
        <p:txBody>
          <a:bodyPr wrap="square" lIns="0" rIns="0" tIns="0" bIns="0" anchor="t">
            <a:spAutoFit/>
          </a:bodyPr>
          <a:lstStyle/>
          <a:p>
            <a:pPr algn="l">
              <a:lnSpc>
                <a:spcPct val="110000"/>
              </a:lnSpc>
            </a:pPr>
            <a:r>
              <a:rPr sz="3600" b="1" i="0">
                <a:solidFill>
                  <a:srgbClr val="FFFFFF"/>
                </a:solidFill>
                <a:latin typeface="Segoe UI"/>
              </a:rPr>
              <a:t>3</a:t>
            </a:r>
          </a:p>
        </p:txBody>
      </p:sp>
      <p:sp>
        <p:nvSpPr>
          <p:cNvPr id="18" name="TextBox 17"/>
          <p:cNvSpPr txBox="1"/>
          <p:nvPr/>
        </p:nvSpPr>
        <p:spPr>
          <a:xfrm>
            <a:off x="3017520" y="4791456"/>
            <a:ext cx="3017520" cy="365760"/>
          </a:xfrm>
          <a:prstGeom prst="rect">
            <a:avLst/>
          </a:prstGeom>
          <a:noFill/>
        </p:spPr>
        <p:txBody>
          <a:bodyPr wrap="square" lIns="0" rIns="0" tIns="0" bIns="0" anchor="t">
            <a:spAutoFit/>
          </a:bodyPr>
          <a:lstStyle/>
          <a:p>
            <a:pPr algn="l">
              <a:lnSpc>
                <a:spcPct val="110000"/>
              </a:lnSpc>
            </a:pPr>
            <a:r>
              <a:rPr sz="1700" b="1" i="0">
                <a:solidFill>
                  <a:srgbClr val="FFFFFF"/>
                </a:solidFill>
                <a:latin typeface="Segoe UI"/>
              </a:rPr>
              <a:t>¿Por qué?</a:t>
            </a:r>
          </a:p>
        </p:txBody>
      </p:sp>
      <p:sp>
        <p:nvSpPr>
          <p:cNvPr id="19" name="TextBox 18"/>
          <p:cNvSpPr txBox="1"/>
          <p:nvPr/>
        </p:nvSpPr>
        <p:spPr>
          <a:xfrm>
            <a:off x="3017520" y="5175504"/>
            <a:ext cx="2743200" cy="274320"/>
          </a:xfrm>
          <a:prstGeom prst="rect">
            <a:avLst/>
          </a:prstGeom>
          <a:noFill/>
        </p:spPr>
        <p:txBody>
          <a:bodyPr wrap="square" lIns="0" rIns="0" tIns="0" bIns="0" anchor="t">
            <a:spAutoFit/>
          </a:bodyPr>
          <a:lstStyle/>
          <a:p>
            <a:pPr algn="l">
              <a:lnSpc>
                <a:spcPct val="110000"/>
              </a:lnSpc>
            </a:pPr>
            <a:r>
              <a:rPr sz="1200" b="0" i="0">
                <a:solidFill>
                  <a:srgbClr val="FFFFFF"/>
                </a:solidFill>
                <a:latin typeface="Segoe UI"/>
              </a:rPr>
              <a:t>La causa raíz</a:t>
            </a:r>
          </a:p>
        </p:txBody>
      </p:sp>
      <p:sp>
        <p:nvSpPr>
          <p:cNvPr id="20" name="TextBox 19"/>
          <p:cNvSpPr txBox="1"/>
          <p:nvPr/>
        </p:nvSpPr>
        <p:spPr>
          <a:xfrm>
            <a:off x="5943600" y="4791456"/>
            <a:ext cx="3931920" cy="1097280"/>
          </a:xfrm>
          <a:prstGeom prst="rect">
            <a:avLst/>
          </a:prstGeom>
          <a:noFill/>
        </p:spPr>
        <p:txBody>
          <a:bodyPr wrap="square" lIns="0" rIns="0" tIns="0" bIns="0" anchor="ctr">
            <a:spAutoFit/>
          </a:bodyPr>
          <a:lstStyle/>
          <a:p>
            <a:pPr algn="l">
              <a:lnSpc>
                <a:spcPct val="115000"/>
              </a:lnSpc>
            </a:pPr>
            <a:r>
              <a:rPr sz="1250" b="0" i="0">
                <a:solidFill>
                  <a:srgbClr val="FFFFFF"/>
                </a:solidFill>
                <a:latin typeface="Segoe UI"/>
              </a:rPr>
              <a:t>tomcat.threads.busy, jvm.threads.live, jvm.gc.pause, CPU, conexiones del pool. Causas típicas: conexión nueva por petición, pool agotado, fuga de memoria, consulta sin índice.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4 · ANTES Y DESPUÉS</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Sin pool de conexiones: un defecto que solo aparece con carga</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18</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graphicFrame>
        <p:nvGraphicFramePr>
          <p:cNvPr id="6" name="Chart 5"/>
          <p:cNvGraphicFramePr>
            <a:graphicFrameLocks noGrp="1"/>
          </p:cNvGraphicFramePr>
          <p:nvPr/>
        </p:nvGraphicFramePr>
        <p:xfrm>
          <a:off x="457200" y="1417320"/>
          <a:ext cx="5577840" cy="4160520"/>
        </p:xfrm>
        <a:graphic>
          <a:graphicData uri="http://schemas.openxmlformats.org/drawingml/2006/chart">
            <c:chart xmlns:c="http://schemas.openxmlformats.org/drawingml/2006/chart" r:id="rId3"/>
          </a:graphicData>
        </a:graphic>
      </p:graphicFrame>
      <p:sp>
        <p:nvSpPr>
          <p:cNvPr id="7" name="TextBox 6"/>
          <p:cNvSpPr txBox="1"/>
          <p:nvPr/>
        </p:nvSpPr>
        <p:spPr>
          <a:xfrm>
            <a:off x="548640" y="1417320"/>
            <a:ext cx="5303520" cy="32004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Throughput</a:t>
            </a:r>
          </a:p>
        </p:txBody>
      </p:sp>
      <p:graphicFrame>
        <p:nvGraphicFramePr>
          <p:cNvPr id="8" name="Chart 7"/>
          <p:cNvGraphicFramePr>
            <a:graphicFrameLocks noGrp="1"/>
          </p:cNvGraphicFramePr>
          <p:nvPr/>
        </p:nvGraphicFramePr>
        <p:xfrm>
          <a:off x="6172200" y="1417320"/>
          <a:ext cx="5577840" cy="4160520"/>
        </p:xfrm>
        <a:graphic>
          <a:graphicData uri="http://schemas.openxmlformats.org/drawingml/2006/chart">
            <c:chart xmlns:c="http://schemas.openxmlformats.org/drawingml/2006/chart" r:id="rId4"/>
          </a:graphicData>
        </a:graphic>
      </p:graphicFrame>
      <p:sp>
        <p:nvSpPr>
          <p:cNvPr id="9" name="TextBox 8"/>
          <p:cNvSpPr txBox="1"/>
          <p:nvPr/>
        </p:nvSpPr>
        <p:spPr>
          <a:xfrm>
            <a:off x="6263640" y="1417320"/>
            <a:ext cx="5303520" cy="32004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p95</a:t>
            </a:r>
          </a:p>
        </p:txBody>
      </p:sp>
      <p:sp>
        <p:nvSpPr>
          <p:cNvPr id="10" name="Rounded Rectangle 9"/>
          <p:cNvSpPr/>
          <p:nvPr/>
        </p:nvSpPr>
        <p:spPr>
          <a:xfrm>
            <a:off x="548640" y="5605272"/>
            <a:ext cx="11064240" cy="411480"/>
          </a:xfrm>
          <a:prstGeom prst="roundRect">
            <a:avLst>
              <a:gd name="adj" fmla="val 2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731520" y="5678424"/>
            <a:ext cx="10789920" cy="274320"/>
          </a:xfrm>
          <a:prstGeom prst="rect">
            <a:avLst/>
          </a:prstGeom>
          <a:noFill/>
        </p:spPr>
        <p:txBody>
          <a:bodyPr wrap="square" lIns="0" rIns="0" tIns="0" bIns="0" anchor="t">
            <a:spAutoFit/>
          </a:bodyPr>
          <a:lstStyle/>
          <a:p>
            <a:pPr algn="l">
              <a:lnSpc>
                <a:spcPct val="110000"/>
              </a:lnSpc>
            </a:pPr>
            <a:r>
              <a:rPr sz="1200" b="1" i="0">
                <a:solidFill>
                  <a:srgbClr val="184F95"/>
                </a:solidFill>
                <a:latin typeface="Segoe UI"/>
              </a:rPr>
              <a:t>Hasta 25 VUs, sin diferencia clara. Desde 50, sin pool atiende del 31 al 53 % de lo que atiende con pool, y su peor corrida falló el 28 %.</a:t>
            </a:r>
          </a:p>
        </p:txBody>
      </p:sp>
      <p:sp>
        <p:nvSpPr>
          <p:cNvPr id="12" name="TextBox 11"/>
          <p:cNvSpPr txBox="1"/>
          <p:nvPr/>
        </p:nvSpPr>
        <p:spPr>
          <a:xfrm>
            <a:off x="548640" y="6053328"/>
            <a:ext cx="11064240" cy="365760"/>
          </a:xfrm>
          <a:prstGeom prst="rect">
            <a:avLst/>
          </a:prstGeom>
          <a:noFill/>
        </p:spPr>
        <p:txBody>
          <a:bodyPr wrap="square" lIns="0" rIns="0" tIns="0" bIns="0" anchor="t">
            <a:spAutoFit/>
          </a:bodyPr>
          <a:lstStyle/>
          <a:p>
            <a:pPr algn="l">
              <a:lnSpc>
                <a:spcPct val="105000"/>
              </a:lnSpc>
            </a:pPr>
            <a:r>
              <a:rPr sz="900" b="0" i="0">
                <a:solidFill>
                  <a:srgbClr val="898781"/>
                </a:solidFill>
                <a:latin typeface="Segoe UI"/>
              </a:rPr>
              <a:t>Fuente: Mismo código salvo el pool, 20 s por escalón, dos corridas (puntos claros). k6 1.3 contra la registraduría del taller (Spring Boot 2.7 + H2 en memoria), portátil i7-13620H. Servicio fijado a 1 núcleo y k6 a otros 14 hilos, para que el cuello de botella fuera el servidor y no el inyector.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4 · INTEGRACIÓN CONTINUA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El rendimiento como gate del pipeline</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19</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6" name="Rounded Rectangle 5"/>
          <p:cNvSpPr/>
          <p:nvPr/>
        </p:nvSpPr>
        <p:spPr>
          <a:xfrm>
            <a:off x="548640" y="1508760"/>
            <a:ext cx="2011680" cy="146304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731520" y="1645920"/>
            <a:ext cx="1645920"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Build</a:t>
            </a:r>
          </a:p>
        </p:txBody>
      </p:sp>
      <p:sp>
        <p:nvSpPr>
          <p:cNvPr id="8" name="TextBox 7"/>
          <p:cNvSpPr txBox="1"/>
          <p:nvPr/>
        </p:nvSpPr>
        <p:spPr>
          <a:xfrm>
            <a:off x="731520" y="2103120"/>
            <a:ext cx="1737360" cy="822960"/>
          </a:xfrm>
          <a:prstGeom prst="rect">
            <a:avLst/>
          </a:prstGeom>
          <a:noFill/>
        </p:spPr>
        <p:txBody>
          <a:bodyPr wrap="square" lIns="0" rIns="0" tIns="0" bIns="0" anchor="t">
            <a:spAutoFit/>
          </a:bodyPr>
          <a:lstStyle/>
          <a:p>
            <a:pPr algn="l">
              <a:lnSpc>
                <a:spcPct val="120000"/>
              </a:lnSpc>
            </a:pPr>
            <a:r>
              <a:rPr sz="1100" b="0" i="0">
                <a:solidFill>
                  <a:srgbClr val="52514E"/>
                </a:solidFill>
                <a:latin typeface="Consolas"/>
              </a:rPr>
              <a:t>mvn package
pruebas unitarias</a:t>
            </a:r>
          </a:p>
        </p:txBody>
      </p:sp>
      <p:cxnSp>
        <p:nvCxnSpPr>
          <p:cNvPr id="9" name="Connector 8"/>
          <p:cNvCxnSpPr/>
          <p:nvPr/>
        </p:nvCxnSpPr>
        <p:spPr>
          <a:xfrm>
            <a:off x="2578608" y="2240280"/>
            <a:ext cx="219456"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6352" y="1508760"/>
            <a:ext cx="2011680" cy="146304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2999232" y="1645920"/>
            <a:ext cx="1645920"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Levantar servicio</a:t>
            </a:r>
          </a:p>
        </p:txBody>
      </p:sp>
      <p:sp>
        <p:nvSpPr>
          <p:cNvPr id="12" name="TextBox 11"/>
          <p:cNvSpPr txBox="1"/>
          <p:nvPr/>
        </p:nvSpPr>
        <p:spPr>
          <a:xfrm>
            <a:off x="2999232" y="2103120"/>
            <a:ext cx="1737360" cy="822960"/>
          </a:xfrm>
          <a:prstGeom prst="rect">
            <a:avLst/>
          </a:prstGeom>
          <a:noFill/>
        </p:spPr>
        <p:txBody>
          <a:bodyPr wrap="square" lIns="0" rIns="0" tIns="0" bIns="0" anchor="t">
            <a:spAutoFit/>
          </a:bodyPr>
          <a:lstStyle/>
          <a:p>
            <a:pPr algn="l">
              <a:lnSpc>
                <a:spcPct val="120000"/>
              </a:lnSpc>
            </a:pPr>
            <a:r>
              <a:rPr sz="1100" b="0" i="0">
                <a:solidFill>
                  <a:srgbClr val="52514E"/>
                </a:solidFill>
                <a:latin typeface="Consolas"/>
              </a:rPr>
              <a:t>java -jar …
espera /actuator/health</a:t>
            </a:r>
          </a:p>
        </p:txBody>
      </p:sp>
      <p:cxnSp>
        <p:nvCxnSpPr>
          <p:cNvPr id="13" name="Connector 12"/>
          <p:cNvCxnSpPr/>
          <p:nvPr/>
        </p:nvCxnSpPr>
        <p:spPr>
          <a:xfrm>
            <a:off x="4846320" y="2240280"/>
            <a:ext cx="219456"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84064" y="1508760"/>
            <a:ext cx="2011680" cy="146304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5" name="TextBox 14"/>
          <p:cNvSpPr txBox="1"/>
          <p:nvPr/>
        </p:nvSpPr>
        <p:spPr>
          <a:xfrm>
            <a:off x="5266944" y="1645920"/>
            <a:ext cx="1645920"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Prueba de carga</a:t>
            </a:r>
          </a:p>
        </p:txBody>
      </p:sp>
      <p:sp>
        <p:nvSpPr>
          <p:cNvPr id="16" name="TextBox 15"/>
          <p:cNvSpPr txBox="1"/>
          <p:nvPr/>
        </p:nvSpPr>
        <p:spPr>
          <a:xfrm>
            <a:off x="5266944" y="2103120"/>
            <a:ext cx="1737360" cy="822960"/>
          </a:xfrm>
          <a:prstGeom prst="rect">
            <a:avLst/>
          </a:prstGeom>
          <a:noFill/>
        </p:spPr>
        <p:txBody>
          <a:bodyPr wrap="square" lIns="0" rIns="0" tIns="0" bIns="0" anchor="t">
            <a:spAutoFit/>
          </a:bodyPr>
          <a:lstStyle/>
          <a:p>
            <a:pPr algn="l">
              <a:lnSpc>
                <a:spcPct val="120000"/>
              </a:lnSpc>
            </a:pPr>
            <a:r>
              <a:rPr sz="1100" b="0" i="0">
                <a:solidFill>
                  <a:srgbClr val="52514E"/>
                </a:solidFill>
                <a:latin typeface="Consolas"/>
              </a:rPr>
              <a:t>k6 run
SCENARIO=baseline</a:t>
            </a:r>
          </a:p>
        </p:txBody>
      </p:sp>
      <p:cxnSp>
        <p:nvCxnSpPr>
          <p:cNvPr id="17" name="Connector 16"/>
          <p:cNvCxnSpPr/>
          <p:nvPr/>
        </p:nvCxnSpPr>
        <p:spPr>
          <a:xfrm>
            <a:off x="7114031" y="2240280"/>
            <a:ext cx="219457"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51775" y="1508760"/>
            <a:ext cx="2011680" cy="1463040"/>
          </a:xfrm>
          <a:prstGeom prst="roundRect">
            <a:avLst>
              <a:gd name="adj" fmla="val 6000"/>
            </a:avLst>
          </a:prstGeom>
          <a:solidFill>
            <a:srgbClr val="FBE1D6"/>
          </a:solidFill>
          <a:ln w="2540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9" name="TextBox 18"/>
          <p:cNvSpPr txBox="1"/>
          <p:nvPr/>
        </p:nvSpPr>
        <p:spPr>
          <a:xfrm>
            <a:off x="7534655" y="1645920"/>
            <a:ext cx="1645920"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Gate</a:t>
            </a:r>
          </a:p>
        </p:txBody>
      </p:sp>
      <p:sp>
        <p:nvSpPr>
          <p:cNvPr id="20" name="TextBox 19"/>
          <p:cNvSpPr txBox="1"/>
          <p:nvPr/>
        </p:nvSpPr>
        <p:spPr>
          <a:xfrm>
            <a:off x="7534655" y="2103120"/>
            <a:ext cx="1737360" cy="822960"/>
          </a:xfrm>
          <a:prstGeom prst="rect">
            <a:avLst/>
          </a:prstGeom>
          <a:noFill/>
        </p:spPr>
        <p:txBody>
          <a:bodyPr wrap="square" lIns="0" rIns="0" tIns="0" bIns="0" anchor="t">
            <a:spAutoFit/>
          </a:bodyPr>
          <a:lstStyle/>
          <a:p>
            <a:pPr algn="l">
              <a:lnSpc>
                <a:spcPct val="120000"/>
              </a:lnSpc>
            </a:pPr>
            <a:r>
              <a:rPr sz="1100" b="0" i="0">
                <a:solidFill>
                  <a:srgbClr val="52514E"/>
                </a:solidFill>
                <a:latin typeface="Consolas"/>
              </a:rPr>
              <a:t>thresholds
exit code 99 = falla</a:t>
            </a:r>
          </a:p>
        </p:txBody>
      </p:sp>
      <p:cxnSp>
        <p:nvCxnSpPr>
          <p:cNvPr id="21" name="Connector 20"/>
          <p:cNvCxnSpPr/>
          <p:nvPr/>
        </p:nvCxnSpPr>
        <p:spPr>
          <a:xfrm>
            <a:off x="9381744" y="2240280"/>
            <a:ext cx="219456"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619488" y="1508760"/>
            <a:ext cx="2011680" cy="1463040"/>
          </a:xfrm>
          <a:prstGeom prst="roundRect">
            <a:avLst>
              <a:gd name="adj" fmla="val 6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3" name="TextBox 22"/>
          <p:cNvSpPr txBox="1"/>
          <p:nvPr/>
        </p:nvSpPr>
        <p:spPr>
          <a:xfrm>
            <a:off x="9802367" y="1645920"/>
            <a:ext cx="1645920"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Publicar evidencia</a:t>
            </a:r>
          </a:p>
        </p:txBody>
      </p:sp>
      <p:sp>
        <p:nvSpPr>
          <p:cNvPr id="24" name="TextBox 23"/>
          <p:cNvSpPr txBox="1"/>
          <p:nvPr/>
        </p:nvSpPr>
        <p:spPr>
          <a:xfrm>
            <a:off x="9802367" y="2103120"/>
            <a:ext cx="1737360" cy="822960"/>
          </a:xfrm>
          <a:prstGeom prst="rect">
            <a:avLst/>
          </a:prstGeom>
          <a:noFill/>
        </p:spPr>
        <p:txBody>
          <a:bodyPr wrap="square" lIns="0" rIns="0" tIns="0" bIns="0" anchor="t">
            <a:spAutoFit/>
          </a:bodyPr>
          <a:lstStyle/>
          <a:p>
            <a:pPr algn="l">
              <a:lnSpc>
                <a:spcPct val="120000"/>
              </a:lnSpc>
            </a:pPr>
            <a:r>
              <a:rPr sz="1100" b="0" i="0">
                <a:solidFill>
                  <a:srgbClr val="52514E"/>
                </a:solidFill>
                <a:latin typeface="Consolas"/>
              </a:rPr>
              <a:t>summary-*.json
como artefacto</a:t>
            </a:r>
          </a:p>
        </p:txBody>
      </p:sp>
      <p:sp>
        <p:nvSpPr>
          <p:cNvPr id="25" name="Rounded Rectangle 24"/>
          <p:cNvSpPr/>
          <p:nvPr/>
        </p:nvSpPr>
        <p:spPr>
          <a:xfrm>
            <a:off x="548640" y="3291840"/>
            <a:ext cx="6035040" cy="251460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6" name="TextBox 25"/>
          <p:cNvSpPr txBox="1"/>
          <p:nvPr/>
        </p:nvSpPr>
        <p:spPr>
          <a:xfrm>
            <a:off x="731520" y="3429000"/>
            <a:ext cx="5669279" cy="2240280"/>
          </a:xfrm>
          <a:prstGeom prst="rect">
            <a:avLst/>
          </a:prstGeom>
          <a:noFill/>
        </p:spPr>
        <p:txBody>
          <a:bodyPr wrap="square" lIns="0" rIns="0" tIns="0" bIns="0">
            <a:spAutoFit/>
          </a:bodyPr>
          <a:lstStyle/>
          <a:p>
            <a:pPr>
              <a:lnSpc>
                <a:spcPct val="105000"/>
              </a:lnSpc>
            </a:pPr>
            <a:r>
              <a:rPr sz="1400" b="0">
                <a:solidFill>
                  <a:srgbClr val="0B0B0B"/>
                </a:solidFill>
                <a:latin typeface="Consolas"/>
              </a:rPr>
              <a:t>thresholds: {</a:t>
            </a:r>
          </a:p>
          <a:p>
            <a:pPr>
              <a:lnSpc>
                <a:spcPct val="105000"/>
              </a:lnSpc>
            </a:pPr>
            <a:r>
              <a:rPr sz="1400" b="0">
                <a:solidFill>
                  <a:srgbClr val="0B0B0B"/>
                </a:solidFill>
                <a:latin typeface="Consolas"/>
              </a:rPr>
              <a:t>  http_req_failed: ['rate&lt;0.01'],</a:t>
            </a:r>
          </a:p>
          <a:p>
            <a:pPr>
              <a:lnSpc>
                <a:spcPct val="105000"/>
              </a:lnSpc>
            </a:pPr>
            <a:r>
              <a:rPr sz="1400" b="0">
                <a:solidFill>
                  <a:srgbClr val="0B0B0B"/>
                </a:solidFill>
                <a:latin typeface="Consolas"/>
              </a:rPr>
              <a:t>  'http_req_duration{status:200}':</a:t>
            </a:r>
          </a:p>
          <a:p>
            <a:pPr>
              <a:lnSpc>
                <a:spcPct val="105000"/>
              </a:lnSpc>
            </a:pPr>
            <a:r>
              <a:rPr sz="1400" b="0">
                <a:solidFill>
                  <a:srgbClr val="0B0B0B"/>
                </a:solidFill>
                <a:latin typeface="Consolas"/>
              </a:rPr>
              <a:t>      ['p(95)&lt;300', 'p(99)&lt;800'],</a:t>
            </a:r>
          </a:p>
          <a:p>
            <a:pPr>
              <a:lnSpc>
                <a:spcPct val="105000"/>
              </a:lnSpc>
            </a:pPr>
            <a:r>
              <a:rPr sz="1400" b="0">
                <a:solidFill>
                  <a:srgbClr val="0B0B0B"/>
                </a:solidFill>
                <a:latin typeface="Consolas"/>
              </a:rPr>
              <a:t>  register_failed: ['rate&lt;0.01'],</a:t>
            </a:r>
          </a:p>
          <a:p>
            <a:pPr>
              <a:lnSpc>
                <a:spcPct val="105000"/>
              </a:lnSpc>
            </a:pPr>
            <a:r>
              <a:rPr sz="1400" b="0">
                <a:solidFill>
                  <a:srgbClr val="0B0B0B"/>
                </a:solidFill>
                <a:latin typeface="Consolas"/>
              </a:rPr>
              <a:t>}</a:t>
            </a:r>
          </a:p>
        </p:txBody>
      </p:sp>
      <p:sp>
        <p:nvSpPr>
          <p:cNvPr id="27" name="TextBox 26"/>
          <p:cNvSpPr txBox="1"/>
          <p:nvPr/>
        </p:nvSpPr>
        <p:spPr>
          <a:xfrm>
            <a:off x="548640" y="5897880"/>
            <a:ext cx="6035040" cy="365760"/>
          </a:xfrm>
          <a:prstGeom prst="rect">
            <a:avLst/>
          </a:prstGeom>
          <a:noFill/>
        </p:spPr>
        <p:txBody>
          <a:bodyPr wrap="square" lIns="0" rIns="0" tIns="0" bIns="0" anchor="t">
            <a:spAutoFit/>
          </a:bodyPr>
          <a:lstStyle/>
          <a:p>
            <a:pPr algn="l">
              <a:lnSpc>
                <a:spcPct val="110000"/>
              </a:lnSpc>
            </a:pPr>
            <a:r>
              <a:rPr sz="1100" b="0" i="0">
                <a:solidFill>
                  <a:srgbClr val="898781"/>
                </a:solidFill>
                <a:latin typeface="Segoe UI"/>
              </a:rPr>
              <a:t>Tomado de perf/scripts/register_voter_k6.js</a:t>
            </a:r>
          </a:p>
        </p:txBody>
      </p:sp>
      <p:sp>
        <p:nvSpPr>
          <p:cNvPr id="28" name="TextBox 27"/>
          <p:cNvSpPr txBox="1"/>
          <p:nvPr/>
        </p:nvSpPr>
        <p:spPr>
          <a:xfrm>
            <a:off x="6949440" y="3291840"/>
            <a:ext cx="4663440" cy="320040"/>
          </a:xfrm>
          <a:prstGeom prst="rect">
            <a:avLst/>
          </a:prstGeom>
          <a:noFill/>
        </p:spPr>
        <p:txBody>
          <a:bodyPr wrap="square" lIns="0" rIns="0" tIns="0" bIns="0" anchor="t">
            <a:spAutoFit/>
          </a:bodyPr>
          <a:lstStyle/>
          <a:p>
            <a:pPr algn="l">
              <a:lnSpc>
                <a:spcPct val="110000"/>
              </a:lnSpc>
            </a:pPr>
            <a:r>
              <a:rPr sz="1400" b="1" i="0">
                <a:solidFill>
                  <a:srgbClr val="0B0B0B"/>
                </a:solidFill>
                <a:latin typeface="Segoe UI"/>
              </a:rPr>
              <a:t>El umbral es el SLO escrito en código</a:t>
            </a:r>
          </a:p>
        </p:txBody>
      </p:sp>
      <p:sp>
        <p:nvSpPr>
          <p:cNvPr id="29" name="TextBox 28"/>
          <p:cNvSpPr txBox="1"/>
          <p:nvPr/>
        </p:nvSpPr>
        <p:spPr>
          <a:xfrm>
            <a:off x="6949440" y="3611880"/>
            <a:ext cx="4663440" cy="548640"/>
          </a:xfrm>
          <a:prstGeom prst="rect">
            <a:avLst/>
          </a:prstGeom>
          <a:noFill/>
        </p:spPr>
        <p:txBody>
          <a:bodyPr wrap="square" lIns="0" rIns="0" tIns="0" bIns="0" anchor="t">
            <a:spAutoFit/>
          </a:bodyPr>
          <a:lstStyle/>
          <a:p>
            <a:pPr algn="l">
              <a:lnSpc>
                <a:spcPct val="112000"/>
              </a:lnSpc>
            </a:pPr>
            <a:r>
              <a:rPr sz="1200" b="0" i="0">
                <a:solidFill>
                  <a:srgbClr val="52514E"/>
                </a:solidFill>
                <a:latin typeface="Segoe UI"/>
              </a:rPr>
              <a:t>Si el p95 pasa de 300 ms o los errores del 1 %, k6 sale con código 99 y el paso falla solo.</a:t>
            </a:r>
          </a:p>
        </p:txBody>
      </p:sp>
      <p:sp>
        <p:nvSpPr>
          <p:cNvPr id="30" name="TextBox 29"/>
          <p:cNvSpPr txBox="1"/>
          <p:nvPr/>
        </p:nvSpPr>
        <p:spPr>
          <a:xfrm>
            <a:off x="6949440" y="4178808"/>
            <a:ext cx="4663440" cy="320040"/>
          </a:xfrm>
          <a:prstGeom prst="rect">
            <a:avLst/>
          </a:prstGeom>
          <a:noFill/>
        </p:spPr>
        <p:txBody>
          <a:bodyPr wrap="square" lIns="0" rIns="0" tIns="0" bIns="0" anchor="t">
            <a:spAutoFit/>
          </a:bodyPr>
          <a:lstStyle/>
          <a:p>
            <a:pPr algn="l">
              <a:lnSpc>
                <a:spcPct val="110000"/>
              </a:lnSpc>
            </a:pPr>
            <a:r>
              <a:rPr sz="1400" b="1" i="0">
                <a:solidFill>
                  <a:srgbClr val="0B0B0B"/>
                </a:solidFill>
                <a:latin typeface="Segoe UI"/>
              </a:rPr>
              <a:t>Corto en cada PR, largo de noche</a:t>
            </a:r>
          </a:p>
        </p:txBody>
      </p:sp>
      <p:sp>
        <p:nvSpPr>
          <p:cNvPr id="31" name="TextBox 30"/>
          <p:cNvSpPr txBox="1"/>
          <p:nvPr/>
        </p:nvSpPr>
        <p:spPr>
          <a:xfrm>
            <a:off x="6949440" y="4498848"/>
            <a:ext cx="4663440" cy="548640"/>
          </a:xfrm>
          <a:prstGeom prst="rect">
            <a:avLst/>
          </a:prstGeom>
          <a:noFill/>
        </p:spPr>
        <p:txBody>
          <a:bodyPr wrap="square" lIns="0" rIns="0" tIns="0" bIns="0" anchor="t">
            <a:spAutoFit/>
          </a:bodyPr>
          <a:lstStyle/>
          <a:p>
            <a:pPr algn="l">
              <a:lnSpc>
                <a:spcPct val="112000"/>
              </a:lnSpc>
            </a:pPr>
            <a:r>
              <a:rPr sz="1200" b="0" i="0">
                <a:solidFill>
                  <a:srgbClr val="52514E"/>
                </a:solidFill>
                <a:latin typeface="Segoe UI"/>
              </a:rPr>
              <a:t>load dura 14 minutos y soak dos horas: bloquearían la revisión.</a:t>
            </a:r>
          </a:p>
        </p:txBody>
      </p:sp>
      <p:sp>
        <p:nvSpPr>
          <p:cNvPr id="32" name="TextBox 31"/>
          <p:cNvSpPr txBox="1"/>
          <p:nvPr/>
        </p:nvSpPr>
        <p:spPr>
          <a:xfrm>
            <a:off x="6949440" y="5065776"/>
            <a:ext cx="4663440" cy="320040"/>
          </a:xfrm>
          <a:prstGeom prst="rect">
            <a:avLst/>
          </a:prstGeom>
          <a:noFill/>
        </p:spPr>
        <p:txBody>
          <a:bodyPr wrap="square" lIns="0" rIns="0" tIns="0" bIns="0" anchor="t">
            <a:spAutoFit/>
          </a:bodyPr>
          <a:lstStyle/>
          <a:p>
            <a:pPr algn="l">
              <a:lnSpc>
                <a:spcPct val="110000"/>
              </a:lnSpc>
            </a:pPr>
            <a:r>
              <a:rPr sz="1400" b="1" i="0">
                <a:solidFill>
                  <a:srgbClr val="0B0B0B"/>
                </a:solidFill>
                <a:latin typeface="Segoe UI"/>
              </a:rPr>
              <a:t>El pipeline levanta el servicio</a:t>
            </a:r>
          </a:p>
        </p:txBody>
      </p:sp>
      <p:sp>
        <p:nvSpPr>
          <p:cNvPr id="33" name="TextBox 32"/>
          <p:cNvSpPr txBox="1"/>
          <p:nvPr/>
        </p:nvSpPr>
        <p:spPr>
          <a:xfrm>
            <a:off x="6949440" y="5385816"/>
            <a:ext cx="4663440" cy="548640"/>
          </a:xfrm>
          <a:prstGeom prst="rect">
            <a:avLst/>
          </a:prstGeom>
          <a:noFill/>
        </p:spPr>
        <p:txBody>
          <a:bodyPr wrap="square" lIns="0" rIns="0" tIns="0" bIns="0" anchor="t">
            <a:spAutoFit/>
          </a:bodyPr>
          <a:lstStyle/>
          <a:p>
            <a:pPr algn="l">
              <a:lnSpc>
                <a:spcPct val="112000"/>
              </a:lnSpc>
            </a:pPr>
            <a:r>
              <a:rPr sz="1200" b="0" i="0">
                <a:solidFill>
                  <a:srgbClr val="52514E"/>
                </a:solidFill>
                <a:latin typeface="Segoe UI"/>
              </a:rPr>
              <a:t>Y espera a /actuator/health con un bucle, no con un sleep fijo.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BLOQUE 4 · MADUREZ</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¿En qué nivel está su equipo?</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20</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6" name="Rounded Rectangle 5"/>
          <p:cNvSpPr/>
          <p:nvPr/>
        </p:nvSpPr>
        <p:spPr>
          <a:xfrm>
            <a:off x="548640" y="3977639"/>
            <a:ext cx="2651760" cy="2194560"/>
          </a:xfrm>
          <a:prstGeom prst="roundRect">
            <a:avLst>
              <a:gd name="adj" fmla="val 4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777240" y="4160520"/>
            <a:ext cx="731520" cy="548640"/>
          </a:xfrm>
          <a:prstGeom prst="rect">
            <a:avLst/>
          </a:prstGeom>
          <a:noFill/>
        </p:spPr>
        <p:txBody>
          <a:bodyPr wrap="square" lIns="0" rIns="0" tIns="0" bIns="0" anchor="t">
            <a:spAutoFit/>
          </a:bodyPr>
          <a:lstStyle/>
          <a:p>
            <a:pPr algn="l">
              <a:lnSpc>
                <a:spcPct val="110000"/>
              </a:lnSpc>
            </a:pPr>
            <a:r>
              <a:rPr sz="3000" b="1" i="0">
                <a:solidFill>
                  <a:srgbClr val="2A78D6"/>
                </a:solidFill>
                <a:latin typeface="Segoe UI"/>
              </a:rPr>
              <a:t>1</a:t>
            </a:r>
          </a:p>
        </p:txBody>
      </p:sp>
      <p:sp>
        <p:nvSpPr>
          <p:cNvPr id="8" name="TextBox 7"/>
          <p:cNvSpPr txBox="1"/>
          <p:nvPr/>
        </p:nvSpPr>
        <p:spPr>
          <a:xfrm>
            <a:off x="777240" y="4754879"/>
            <a:ext cx="224028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Reactivo</a:t>
            </a:r>
          </a:p>
        </p:txBody>
      </p:sp>
      <p:sp>
        <p:nvSpPr>
          <p:cNvPr id="9" name="TextBox 8"/>
          <p:cNvSpPr txBox="1"/>
          <p:nvPr/>
        </p:nvSpPr>
        <p:spPr>
          <a:xfrm>
            <a:off x="777240" y="5166359"/>
            <a:ext cx="2240280" cy="15544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Se prueba cuando algo falla en producción. Herramienta básica, sin escenarios ni SLO.</a:t>
            </a:r>
          </a:p>
        </p:txBody>
      </p:sp>
      <p:sp>
        <p:nvSpPr>
          <p:cNvPr id="10" name="Rounded Rectangle 9"/>
          <p:cNvSpPr/>
          <p:nvPr/>
        </p:nvSpPr>
        <p:spPr>
          <a:xfrm>
            <a:off x="3364992" y="3246120"/>
            <a:ext cx="2651760" cy="2926080"/>
          </a:xfrm>
          <a:prstGeom prst="roundRect">
            <a:avLst>
              <a:gd name="adj" fmla="val 4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3593592" y="3429000"/>
            <a:ext cx="731520" cy="548640"/>
          </a:xfrm>
          <a:prstGeom prst="rect">
            <a:avLst/>
          </a:prstGeom>
          <a:noFill/>
        </p:spPr>
        <p:txBody>
          <a:bodyPr wrap="square" lIns="0" rIns="0" tIns="0" bIns="0" anchor="t">
            <a:spAutoFit/>
          </a:bodyPr>
          <a:lstStyle/>
          <a:p>
            <a:pPr algn="l">
              <a:lnSpc>
                <a:spcPct val="110000"/>
              </a:lnSpc>
            </a:pPr>
            <a:r>
              <a:rPr sz="3000" b="1" i="0">
                <a:solidFill>
                  <a:srgbClr val="2A78D6"/>
                </a:solidFill>
                <a:latin typeface="Segoe UI"/>
              </a:rPr>
              <a:t>2</a:t>
            </a:r>
          </a:p>
        </p:txBody>
      </p:sp>
      <p:sp>
        <p:nvSpPr>
          <p:cNvPr id="12" name="TextBox 11"/>
          <p:cNvSpPr txBox="1"/>
          <p:nvPr/>
        </p:nvSpPr>
        <p:spPr>
          <a:xfrm>
            <a:off x="3593592" y="4023359"/>
            <a:ext cx="224028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Scripting realista</a:t>
            </a:r>
          </a:p>
        </p:txBody>
      </p:sp>
      <p:sp>
        <p:nvSpPr>
          <p:cNvPr id="13" name="TextBox 12"/>
          <p:cNvSpPr txBox="1"/>
          <p:nvPr/>
        </p:nvSpPr>
        <p:spPr>
          <a:xfrm>
            <a:off x="3593592" y="4434840"/>
            <a:ext cx="2240280" cy="15544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Datos variados, validación de negocio, pausas, estado de prueba controlado.</a:t>
            </a:r>
          </a:p>
        </p:txBody>
      </p:sp>
      <p:sp>
        <p:nvSpPr>
          <p:cNvPr id="14" name="Rounded Rectangle 13"/>
          <p:cNvSpPr/>
          <p:nvPr/>
        </p:nvSpPr>
        <p:spPr>
          <a:xfrm>
            <a:off x="6181344" y="2514599"/>
            <a:ext cx="2651760" cy="3657600"/>
          </a:xfrm>
          <a:prstGeom prst="roundRect">
            <a:avLst>
              <a:gd name="adj" fmla="val 4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5" name="TextBox 14"/>
          <p:cNvSpPr txBox="1"/>
          <p:nvPr/>
        </p:nvSpPr>
        <p:spPr>
          <a:xfrm>
            <a:off x="6409944" y="2697479"/>
            <a:ext cx="731520" cy="548640"/>
          </a:xfrm>
          <a:prstGeom prst="rect">
            <a:avLst/>
          </a:prstGeom>
          <a:noFill/>
        </p:spPr>
        <p:txBody>
          <a:bodyPr wrap="square" lIns="0" rIns="0" tIns="0" bIns="0" anchor="t">
            <a:spAutoFit/>
          </a:bodyPr>
          <a:lstStyle/>
          <a:p>
            <a:pPr algn="l">
              <a:lnSpc>
                <a:spcPct val="110000"/>
              </a:lnSpc>
            </a:pPr>
            <a:r>
              <a:rPr sz="3000" b="1" i="0">
                <a:solidFill>
                  <a:srgbClr val="FFFFFF"/>
                </a:solidFill>
                <a:latin typeface="Segoe UI"/>
              </a:rPr>
              <a:t>3</a:t>
            </a:r>
          </a:p>
        </p:txBody>
      </p:sp>
      <p:sp>
        <p:nvSpPr>
          <p:cNvPr id="16" name="TextBox 15"/>
          <p:cNvSpPr txBox="1"/>
          <p:nvPr/>
        </p:nvSpPr>
        <p:spPr>
          <a:xfrm>
            <a:off x="6409944" y="3291839"/>
            <a:ext cx="2240280" cy="365760"/>
          </a:xfrm>
          <a:prstGeom prst="rect">
            <a:avLst/>
          </a:prstGeom>
          <a:noFill/>
        </p:spPr>
        <p:txBody>
          <a:bodyPr wrap="square" lIns="0" rIns="0" tIns="0" bIns="0" anchor="t">
            <a:spAutoFit/>
          </a:bodyPr>
          <a:lstStyle/>
          <a:p>
            <a:pPr algn="l">
              <a:lnSpc>
                <a:spcPct val="110000"/>
              </a:lnSpc>
            </a:pPr>
            <a:r>
              <a:rPr sz="1600" b="1" i="0">
                <a:solidFill>
                  <a:srgbClr val="FFFFFF"/>
                </a:solidFill>
                <a:latin typeface="Segoe UI"/>
              </a:rPr>
              <a:t>Continuo</a:t>
            </a:r>
          </a:p>
        </p:txBody>
      </p:sp>
      <p:sp>
        <p:nvSpPr>
          <p:cNvPr id="17" name="TextBox 16"/>
          <p:cNvSpPr txBox="1"/>
          <p:nvPr/>
        </p:nvSpPr>
        <p:spPr>
          <a:xfrm>
            <a:off x="6409944" y="3703320"/>
            <a:ext cx="2240280" cy="1554480"/>
          </a:xfrm>
          <a:prstGeom prst="rect">
            <a:avLst/>
          </a:prstGeom>
          <a:noFill/>
        </p:spPr>
        <p:txBody>
          <a:bodyPr wrap="square" lIns="0" rIns="0" tIns="0" bIns="0" anchor="t">
            <a:spAutoFit/>
          </a:bodyPr>
          <a:lstStyle/>
          <a:p>
            <a:pPr algn="l">
              <a:lnSpc>
                <a:spcPct val="115000"/>
              </a:lnSpc>
            </a:pPr>
            <a:r>
              <a:rPr sz="1200" b="0" i="0">
                <a:solidFill>
                  <a:srgbClr val="FFFFFF"/>
                </a:solidFill>
                <a:latin typeface="Segoe UI"/>
              </a:rPr>
              <a:t>Escenario corto en cada PR con gate; los largos, programados. Regresiones detectadas antes de producción.</a:t>
            </a:r>
          </a:p>
        </p:txBody>
      </p:sp>
      <p:sp>
        <p:nvSpPr>
          <p:cNvPr id="18" name="Rounded Rectangle 17"/>
          <p:cNvSpPr/>
          <p:nvPr/>
        </p:nvSpPr>
        <p:spPr>
          <a:xfrm>
            <a:off x="8997696" y="1783079"/>
            <a:ext cx="2651760" cy="4389120"/>
          </a:xfrm>
          <a:prstGeom prst="roundRect">
            <a:avLst>
              <a:gd name="adj" fmla="val 4000"/>
            </a:avLst>
          </a:prstGeom>
          <a:solidFill>
            <a:srgbClr val="F3F2EE"/>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9" name="TextBox 18"/>
          <p:cNvSpPr txBox="1"/>
          <p:nvPr/>
        </p:nvSpPr>
        <p:spPr>
          <a:xfrm>
            <a:off x="9226296" y="1965959"/>
            <a:ext cx="731520" cy="548640"/>
          </a:xfrm>
          <a:prstGeom prst="rect">
            <a:avLst/>
          </a:prstGeom>
          <a:noFill/>
        </p:spPr>
        <p:txBody>
          <a:bodyPr wrap="square" lIns="0" rIns="0" tIns="0" bIns="0" anchor="t">
            <a:spAutoFit/>
          </a:bodyPr>
          <a:lstStyle/>
          <a:p>
            <a:pPr algn="l">
              <a:lnSpc>
                <a:spcPct val="110000"/>
              </a:lnSpc>
            </a:pPr>
            <a:r>
              <a:rPr sz="3000" b="1" i="0">
                <a:solidFill>
                  <a:srgbClr val="2A78D6"/>
                </a:solidFill>
                <a:latin typeface="Segoe UI"/>
              </a:rPr>
              <a:t>4</a:t>
            </a:r>
          </a:p>
        </p:txBody>
      </p:sp>
      <p:sp>
        <p:nvSpPr>
          <p:cNvPr id="20" name="TextBox 19"/>
          <p:cNvSpPr txBox="1"/>
          <p:nvPr/>
        </p:nvSpPr>
        <p:spPr>
          <a:xfrm>
            <a:off x="9226296" y="2560319"/>
            <a:ext cx="224028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Guiado por SLO</a:t>
            </a:r>
          </a:p>
        </p:txBody>
      </p:sp>
      <p:sp>
        <p:nvSpPr>
          <p:cNvPr id="21" name="TextBox 20"/>
          <p:cNvSpPr txBox="1"/>
          <p:nvPr/>
        </p:nvSpPr>
        <p:spPr>
          <a:xfrm>
            <a:off x="9226296" y="2971799"/>
            <a:ext cx="2240280" cy="15544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Observabilidad en producción, presupuesto de error y experimentos de caos para validar la recuperación.</a:t>
            </a:r>
          </a:p>
        </p:txBody>
      </p:sp>
      <p:sp>
        <p:nvSpPr>
          <p:cNvPr id="22" name="TextBox 21"/>
          <p:cNvSpPr txBox="1"/>
          <p:nvPr/>
        </p:nvSpPr>
        <p:spPr>
          <a:xfrm>
            <a:off x="548640" y="1417320"/>
            <a:ext cx="5486400" cy="548640"/>
          </a:xfrm>
          <a:prstGeom prst="rect">
            <a:avLst/>
          </a:prstGeom>
          <a:noFill/>
        </p:spPr>
        <p:txBody>
          <a:bodyPr wrap="square" lIns="0" rIns="0" tIns="0" bIns="0" anchor="t">
            <a:spAutoFit/>
          </a:bodyPr>
          <a:lstStyle/>
          <a:p>
            <a:pPr algn="l">
              <a:lnSpc>
                <a:spcPct val="110000"/>
              </a:lnSpc>
            </a:pPr>
            <a:r>
              <a:rPr sz="1500" b="0" i="0">
                <a:solidFill>
                  <a:srgbClr val="52514E"/>
                </a:solidFill>
                <a:latin typeface="Segoe UI"/>
              </a:rPr>
              <a:t>Al terminar el taller, un equipo debería estar en el nivel 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21</a:t>
            </a:r>
          </a:p>
        </p:txBody>
      </p:sp>
      <p:sp>
        <p:nvSpPr>
          <p:cNvPr id="3" name="TextBox 2"/>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carga</a:t>
            </a:r>
          </a:p>
        </p:txBody>
      </p:sp>
      <p:sp>
        <p:nvSpPr>
          <p:cNvPr id="4" name="TextBox 3"/>
          <p:cNvSpPr txBox="1"/>
          <p:nvPr/>
        </p:nvSpPr>
        <p:spPr>
          <a:xfrm>
            <a:off x="731520" y="1097280"/>
            <a:ext cx="10515600" cy="1463040"/>
          </a:xfrm>
          <a:prstGeom prst="rect">
            <a:avLst/>
          </a:prstGeom>
          <a:noFill/>
        </p:spPr>
        <p:txBody>
          <a:bodyPr wrap="square" lIns="0" rIns="0" tIns="0" bIns="0" anchor="t">
            <a:spAutoFit/>
          </a:bodyPr>
          <a:lstStyle/>
          <a:p>
            <a:pPr algn="l">
              <a:lnSpc>
                <a:spcPct val="105000"/>
              </a:lnSpc>
            </a:pPr>
            <a:r>
              <a:rPr sz="3800" b="1" i="0">
                <a:solidFill>
                  <a:srgbClr val="0B0B0B"/>
                </a:solidFill>
                <a:latin typeface="Segoe UI"/>
              </a:rPr>
              <a:t>El rendimiento no se agrega al final.
Se diseña, se mide y se vigila.</a:t>
            </a:r>
          </a:p>
        </p:txBody>
      </p:sp>
      <p:sp>
        <p:nvSpPr>
          <p:cNvPr id="5" name="TextBox 4"/>
          <p:cNvSpPr txBox="1"/>
          <p:nvPr/>
        </p:nvSpPr>
        <p:spPr>
          <a:xfrm>
            <a:off x="731520" y="2743200"/>
            <a:ext cx="10058400" cy="365760"/>
          </a:xfrm>
          <a:prstGeom prst="rect">
            <a:avLst/>
          </a:prstGeom>
          <a:noFill/>
        </p:spPr>
        <p:txBody>
          <a:bodyPr wrap="square" lIns="0" rIns="0" tIns="0" bIns="0" anchor="t">
            <a:spAutoFit/>
          </a:bodyPr>
          <a:lstStyle/>
          <a:p>
            <a:pPr algn="l">
              <a:lnSpc>
                <a:spcPct val="110000"/>
              </a:lnSpc>
            </a:pPr>
            <a:r>
              <a:rPr sz="1600" b="1" i="0">
                <a:solidFill>
                  <a:srgbClr val="2A78D6"/>
                </a:solidFill>
                <a:latin typeface="Segoe UI"/>
              </a:rPr>
              <a:t>Para entregar en este taller</a:t>
            </a:r>
          </a:p>
        </p:txBody>
      </p:sp>
      <p:sp>
        <p:nvSpPr>
          <p:cNvPr id="6" name="Oval 5"/>
          <p:cNvSpPr/>
          <p:nvPr/>
        </p:nvSpPr>
        <p:spPr>
          <a:xfrm>
            <a:off x="804671" y="3337560"/>
            <a:ext cx="128016" cy="128016"/>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246120"/>
            <a:ext cx="10058400" cy="365760"/>
          </a:xfrm>
          <a:prstGeom prst="rect">
            <a:avLst/>
          </a:prstGeom>
          <a:noFill/>
        </p:spPr>
        <p:txBody>
          <a:bodyPr wrap="square" lIns="0" rIns="0" tIns="0" bIns="0" anchor="t">
            <a:spAutoFit/>
          </a:bodyPr>
          <a:lstStyle/>
          <a:p>
            <a:pPr algn="l">
              <a:lnSpc>
                <a:spcPct val="110000"/>
              </a:lnSpc>
            </a:pPr>
            <a:r>
              <a:rPr sz="1600" b="0" i="0">
                <a:solidFill>
                  <a:srgbClr val="0B0B0B"/>
                </a:solidFill>
                <a:latin typeface="Segoe UI"/>
              </a:rPr>
              <a:t>Baseline, carga y estrés ejecutados, con su summary-*.json</a:t>
            </a:r>
          </a:p>
        </p:txBody>
      </p:sp>
      <p:sp>
        <p:nvSpPr>
          <p:cNvPr id="8" name="Oval 7"/>
          <p:cNvSpPr/>
          <p:nvPr/>
        </p:nvSpPr>
        <p:spPr>
          <a:xfrm>
            <a:off x="804671" y="3867911"/>
            <a:ext cx="128016" cy="128016"/>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776472"/>
            <a:ext cx="10058400" cy="365760"/>
          </a:xfrm>
          <a:prstGeom prst="rect">
            <a:avLst/>
          </a:prstGeom>
          <a:noFill/>
        </p:spPr>
        <p:txBody>
          <a:bodyPr wrap="square" lIns="0" rIns="0" tIns="0" bIns="0" anchor="t">
            <a:spAutoFit/>
          </a:bodyPr>
          <a:lstStyle/>
          <a:p>
            <a:pPr algn="l">
              <a:lnSpc>
                <a:spcPct val="110000"/>
              </a:lnSpc>
            </a:pPr>
            <a:r>
              <a:rPr sz="1600" b="0" i="0">
                <a:solidFill>
                  <a:srgbClr val="0B0B0B"/>
                </a:solidFill>
                <a:latin typeface="Segoe UI"/>
              </a:rPr>
              <a:t>Matriz de rendimiento: escenario, SLO, resultado</a:t>
            </a:r>
          </a:p>
        </p:txBody>
      </p:sp>
      <p:sp>
        <p:nvSpPr>
          <p:cNvPr id="10" name="Oval 9"/>
          <p:cNvSpPr/>
          <p:nvPr/>
        </p:nvSpPr>
        <p:spPr>
          <a:xfrm>
            <a:off x="804671" y="4398264"/>
            <a:ext cx="128016" cy="128016"/>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306824"/>
            <a:ext cx="10058400" cy="365760"/>
          </a:xfrm>
          <a:prstGeom prst="rect">
            <a:avLst/>
          </a:prstGeom>
          <a:noFill/>
        </p:spPr>
        <p:txBody>
          <a:bodyPr wrap="square" lIns="0" rIns="0" tIns="0" bIns="0" anchor="t">
            <a:spAutoFit/>
          </a:bodyPr>
          <a:lstStyle/>
          <a:p>
            <a:pPr algn="l">
              <a:lnSpc>
                <a:spcPct val="110000"/>
              </a:lnSpc>
            </a:pPr>
            <a:r>
              <a:rPr sz="1600" b="0" i="0">
                <a:solidFill>
                  <a:srgbClr val="0B0B0B"/>
                </a:solidFill>
                <a:latin typeface="Segoe UI"/>
              </a:rPr>
              <a:t>p95 de k6 comparado con el p95 de Actuator, y la explicación de la diferencia</a:t>
            </a:r>
          </a:p>
        </p:txBody>
      </p:sp>
      <p:sp>
        <p:nvSpPr>
          <p:cNvPr id="12" name="Oval 11"/>
          <p:cNvSpPr/>
          <p:nvPr/>
        </p:nvSpPr>
        <p:spPr>
          <a:xfrm>
            <a:off x="804671" y="4928615"/>
            <a:ext cx="128016" cy="128016"/>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837175"/>
            <a:ext cx="10058400" cy="365760"/>
          </a:xfrm>
          <a:prstGeom prst="rect">
            <a:avLst/>
          </a:prstGeom>
          <a:noFill/>
        </p:spPr>
        <p:txBody>
          <a:bodyPr wrap="square" lIns="0" rIns="0" tIns="0" bIns="0" anchor="t">
            <a:spAutoFit/>
          </a:bodyPr>
          <a:lstStyle/>
          <a:p>
            <a:pPr algn="l">
              <a:lnSpc>
                <a:spcPct val="110000"/>
              </a:lnSpc>
            </a:pPr>
            <a:r>
              <a:rPr sz="1600" b="0" i="0">
                <a:solidFill>
                  <a:srgbClr val="0B0B0B"/>
                </a:solidFill>
                <a:latin typeface="Segoe UI"/>
              </a:rPr>
              <a:t>Antes y después de agregar un pool de conexiones</a:t>
            </a:r>
          </a:p>
        </p:txBody>
      </p:sp>
      <p:sp>
        <p:nvSpPr>
          <p:cNvPr id="14" name="Oval 13"/>
          <p:cNvSpPr/>
          <p:nvPr/>
        </p:nvSpPr>
        <p:spPr>
          <a:xfrm>
            <a:off x="804671" y="5458967"/>
            <a:ext cx="128016" cy="128016"/>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5367527"/>
            <a:ext cx="10058400" cy="365760"/>
          </a:xfrm>
          <a:prstGeom prst="rect">
            <a:avLst/>
          </a:prstGeom>
          <a:noFill/>
        </p:spPr>
        <p:txBody>
          <a:bodyPr wrap="square" lIns="0" rIns="0" tIns="0" bIns="0" anchor="t">
            <a:spAutoFit/>
          </a:bodyPr>
          <a:lstStyle/>
          <a:p>
            <a:pPr algn="l">
              <a:lnSpc>
                <a:spcPct val="110000"/>
              </a:lnSpc>
            </a:pPr>
            <a:r>
              <a:rPr sz="1600" b="0" i="0">
                <a:solidFill>
                  <a:srgbClr val="0B0B0B"/>
                </a:solidFill>
                <a:latin typeface="Segoe UI"/>
              </a:rPr>
              <a:t>Pipeline con gate y al menos un defecto documentado en defectos.md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